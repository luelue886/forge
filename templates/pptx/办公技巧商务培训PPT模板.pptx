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5-->
<p:presentation xmlns:r="http://schemas.openxmlformats.org/officeDocument/2006/relationships" xmlns:a="http://schemas.openxmlformats.org/drawingml/2006/main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57" d="100"/>
          <a:sy n="57" d="100"/>
        </p:scale>
        <p:origin x="38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tags" Target="tags/tag34.xml" /><Relationship Id="rId37" Type="http://schemas.openxmlformats.org/officeDocument/2006/relationships/presProps" Target="presProps.xml" /><Relationship Id="rId38" Type="http://schemas.openxmlformats.org/officeDocument/2006/relationships/viewProps" Target="viewProps.xml" /><Relationship Id="rId39" Type="http://schemas.openxmlformats.org/officeDocument/2006/relationships/theme" Target="theme/theme1.xml" /><Relationship Id="rId4" Type="http://schemas.openxmlformats.org/officeDocument/2006/relationships/slide" Target="slides/slide2.xml" /><Relationship Id="rId40" Type="http://schemas.openxmlformats.org/officeDocument/2006/relationships/tableStyles" Target="tableStyles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jpeg" /><Relationship Id="rId2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jpe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jpe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jpeg" /><Relationship Id="rId2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FFC13DB-A38F-4E09-AEF6-7AB63631DF27}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160" r="160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34C2C7-BD23-486A-88A5-2949F71805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>
            <a:gsLst>
              <a:gs pos="20000">
                <a:schemeClr val="accent1">
                  <a:lumMod val="75000"/>
                </a:schemeClr>
              </a:gs>
              <a:gs pos="90000">
                <a:schemeClr val="accent1">
                  <a:lumMod val="75000"/>
                  <a:alpha val="0"/>
                </a:schemeClr>
              </a:gs>
            </a:gsLst>
            <a:lin ang="2700000"/>
          </a:gra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66750" y="1143000"/>
            <a:ext cx="7334250" cy="2190750"/>
          </a:xfrm>
          <a:prstGeom prst="rect">
            <a:avLst/>
          </a:prstGeom>
        </p:spPr>
        <p:txBody>
          <a:bodyPr anchor="b"/>
          <a:lstStyle>
            <a:lvl1pPr algn="l">
              <a:defRPr sz="6000" b="1" i="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Presentation Title Goes Here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1B7DE5-CCF7-4C5B-A834-D209F91E9198}"/>
              </a:ext>
            </a:extLst>
          </p:cNvPr>
          <p:cNvSpPr/>
          <p:nvPr/>
        </p:nvSpPr>
        <p:spPr>
          <a:xfrm>
            <a:off x="666750" y="3600450"/>
            <a:ext cx="381000" cy="47625"/>
          </a:xfrm>
          <a:prstGeom prst="rect">
            <a:avLst/>
          </a:prstGeom>
          <a:solidFill>
            <a:schemeClr val="accent4"/>
          </a:soli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5" name="Subtitle 4"/>
          <p:cNvSpPr>
            <a:spLocks noGrp="1"/>
          </p:cNvSpPr>
          <p:nvPr>
            <p:ph type="subTitle" idx="1" hasCustomPrompt="1"/>
          </p:nvPr>
        </p:nvSpPr>
        <p:spPr>
          <a:xfrm>
            <a:off x="666750" y="3695700"/>
            <a:ext cx="7334250" cy="590550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 b="0" i="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add subtitle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66750" y="5524500"/>
            <a:ext cx="7334250" cy="285750"/>
          </a:xfrm>
          <a:prstGeom prst="rect">
            <a:avLst/>
          </a:prstGeom>
        </p:spPr>
        <p:txBody>
          <a:bodyPr vert="horz" rtlCol="0" anchor="ctr"/>
          <a:lstStyle>
            <a:lvl1pPr marL="0" indent="0" algn="l">
              <a:lnSpc>
                <a:spcPct val="100000"/>
              </a:lnSpc>
              <a:buNone/>
              <a:defRPr lang="en-US" altLang="zh-CN" sz="1200" b="0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6750" y="5905500"/>
            <a:ext cx="7334250" cy="285750"/>
          </a:xfrm>
          <a:prstGeom prst="rect">
            <a:avLst/>
          </a:prstGeom>
        </p:spPr>
        <p:txBody>
          <a:bodyPr vert="horz" rtlCol="0" anchor="ctr"/>
          <a:lstStyle>
            <a:lvl1pPr marL="0" indent="0" algn="l">
              <a:lnSpc>
                <a:spcPct val="100000"/>
              </a:lnSpc>
              <a:buNone/>
              <a:defRPr lang="en-US" altLang="zh-CN" sz="1200" b="0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altLang="zh-CN"/>
          </a:p>
        </p:txBody>
      </p:sp>
    </p:spTree>
    <p:extLst>
      <p:ext uri="{BB962C8B-B14F-4D97-AF65-F5344CB8AC3E}">
        <p14:creationId val="1200559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978B1-822A-48DD-9412-1B7D6807ED91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val="3248015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 name="Agenda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800" cy="914400"/>
          </a:xfrm>
          <a:prstGeom prst="rect">
            <a:avLst/>
          </a:prstGeom>
        </p:spPr>
        <p:txBody>
          <a:bodyPr wrap="none" anchor="t">
            <a:normAutofit/>
          </a:bodyPr>
          <a:lstStyle>
            <a:lvl1pPr algn="r">
              <a:lnSpc>
                <a:spcPct val="100000"/>
              </a:lnSpc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2024/5/8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t>‹#›</a:t>
            </a:fld>
            <a:endParaRPr lang="en-US" altLang="zh-CN"/>
          </a:p>
        </p:txBody>
      </p:sp>
      <p:grpSp>
        <p:nvGrpSpPr>
          <p:cNvPr id="9" name="Group 8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0" name="Straight Connector 9"/>
            <p:cNvCxnSpPr/>
            <p:nvPr/>
          </p:nvCxnSpPr>
          <p:spPr>
            <a:xfrm flipH="1"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Freeform: Shape 11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val="3732902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013B31-D3C1-4C29-A727-F3EAB149F4F4}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160" r="16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9AFA032-CF6F-4CA7-A525-473E2BD511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>
            <a:gsLst>
              <a:gs pos="20000">
                <a:schemeClr val="accent1">
                  <a:lumMod val="75000"/>
                </a:schemeClr>
              </a:gs>
              <a:gs pos="90000">
                <a:schemeClr val="accent1">
                  <a:lumMod val="75000"/>
                  <a:alpha val="0"/>
                </a:schemeClr>
              </a:gs>
            </a:gsLst>
            <a:lin ang="16200000"/>
          </a:gra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3524250" y="3524250"/>
            <a:ext cx="5334000" cy="857250"/>
          </a:xfrm>
          <a:prstGeom prst="rect">
            <a:avLst/>
          </a:prstGeom>
        </p:spPr>
        <p:txBody>
          <a:bodyPr anchor="b"/>
          <a:lstStyle>
            <a:lvl1pPr algn="ctr">
              <a:defRPr sz="3600" b="1" i="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add title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 hasCustomPrompt="1"/>
          </p:nvPr>
        </p:nvSpPr>
        <p:spPr>
          <a:xfrm>
            <a:off x="3524250" y="4476750"/>
            <a:ext cx="5334000" cy="9525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Click to add text</a:t>
            </a:r>
          </a:p>
        </p:txBody>
      </p:sp>
    </p:spTree>
    <p:extLst>
      <p:ext uri="{BB962C8B-B14F-4D97-AF65-F5344CB8AC3E}">
        <p14:creationId val="3881236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D10539A-C1C4-6938-E08F-ABBF8809B51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Ext cx="12192000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27E2AD-3652-ED88-F70A-AB4CB38FE0A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1"/>
              <a:stretch>
                <a:fillRect l="-79" r="-27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endParaRPr lang="zh-CN" alt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C21FF61-D406-0CC5-1220-B0D3CCB8BCF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  <a:t>2024/5/8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val="3779818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  <a:t>2024/5/8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3814888962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510D07-FD36-4E3B-8BB6-C4AE87B3E5D5}"/>
              </a:ext>
            </a:extLst>
          </p:cNvPr>
          <p:cNvPicPr>
            <a:picLocks noChangeAspect="1"/>
          </p:cNvPicPr>
          <p:nvPr/>
        </p:nvPicPr>
        <p:blipFill>
          <a:blip r:embed="rId1"/>
          <a:srcRect l="160" r="160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40E38EB-24A8-4729-B0DD-624A805397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>
            <a:gsLst>
              <a:gs pos="20000">
                <a:schemeClr val="accent1">
                  <a:lumMod val="75000"/>
                </a:schemeClr>
              </a:gs>
              <a:gs pos="90000">
                <a:schemeClr val="accent1">
                  <a:lumMod val="75000"/>
                  <a:alpha val="0"/>
                </a:schemeClr>
              </a:gs>
            </a:gsLst>
            <a:lin ang="2700000"/>
          </a:gradFill>
          <a:ln w="0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66750" y="1143000"/>
            <a:ext cx="7334250" cy="2190750"/>
          </a:xfrm>
          <a:prstGeom prst="rect">
            <a:avLst/>
          </a:prstGeom>
        </p:spPr>
        <p:txBody>
          <a:bodyPr anchor="b"/>
          <a:lstStyle>
            <a:lvl1pPr algn="l">
              <a:defRPr sz="6000" b="1" i="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Conclusion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6750" y="5524500"/>
            <a:ext cx="7334250" cy="285750"/>
          </a:xfrm>
          <a:prstGeom prst="rect">
            <a:avLst/>
          </a:prstGeom>
        </p:spPr>
        <p:txBody>
          <a:bodyPr vert="horz" rtlCol="0" anchor="ctr"/>
          <a:lstStyle>
            <a:lvl1pPr marL="0" indent="0" algn="l">
              <a:lnSpc>
                <a:spcPct val="100000"/>
              </a:lnSpc>
              <a:buNone/>
              <a:defRPr lang="en-US" altLang="zh-CN" sz="1200" b="0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altLang="zh-CN"/>
              <a:t>Speaker name and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66750" y="5905500"/>
            <a:ext cx="7334250" cy="285750"/>
          </a:xfrm>
          <a:prstGeom prst="rect">
            <a:avLst/>
          </a:prstGeom>
        </p:spPr>
        <p:txBody>
          <a:bodyPr vert="horz" rtlCol="0" anchor="ctr"/>
          <a:lstStyle>
            <a:lvl1pPr marL="0" indent="0" algn="l">
              <a:lnSpc>
                <a:spcPct val="100000"/>
              </a:lnSpc>
              <a:buNone/>
              <a:defRPr lang="en-US" altLang="zh-CN" sz="1200" b="0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altLang="zh-CN"/>
          </a:p>
        </p:txBody>
      </p:sp>
    </p:spTree>
    <p:extLst>
      <p:ext uri="{BB962C8B-B14F-4D97-AF65-F5344CB8AC3E}">
        <p14:creationId val="2068132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</a:t>
            </a:r>
            <a:r>
              <a:rPr lang="en-US" altLang="zh-CN"/>
              <a:t>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  <a:t>2024/5/8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transition/>
  <p:timing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ags" Target="../tags/tag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image" Target="../media/image2.jpeg" /><Relationship Id="rId3" Type="http://schemas.openxmlformats.org/officeDocument/2006/relationships/tags" Target="../tags/tag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tags" Target="../tags/tag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jpeg" /><Relationship Id="rId3" Type="http://schemas.openxmlformats.org/officeDocument/2006/relationships/image" Target="../media/image3.jpeg" /><Relationship Id="rId4" Type="http://schemas.openxmlformats.org/officeDocument/2006/relationships/image" Target="../media/image4.jpeg" /><Relationship Id="rId5" Type="http://schemas.openxmlformats.org/officeDocument/2006/relationships/tags" Target="../tags/tag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jpeg" /><Relationship Id="rId3" Type="http://schemas.openxmlformats.org/officeDocument/2006/relationships/tags" Target="../tags/tag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jpeg" /><Relationship Id="rId3" Type="http://schemas.openxmlformats.org/officeDocument/2006/relationships/image" Target="../media/image7.jpeg" /><Relationship Id="rId4" Type="http://schemas.openxmlformats.org/officeDocument/2006/relationships/tags" Target="../tags/tag8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tags" Target="../tags/tag9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10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1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8.jpeg" /><Relationship Id="rId3" Type="http://schemas.openxmlformats.org/officeDocument/2006/relationships/image" Target="../media/image9.jpeg" /><Relationship Id="rId4" Type="http://schemas.openxmlformats.org/officeDocument/2006/relationships/tags" Target="../tags/tag13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0.jpeg" /><Relationship Id="rId3" Type="http://schemas.openxmlformats.org/officeDocument/2006/relationships/tags" Target="../tags/tag14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tags" Target="../tags/tag15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16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17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jpeg" /><Relationship Id="rId3" Type="http://schemas.openxmlformats.org/officeDocument/2006/relationships/tags" Target="../tags/tag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19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20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tags" Target="../tags/tag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23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9.jpeg" /><Relationship Id="rId3" Type="http://schemas.openxmlformats.org/officeDocument/2006/relationships/image" Target="../media/image3.jpeg" /><Relationship Id="rId4" Type="http://schemas.openxmlformats.org/officeDocument/2006/relationships/image" Target="../media/image12.jpeg" /><Relationship Id="rId5" Type="http://schemas.openxmlformats.org/officeDocument/2006/relationships/tags" Target="../tags/tag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26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tags" Target="../tags/tag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28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jpeg" /><Relationship Id="rId3" Type="http://schemas.openxmlformats.org/officeDocument/2006/relationships/image" Target="../media/image12.jpeg" /><Relationship Id="rId4" Type="http://schemas.openxmlformats.org/officeDocument/2006/relationships/image" Target="../media/image14.jpeg" /><Relationship Id="rId5" Type="http://schemas.openxmlformats.org/officeDocument/2006/relationships/tags" Target="../tags/tag29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30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jpeg" /><Relationship Id="rId3" Type="http://schemas.openxmlformats.org/officeDocument/2006/relationships/tags" Target="../tags/tag31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ags" Target="../tags/tag32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tags" Target="../tags/tag3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zh-CN" altLang="en-US" sz="5000" b="0"/>
              <a:t>办公技巧</a:t>
            </a:r>
            <a:br>
              <a:rPr lang="en-US" altLang="zh-CN"/>
            </a:br>
            <a:r>
              <a:rPr lang="zh-CN" altLang="en-US" sz="6400" b="1">
                <a:solidFill>
                  <a:schemeClr val="accent2">
                    <a:lumMod val="20000"/>
                    <a:lumOff val="80000"/>
                  </a:schemeClr>
                </a:solidFill>
              </a:rPr>
              <a:t>商务培训</a:t>
            </a:r>
            <a:endParaRPr lang="zh-CN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文化价值观与工作效率提升</a:t>
            </a:r>
            <a:endParaRPr lang="en-US" altLang="zh-CN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altLang="zh-CN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 wrap="square">
            <a:normAutofit/>
          </a:bodyPr>
          <a:lstStyle/>
          <a:p>
            <a:pPr lvl="0"/>
            <a:endParaRPr lang="en-US" altLang="zh-CN"/>
          </a:p>
        </p:txBody>
      </p:sp>
    </p:spTree>
    <p:custDataLst>
      <p:tags r:id="rId2"/>
    </p:custDataLst>
    <p:extLst>
      <p:ext uri="{BB962C8B-B14F-4D97-AF65-F5344CB8AC3E}">
        <p14:creationId val="2877797460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CD259BB-9364-1D6A-E0D8-F093E22C240C}"/>
              </a:ext>
            </a:extLst>
          </p:cNvPr>
          <p:cNvGrpSpPr/>
          <p:nvPr/>
        </p:nvGrpSpPr>
        <p:grpSpPr>
          <a:xfrm>
            <a:off x="660400" y="1028700"/>
            <a:ext cx="10805665" cy="3737034"/>
            <a:chOff x="660400" y="1028700"/>
            <a:chExt cx="10805665" cy="373703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4B03B15-EA57-EDEE-2170-50A16A31C283}"/>
                </a:ext>
              </a:extLst>
            </p:cNvPr>
            <p:cNvGrpSpPr/>
            <p:nvPr/>
          </p:nvGrpSpPr>
          <p:grpSpPr>
            <a:xfrm>
              <a:off x="713235" y="3429000"/>
              <a:ext cx="10752830" cy="1336734"/>
              <a:chOff x="713235" y="3429000"/>
              <a:chExt cx="10752830" cy="1336734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EB8126F-D192-6988-5A9A-9FBBB0D7D8CD}"/>
                  </a:ext>
                </a:extLst>
              </p:cNvPr>
              <p:cNvGrpSpPr/>
              <p:nvPr/>
            </p:nvGrpSpPr>
            <p:grpSpPr>
              <a:xfrm>
                <a:off x="713235" y="3429000"/>
                <a:ext cx="1797513" cy="1336734"/>
                <a:chOff x="805988" y="3908454"/>
                <a:chExt cx="1797513" cy="1336734"/>
              </a:xfrm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F62D1D33-46E5-1FFD-FF17-216A55D1CE4E}"/>
                    </a:ext>
                  </a:extLst>
                </p:cNvPr>
                <p:cNvSpPr/>
                <p:nvPr/>
              </p:nvSpPr>
              <p:spPr>
                <a:xfrm>
                  <a:off x="805988" y="3908454"/>
                  <a:ext cx="542720" cy="542720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>
                  <a:noAutofit/>
                </a:bodyPr>
                <a:lstStyle/>
                <a:p>
                  <a:pPr algn="ctr"/>
                  <a:r>
                    <a:rPr lang="en-US" altLang="zh-CN" sz="1600" b="1"/>
                    <a:t>01</a:t>
                  </a:r>
                  <a:endParaRPr lang="zh-CN" altLang="en-US" sz="1600" b="1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935C16BB-C221-D858-3662-FD80CA806ED8}"/>
                    </a:ext>
                  </a:extLst>
                </p:cNvPr>
                <p:cNvSpPr/>
                <p:nvPr/>
              </p:nvSpPr>
              <p:spPr>
                <a:xfrm>
                  <a:off x="805988" y="4608436"/>
                  <a:ext cx="1231106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>
                      <a:solidFill>
                        <a:schemeClr val="tx1"/>
                      </a:solidFill>
                    </a:rPr>
                    <a:t>文化与价值观</a:t>
                  </a:r>
                  <a:endParaRPr kumimoji="1" lang="en-US" altLang="zh-CN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B4657CC6-C73D-1275-DBA4-8C613BD5EC14}"/>
                    </a:ext>
                  </a:extLst>
                </p:cNvPr>
                <p:cNvSpPr/>
                <p:nvPr/>
              </p:nvSpPr>
              <p:spPr>
                <a:xfrm>
                  <a:off x="805989" y="5042697"/>
                  <a:ext cx="1797512" cy="20249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tx1"/>
                      </a:solidFill>
                      <a:effectLst/>
                    </a:rPr>
                    <a:t>公司文化与日常工作</a:t>
                  </a:r>
                  <a:endParaRPr lang="en-US" altLang="zh-CN" sz="100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4EDF96F-A522-61BC-40F1-4CCECC30CA37}"/>
                  </a:ext>
                </a:extLst>
              </p:cNvPr>
              <p:cNvGrpSpPr/>
              <p:nvPr/>
            </p:nvGrpSpPr>
            <p:grpSpPr>
              <a:xfrm>
                <a:off x="2952064" y="3429000"/>
                <a:ext cx="1797513" cy="1336734"/>
                <a:chOff x="805988" y="3908454"/>
                <a:chExt cx="1797513" cy="1336734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C4BA020B-B5B9-5E2A-FE9D-17F8A1621044}"/>
                    </a:ext>
                  </a:extLst>
                </p:cNvPr>
                <p:cNvSpPr/>
                <p:nvPr/>
              </p:nvSpPr>
              <p:spPr>
                <a:xfrm>
                  <a:off x="805988" y="3908454"/>
                  <a:ext cx="542720" cy="542720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>
                  <a:noAutofit/>
                </a:bodyPr>
                <a:lstStyle/>
                <a:p>
                  <a:pPr algn="ctr"/>
                  <a:r>
                    <a:rPr lang="en-US" altLang="zh-CN" sz="1600" b="1">
                      <a:solidFill>
                        <a:schemeClr val="bg1"/>
                      </a:solidFill>
                    </a:rPr>
                    <a:t>02</a:t>
                  </a:r>
                  <a:endParaRPr lang="zh-CN" altLang="en-US" sz="16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8398A79-496A-8B95-DE17-718645D30342}"/>
                    </a:ext>
                  </a:extLst>
                </p:cNvPr>
                <p:cNvSpPr/>
                <p:nvPr/>
              </p:nvSpPr>
              <p:spPr>
                <a:xfrm>
                  <a:off x="805988" y="4608436"/>
                  <a:ext cx="1436291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>
                      <a:solidFill>
                        <a:schemeClr val="tx1"/>
                      </a:solidFill>
                    </a:rPr>
                    <a:t>技巧概念重要性</a:t>
                  </a:r>
                  <a:endParaRPr kumimoji="1" lang="en-US" altLang="zh-CN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9844C30A-1FC8-996A-2057-0BDE9944A0FB}"/>
                    </a:ext>
                  </a:extLst>
                </p:cNvPr>
                <p:cNvSpPr/>
                <p:nvPr/>
              </p:nvSpPr>
              <p:spPr>
                <a:xfrm>
                  <a:off x="805989" y="5042697"/>
                  <a:ext cx="1797512" cy="20249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tx1"/>
                      </a:solidFill>
                      <a:effectLst/>
                    </a:rPr>
                    <a:t>基础办公技巧的重要性</a:t>
                  </a:r>
                  <a:endParaRPr lang="en-US" altLang="zh-CN" sz="100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C3E9B78-C705-C92E-8C95-4D50AC197F41}"/>
                  </a:ext>
                </a:extLst>
              </p:cNvPr>
              <p:cNvGrpSpPr/>
              <p:nvPr/>
            </p:nvGrpSpPr>
            <p:grpSpPr>
              <a:xfrm>
                <a:off x="5190894" y="3429000"/>
                <a:ext cx="1797513" cy="1336734"/>
                <a:chOff x="805988" y="3908454"/>
                <a:chExt cx="1797513" cy="1336734"/>
              </a:xfrm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4489E8D4-ADF5-20FB-5218-047421B4D4B6}"/>
                    </a:ext>
                  </a:extLst>
                </p:cNvPr>
                <p:cNvSpPr/>
                <p:nvPr/>
              </p:nvSpPr>
              <p:spPr>
                <a:xfrm>
                  <a:off x="805988" y="3908454"/>
                  <a:ext cx="542720" cy="542720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>
                  <a:noAutofit/>
                </a:bodyPr>
                <a:lstStyle/>
                <a:p>
                  <a:pPr algn="ctr"/>
                  <a:r>
                    <a:rPr lang="en-US" altLang="zh-CN" sz="1600" b="1"/>
                    <a:t>03</a:t>
                  </a:r>
                  <a:endParaRPr lang="zh-CN" altLang="en-US" sz="1600" b="1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8A53A8A-17EC-534B-9BAC-325705C06288}"/>
                    </a:ext>
                  </a:extLst>
                </p:cNvPr>
                <p:cNvSpPr/>
                <p:nvPr/>
              </p:nvSpPr>
              <p:spPr>
                <a:xfrm>
                  <a:off x="805988" y="4608436"/>
                  <a:ext cx="1231106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>
                      <a:solidFill>
                        <a:schemeClr val="tx1"/>
                      </a:solidFill>
                    </a:rPr>
                    <a:t>基础技巧解析</a:t>
                  </a:r>
                  <a:endParaRPr kumimoji="1" lang="en-US" altLang="zh-CN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8DFED78C-1477-B57E-1DC4-C8558521218C}"/>
                    </a:ext>
                  </a:extLst>
                </p:cNvPr>
                <p:cNvSpPr/>
                <p:nvPr/>
              </p:nvSpPr>
              <p:spPr>
                <a:xfrm>
                  <a:off x="805989" y="5042697"/>
                  <a:ext cx="1797512" cy="20249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tx1"/>
                      </a:solidFill>
                      <a:effectLst/>
                    </a:rPr>
                    <a:t>提升工作效率的基础技巧</a:t>
                  </a:r>
                  <a:endParaRPr lang="en-US" altLang="zh-CN" sz="100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C50491A-995E-21E6-00B5-29A2815CCFEF}"/>
                  </a:ext>
                </a:extLst>
              </p:cNvPr>
              <p:cNvGrpSpPr/>
              <p:nvPr/>
            </p:nvGrpSpPr>
            <p:grpSpPr>
              <a:xfrm>
                <a:off x="7429722" y="3429000"/>
                <a:ext cx="1797513" cy="1336734"/>
                <a:chOff x="805988" y="3908454"/>
                <a:chExt cx="1797513" cy="1336734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E383B1A3-3683-BA62-85B8-823EC6560F05}"/>
                    </a:ext>
                  </a:extLst>
                </p:cNvPr>
                <p:cNvSpPr/>
                <p:nvPr/>
              </p:nvSpPr>
              <p:spPr>
                <a:xfrm>
                  <a:off x="805988" y="3908454"/>
                  <a:ext cx="542720" cy="542720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>
                  <a:noAutofit/>
                </a:bodyPr>
                <a:lstStyle/>
                <a:p>
                  <a:pPr algn="ctr"/>
                  <a:r>
                    <a:rPr lang="en-US" altLang="zh-CN" sz="1600" b="1">
                      <a:solidFill>
                        <a:schemeClr val="bg1"/>
                      </a:solidFill>
                    </a:rPr>
                    <a:t>04</a:t>
                  </a:r>
                  <a:endParaRPr lang="zh-CN" altLang="en-US" sz="16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4E0068BF-AC11-0C9F-DBF9-1A625613A1F2}"/>
                    </a:ext>
                  </a:extLst>
                </p:cNvPr>
                <p:cNvSpPr/>
                <p:nvPr/>
              </p:nvSpPr>
              <p:spPr>
                <a:xfrm>
                  <a:off x="805988" y="4608436"/>
                  <a:ext cx="1231106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>
                      <a:solidFill>
                        <a:schemeClr val="tx1"/>
                      </a:solidFill>
                    </a:rPr>
                    <a:t>技巧提升效率</a:t>
                  </a:r>
                  <a:endParaRPr kumimoji="1" lang="en-US" altLang="zh-CN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F83D97CD-B6D2-848F-95F8-31ADD258EA60}"/>
                    </a:ext>
                  </a:extLst>
                </p:cNvPr>
                <p:cNvSpPr/>
                <p:nvPr/>
              </p:nvSpPr>
              <p:spPr>
                <a:xfrm>
                  <a:off x="805989" y="5042697"/>
                  <a:ext cx="1797512" cy="20249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tx1"/>
                      </a:solidFill>
                      <a:effectLst/>
                    </a:rPr>
                    <a:t>提升工作效率的办公技巧</a:t>
                  </a:r>
                  <a:endParaRPr lang="en-US" altLang="zh-CN" sz="100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4E8308E-8D78-2FB8-BC01-BB2F97638ACB}"/>
                  </a:ext>
                </a:extLst>
              </p:cNvPr>
              <p:cNvGrpSpPr/>
              <p:nvPr/>
            </p:nvGrpSpPr>
            <p:grpSpPr>
              <a:xfrm>
                <a:off x="9668552" y="3429000"/>
                <a:ext cx="1797513" cy="1336734"/>
                <a:chOff x="805988" y="3908454"/>
                <a:chExt cx="1797513" cy="1336734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2CE02301-B29E-02C3-56C2-CA77596C847D}"/>
                    </a:ext>
                  </a:extLst>
                </p:cNvPr>
                <p:cNvSpPr/>
                <p:nvPr/>
              </p:nvSpPr>
              <p:spPr>
                <a:xfrm>
                  <a:off x="805988" y="3908454"/>
                  <a:ext cx="542720" cy="542720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>
                  <a:noAutofit/>
                </a:bodyPr>
                <a:lstStyle/>
                <a:p>
                  <a:pPr algn="ctr"/>
                  <a:r>
                    <a:rPr lang="en-US" altLang="zh-CN" sz="1600" b="1"/>
                    <a:t>05</a:t>
                  </a:r>
                  <a:endParaRPr lang="zh-CN" altLang="en-US" sz="1600" b="1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35F80BA1-EF02-B11E-A043-96206D049F5E}"/>
                    </a:ext>
                  </a:extLst>
                </p:cNvPr>
                <p:cNvSpPr/>
                <p:nvPr/>
              </p:nvSpPr>
              <p:spPr>
                <a:xfrm>
                  <a:off x="805988" y="4608436"/>
                  <a:ext cx="1025922" cy="24622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>
                      <a:solidFill>
                        <a:schemeClr val="tx1"/>
                      </a:solidFill>
                    </a:rPr>
                    <a:t>培训与参与</a:t>
                  </a:r>
                  <a:endParaRPr kumimoji="1" lang="en-US" altLang="zh-CN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0784177-A46E-D1C2-1158-AECBED7A8773}"/>
                    </a:ext>
                  </a:extLst>
                </p:cNvPr>
                <p:cNvSpPr/>
                <p:nvPr/>
              </p:nvSpPr>
              <p:spPr>
                <a:xfrm>
                  <a:off x="805989" y="5042697"/>
                  <a:ext cx="1797512" cy="20249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tx1"/>
                      </a:solidFill>
                      <a:effectLst/>
                    </a:rPr>
                    <a:t>积极参与培训提升自我</a:t>
                  </a:r>
                  <a:endParaRPr lang="en-US" altLang="zh-CN" sz="100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19C0BB-AB51-40E4-94A3-49B5E57CDE1D}"/>
                </a:ext>
              </a:extLst>
            </p:cNvPr>
            <p:cNvGrpSpPr/>
            <p:nvPr/>
          </p:nvGrpSpPr>
          <p:grpSpPr>
            <a:xfrm>
              <a:off x="660400" y="1028700"/>
              <a:ext cx="7880500" cy="1747589"/>
              <a:chOff x="660400" y="1028700"/>
              <a:chExt cx="7880500" cy="1747589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B78B4C-ABE7-D699-BAA8-A4208D880886}"/>
                  </a:ext>
                </a:extLst>
              </p:cNvPr>
              <p:cNvSpPr txBox="1"/>
              <p:nvPr/>
            </p:nvSpPr>
            <p:spPr>
              <a:xfrm>
                <a:off x="6096000" y="1486995"/>
                <a:ext cx="2444900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en-US" altLang="zh-CN" sz="4800" b="1">
                    <a:solidFill>
                      <a:schemeClr val="tx1"/>
                    </a:solidFill>
                  </a:rPr>
                  <a:t>Agenda</a:t>
                </a: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FAF6EB24-4EDF-AB34-A82A-4569F3415852}"/>
                  </a:ext>
                </a:extLst>
              </p:cNvPr>
              <p:cNvSpPr/>
              <p:nvPr/>
            </p:nvSpPr>
            <p:spPr>
              <a:xfrm>
                <a:off x="660400" y="1028700"/>
                <a:ext cx="4876800" cy="1747589"/>
              </a:xfrm>
              <a:prstGeom prst="roundRect">
                <a:avLst>
                  <a:gd name="adj" fmla="val 8017"/>
                </a:avLst>
              </a:prstGeom>
              <a:blipFill rotWithShape="0">
                <a:blip r:embed="rId2"/>
                <a:stretch>
                  <a:fillRect t="-43030" b="-43030"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custDataLst>
      <p:tags r:id="rId3"/>
    </p:custDataLst>
    <p:extLst>
      <p:ext uri="{BB962C8B-B14F-4D97-AF65-F5344CB8AC3E}">
        <p14:creationId val="3119112846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altLang="zh-CN"/>
              <a:t>01.文化与价值观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公司文化与日常工作</a:t>
            </a:r>
            <a:endParaRPr lang="en-US" altLang="zh-CN"/>
          </a:p>
        </p:txBody>
      </p:sp>
    </p:spTree>
    <p:custDataLst>
      <p:tags r:id="rId2"/>
    </p:custDataLst>
    <p:extLst>
      <p:ext uri="{BB962C8B-B14F-4D97-AF65-F5344CB8AC3E}">
        <p14:creationId val="4210464442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0" name="Group 29"/>
          <p:cNvGrpSpPr/>
          <p:nvPr/>
        </p:nvGrpSpPr>
        <p:grpSpPr>
          <a:xfrm>
            <a:off x="669628" y="1164550"/>
            <a:ext cx="11522372" cy="4969550"/>
            <a:chOff x="669628" y="1164550"/>
            <a:chExt cx="11522372" cy="496955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18B695F-B103-69C5-5C64-248BC9A3A51C}"/>
                </a:ext>
              </a:extLst>
            </p:cNvPr>
            <p:cNvSpPr/>
            <p:nvPr/>
          </p:nvSpPr>
          <p:spPr>
            <a:xfrm>
              <a:off x="6282308" y="2819316"/>
              <a:ext cx="1830890" cy="1655180"/>
            </a:xfrm>
            <a:prstGeom prst="roundRect">
              <a:avLst>
                <a:gd name="adj" fmla="val 0"/>
              </a:avLst>
            </a:prstGeom>
            <a:blipFill rotWithShape="0">
              <a:blip r:embed="rId2"/>
              <a:stretch>
                <a:fillRect l="-17750" r="-1775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7E717E1-D8F5-DF36-55EE-6FAC17B66712}"/>
                </a:ext>
              </a:extLst>
            </p:cNvPr>
            <p:cNvGrpSpPr/>
            <p:nvPr/>
          </p:nvGrpSpPr>
          <p:grpSpPr>
            <a:xfrm>
              <a:off x="8118867" y="2828579"/>
              <a:ext cx="3714190" cy="1655180"/>
              <a:chOff x="7106856" y="3067291"/>
              <a:chExt cx="3714190" cy="165518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F4FEB37-59E2-C2B1-DCDF-52D229DB3473}"/>
                  </a:ext>
                </a:extLst>
              </p:cNvPr>
              <p:cNvSpPr/>
              <p:nvPr/>
            </p:nvSpPr>
            <p:spPr>
              <a:xfrm>
                <a:off x="7106856" y="3067291"/>
                <a:ext cx="3292183" cy="165518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rIns="180000" rtlCol="0" anchor="ctr" anchorCtr="1"/>
              <a:lstStyle/>
              <a:p>
                <a:endParaRPr kumimoji="1" lang="en-US" altLang="zh-CN" sz="120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3910CFC-5B3D-C6D1-6A0B-24367334770B}"/>
                  </a:ext>
                </a:extLst>
              </p:cNvPr>
              <p:cNvGrpSpPr/>
              <p:nvPr/>
            </p:nvGrpSpPr>
            <p:grpSpPr>
              <a:xfrm>
                <a:off x="7295424" y="3429000"/>
                <a:ext cx="3525622" cy="1108032"/>
                <a:chOff x="7401048" y="3193800"/>
                <a:chExt cx="3525622" cy="1108032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4A2C8C99-6F83-9F0B-B2C7-4D454EB1E450}"/>
                    </a:ext>
                  </a:extLst>
                </p:cNvPr>
                <p:cNvGrpSpPr/>
                <p:nvPr/>
              </p:nvGrpSpPr>
              <p:grpSpPr>
                <a:xfrm>
                  <a:off x="8024693" y="3216406"/>
                  <a:ext cx="2901977" cy="1085426"/>
                  <a:chOff x="2492017" y="2838545"/>
                  <a:chExt cx="2901977" cy="1085426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A40F99F6-B102-74AC-0097-2630FA3FC00D}"/>
                      </a:ext>
                    </a:extLst>
                  </p:cNvPr>
                  <p:cNvSpPr/>
                  <p:nvPr/>
                </p:nvSpPr>
                <p:spPr>
                  <a:xfrm>
                    <a:off x="2492017" y="2838545"/>
                    <a:ext cx="2901977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>
                        <a:solidFill>
                          <a:schemeClr val="bg1"/>
                        </a:solidFill>
                      </a:rPr>
                      <a:t>价值观</a:t>
                    </a: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9D035476-94BA-F8F5-F174-916C58C3B81B}"/>
                      </a:ext>
                    </a:extLst>
                  </p:cNvPr>
                  <p:cNvSpPr/>
                  <p:nvPr/>
                </p:nvSpPr>
                <p:spPr>
                  <a:xfrm>
                    <a:off x="2492018" y="3185948"/>
                    <a:ext cx="2117554" cy="7380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>
                        <a:solidFill>
                          <a:schemeClr val="bg1"/>
                        </a:solidFill>
                      </a:rPr>
                      <a:t>公司价值观是公司对行为和决策的指导原则，塑造了公司的工作环境和氛围。</a:t>
                    </a:r>
                  </a:p>
                </p:txBody>
              </p:sp>
            </p:grp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B7CD406-75DD-2E60-0D00-4DC98DC6085A}"/>
                    </a:ext>
                  </a:extLst>
                </p:cNvPr>
                <p:cNvSpPr txBox="1"/>
                <p:nvPr/>
              </p:nvSpPr>
              <p:spPr>
                <a:xfrm>
                  <a:off x="7401048" y="3193800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</p:spPr>
              <p:txBody>
                <a:bodyPr wrap="non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>
                      <a:solidFill>
                        <a:schemeClr val="accent1"/>
                      </a:solidFill>
                    </a:rPr>
                    <a:t>02</a:t>
                  </a:r>
                  <a:endParaRPr kumimoji="1" lang="zh-CN" altLang="en-US" sz="2000" b="1">
                    <a:solidFill>
                      <a:schemeClr val="accent1"/>
                    </a:solidFill>
                  </a:endParaRPr>
                </a:p>
              </p:txBody>
            </p:sp>
          </p:grpSp>
        </p:grp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6E23F12-E352-6083-AB14-E77DC88E51F9}"/>
                </a:ext>
              </a:extLst>
            </p:cNvPr>
            <p:cNvSpPr/>
            <p:nvPr/>
          </p:nvSpPr>
          <p:spPr>
            <a:xfrm>
              <a:off x="6282308" y="1164550"/>
              <a:ext cx="1830890" cy="1655180"/>
            </a:xfrm>
            <a:prstGeom prst="roundRect">
              <a:avLst>
                <a:gd name="adj" fmla="val 0"/>
              </a:avLst>
            </a:prstGeom>
            <a:blipFill rotWithShape="0">
              <a:blip r:embed="rId3"/>
              <a:stretch>
                <a:fillRect l="-17620" r="-1762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69F2C3A-345A-14E8-241B-5DFB5D9F0ED9}"/>
                </a:ext>
              </a:extLst>
            </p:cNvPr>
            <p:cNvGrpSpPr/>
            <p:nvPr/>
          </p:nvGrpSpPr>
          <p:grpSpPr>
            <a:xfrm>
              <a:off x="8118867" y="1164550"/>
              <a:ext cx="3714190" cy="1655180"/>
              <a:chOff x="7106856" y="3067291"/>
              <a:chExt cx="3714190" cy="165518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DF0BC8B-5B8C-177B-D18F-E767EF5E8934}"/>
                  </a:ext>
                </a:extLst>
              </p:cNvPr>
              <p:cNvSpPr/>
              <p:nvPr/>
            </p:nvSpPr>
            <p:spPr>
              <a:xfrm>
                <a:off x="7106856" y="3067291"/>
                <a:ext cx="3292183" cy="1655180"/>
              </a:xfrm>
              <a:prstGeom prst="rect">
                <a:avLst/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rIns="180000" rtlCol="0" anchor="ctr" anchorCtr="1"/>
              <a:lstStyle/>
              <a:p>
                <a:endParaRPr kumimoji="1" lang="en-US" altLang="zh-CN" sz="120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6C08BAB-F0F6-D0EE-E1CB-CC7116E81BCE}"/>
                  </a:ext>
                </a:extLst>
              </p:cNvPr>
              <p:cNvGrpSpPr/>
              <p:nvPr/>
            </p:nvGrpSpPr>
            <p:grpSpPr>
              <a:xfrm>
                <a:off x="7295424" y="3429000"/>
                <a:ext cx="3525622" cy="886432"/>
                <a:chOff x="7401048" y="3193800"/>
                <a:chExt cx="3525622" cy="886432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4DC3B5D6-3CF6-E1B1-2159-41B021A05A33}"/>
                    </a:ext>
                  </a:extLst>
                </p:cNvPr>
                <p:cNvGrpSpPr/>
                <p:nvPr/>
              </p:nvGrpSpPr>
              <p:grpSpPr>
                <a:xfrm>
                  <a:off x="8024693" y="3216406"/>
                  <a:ext cx="2901977" cy="863826"/>
                  <a:chOff x="2492017" y="2838545"/>
                  <a:chExt cx="2901977" cy="863826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1D98AEC8-60B2-9129-7C35-0E458E40693B}"/>
                      </a:ext>
                    </a:extLst>
                  </p:cNvPr>
                  <p:cNvSpPr/>
                  <p:nvPr/>
                </p:nvSpPr>
                <p:spPr>
                  <a:xfrm>
                    <a:off x="2492017" y="2838545"/>
                    <a:ext cx="2901977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>
                        <a:solidFill>
                          <a:schemeClr val="tx1"/>
                        </a:solidFill>
                      </a:rPr>
                      <a:t>公司使命</a:t>
                    </a: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623EFC58-C30E-90F3-1A7A-1AA421290722}"/>
                      </a:ext>
                    </a:extLst>
                  </p:cNvPr>
                  <p:cNvSpPr/>
                  <p:nvPr/>
                </p:nvSpPr>
                <p:spPr>
                  <a:xfrm>
                    <a:off x="2492018" y="3185948"/>
                    <a:ext cx="2117554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>
                        <a:solidFill>
                          <a:schemeClr val="tx1"/>
                        </a:solidFill>
                      </a:rPr>
                      <a:t>制定公司目标：提供清晰的工作方向</a:t>
                    </a:r>
                  </a:p>
                </p:txBody>
              </p:sp>
            </p:grp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628C3F2-A9EB-B28B-A7E9-76E633F83F0C}"/>
                    </a:ext>
                  </a:extLst>
                </p:cNvPr>
                <p:cNvSpPr txBox="1"/>
                <p:nvPr/>
              </p:nvSpPr>
              <p:spPr>
                <a:xfrm>
                  <a:off x="7401048" y="3193800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2"/>
                </a:solidFill>
              </p:spPr>
              <p:txBody>
                <a:bodyPr wrap="non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>
                      <a:solidFill>
                        <a:srgbClr val="FFFFFF"/>
                      </a:solidFill>
                    </a:rPr>
                    <a:t>01</a:t>
                  </a:r>
                  <a:endParaRPr kumimoji="1" lang="zh-CN" altLang="en-US" sz="2000" b="1">
                    <a:solidFill>
                      <a:srgbClr val="FFFFFF"/>
                    </a:solidFill>
                  </a:endParaRPr>
                </a:p>
              </p:txBody>
            </p:sp>
          </p:grp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AB1C7B3-BDD0-CF46-E329-B3EA43281FC9}"/>
                </a:ext>
              </a:extLst>
            </p:cNvPr>
            <p:cNvSpPr/>
            <p:nvPr/>
          </p:nvSpPr>
          <p:spPr>
            <a:xfrm>
              <a:off x="11411050" y="2819730"/>
              <a:ext cx="780950" cy="166402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E35D7A0-A228-150B-9D7F-05F3C997AEBC}"/>
                </a:ext>
              </a:extLst>
            </p:cNvPr>
            <p:cNvSpPr/>
            <p:nvPr/>
          </p:nvSpPr>
          <p:spPr>
            <a:xfrm flipH="1" flipV="1">
              <a:off x="11547203" y="3484330"/>
              <a:ext cx="508643" cy="334827"/>
            </a:xfrm>
            <a:custGeom>
              <a:gdLst>
                <a:gd name="connsiteX0" fmla="*/ 453146 w 608558"/>
                <a:gd name="connsiteY0" fmla="*/ 0 h 400600"/>
                <a:gd name="connsiteX1" fmla="*/ 601522 w 608558"/>
                <a:gd name="connsiteY1" fmla="*/ 0 h 400600"/>
                <a:gd name="connsiteX2" fmla="*/ 607511 w 608558"/>
                <a:gd name="connsiteY2" fmla="*/ 9687 h 400600"/>
                <a:gd name="connsiteX3" fmla="*/ 447073 w 608558"/>
                <a:gd name="connsiteY3" fmla="*/ 188761 h 400600"/>
                <a:gd name="connsiteX4" fmla="*/ 447073 w 608558"/>
                <a:gd name="connsiteY4" fmla="*/ 208218 h 400600"/>
                <a:gd name="connsiteX5" fmla="*/ 607511 w 608558"/>
                <a:gd name="connsiteY5" fmla="*/ 390914 h 400600"/>
                <a:gd name="connsiteX6" fmla="*/ 601522 w 608558"/>
                <a:gd name="connsiteY6" fmla="*/ 400600 h 400600"/>
                <a:gd name="connsiteX7" fmla="*/ 453146 w 608558"/>
                <a:gd name="connsiteY7" fmla="*/ 400600 h 400600"/>
                <a:gd name="connsiteX8" fmla="*/ 437372 w 608558"/>
                <a:gd name="connsiteY8" fmla="*/ 390914 h 400600"/>
                <a:gd name="connsiteX9" fmla="*/ 277018 w 608558"/>
                <a:gd name="connsiteY9" fmla="*/ 208218 h 400600"/>
                <a:gd name="connsiteX10" fmla="*/ 277018 w 608558"/>
                <a:gd name="connsiteY10" fmla="*/ 188761 h 400600"/>
                <a:gd name="connsiteX11" fmla="*/ 412404 w 608558"/>
                <a:gd name="connsiteY11" fmla="*/ 37651 h 400600"/>
                <a:gd name="connsiteX12" fmla="*/ 453146 w 608558"/>
                <a:gd name="connsiteY12" fmla="*/ 0 h 400600"/>
                <a:gd name="connsiteX13" fmla="*/ 178152 w 608558"/>
                <a:gd name="connsiteY13" fmla="*/ 0 h 400600"/>
                <a:gd name="connsiteX14" fmla="*/ 326528 w 608558"/>
                <a:gd name="connsiteY14" fmla="*/ 0 h 400600"/>
                <a:gd name="connsiteX15" fmla="*/ 332517 w 608558"/>
                <a:gd name="connsiteY15" fmla="*/ 9687 h 400600"/>
                <a:gd name="connsiteX16" fmla="*/ 172163 w 608558"/>
                <a:gd name="connsiteY16" fmla="*/ 188761 h 400600"/>
                <a:gd name="connsiteX17" fmla="*/ 172163 w 608558"/>
                <a:gd name="connsiteY17" fmla="*/ 208218 h 400600"/>
                <a:gd name="connsiteX18" fmla="*/ 332517 w 608558"/>
                <a:gd name="connsiteY18" fmla="*/ 390914 h 400600"/>
                <a:gd name="connsiteX19" fmla="*/ 326528 w 608558"/>
                <a:gd name="connsiteY19" fmla="*/ 400600 h 400600"/>
                <a:gd name="connsiteX20" fmla="*/ 178152 w 608558"/>
                <a:gd name="connsiteY20" fmla="*/ 400600 h 400600"/>
                <a:gd name="connsiteX21" fmla="*/ 162378 w 608558"/>
                <a:gd name="connsiteY21" fmla="*/ 390914 h 400600"/>
                <a:gd name="connsiteX22" fmla="*/ 2024 w 608558"/>
                <a:gd name="connsiteY22" fmla="*/ 208218 h 400600"/>
                <a:gd name="connsiteX23" fmla="*/ 2024 w 608558"/>
                <a:gd name="connsiteY23" fmla="*/ 188761 h 400600"/>
                <a:gd name="connsiteX24" fmla="*/ 153521 w 608558"/>
                <a:gd name="connsiteY24" fmla="*/ 19710 h 400600"/>
                <a:gd name="connsiteX25" fmla="*/ 178152 w 608558"/>
                <a:gd name="connsiteY25" fmla="*/ 0 h 4006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8558" h="400600">
                  <a:moveTo>
                    <a:pt x="453146" y="0"/>
                  </a:moveTo>
                  <a:lnTo>
                    <a:pt x="601522" y="0"/>
                  </a:lnTo>
                  <a:cubicBezTo>
                    <a:pt x="607511" y="0"/>
                    <a:pt x="610210" y="4380"/>
                    <a:pt x="607511" y="9687"/>
                  </a:cubicBezTo>
                  <a:lnTo>
                    <a:pt x="447073" y="188761"/>
                  </a:lnTo>
                  <a:cubicBezTo>
                    <a:pt x="444458" y="194151"/>
                    <a:pt x="444458" y="202827"/>
                    <a:pt x="447073" y="208218"/>
                  </a:cubicBezTo>
                  <a:lnTo>
                    <a:pt x="607511" y="390914"/>
                  </a:lnTo>
                  <a:cubicBezTo>
                    <a:pt x="610210" y="396304"/>
                    <a:pt x="607511" y="400600"/>
                    <a:pt x="601522" y="400600"/>
                  </a:cubicBezTo>
                  <a:lnTo>
                    <a:pt x="453146" y="400600"/>
                  </a:lnTo>
                  <a:cubicBezTo>
                    <a:pt x="447157" y="400600"/>
                    <a:pt x="440071" y="396304"/>
                    <a:pt x="437372" y="390914"/>
                  </a:cubicBezTo>
                  <a:lnTo>
                    <a:pt x="277018" y="208218"/>
                  </a:lnTo>
                  <a:cubicBezTo>
                    <a:pt x="274319" y="202827"/>
                    <a:pt x="274319" y="194151"/>
                    <a:pt x="277018" y="188761"/>
                  </a:cubicBezTo>
                  <a:cubicBezTo>
                    <a:pt x="277862" y="187076"/>
                    <a:pt x="396630" y="55255"/>
                    <a:pt x="412404" y="37651"/>
                  </a:cubicBezTo>
                  <a:cubicBezTo>
                    <a:pt x="421345" y="27628"/>
                    <a:pt x="439397" y="0"/>
                    <a:pt x="453146" y="0"/>
                  </a:cubicBezTo>
                  <a:close/>
                  <a:moveTo>
                    <a:pt x="178152" y="0"/>
                  </a:moveTo>
                  <a:lnTo>
                    <a:pt x="326528" y="0"/>
                  </a:lnTo>
                  <a:cubicBezTo>
                    <a:pt x="332517" y="0"/>
                    <a:pt x="335216" y="4380"/>
                    <a:pt x="332517" y="9687"/>
                  </a:cubicBezTo>
                  <a:lnTo>
                    <a:pt x="172163" y="188761"/>
                  </a:lnTo>
                  <a:cubicBezTo>
                    <a:pt x="169464" y="194151"/>
                    <a:pt x="169464" y="202827"/>
                    <a:pt x="172163" y="208218"/>
                  </a:cubicBezTo>
                  <a:lnTo>
                    <a:pt x="332517" y="390914"/>
                  </a:lnTo>
                  <a:cubicBezTo>
                    <a:pt x="335216" y="396220"/>
                    <a:pt x="332517" y="400600"/>
                    <a:pt x="326528" y="400600"/>
                  </a:cubicBezTo>
                  <a:lnTo>
                    <a:pt x="178152" y="400600"/>
                  </a:lnTo>
                  <a:cubicBezTo>
                    <a:pt x="172163" y="400600"/>
                    <a:pt x="165077" y="396220"/>
                    <a:pt x="162378" y="390914"/>
                  </a:cubicBezTo>
                  <a:lnTo>
                    <a:pt x="2024" y="208218"/>
                  </a:lnTo>
                  <a:cubicBezTo>
                    <a:pt x="-675" y="202827"/>
                    <a:pt x="-675" y="194151"/>
                    <a:pt x="2024" y="188761"/>
                  </a:cubicBezTo>
                  <a:cubicBezTo>
                    <a:pt x="26065" y="161975"/>
                    <a:pt x="144917" y="29565"/>
                    <a:pt x="153521" y="19710"/>
                  </a:cubicBezTo>
                  <a:cubicBezTo>
                    <a:pt x="159932" y="12214"/>
                    <a:pt x="166849" y="0"/>
                    <a:pt x="17815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237D36E-C4C8-73EB-A06D-6D49971FA976}"/>
                </a:ext>
              </a:extLst>
            </p:cNvPr>
            <p:cNvSpPr/>
            <p:nvPr/>
          </p:nvSpPr>
          <p:spPr>
            <a:xfrm>
              <a:off x="6282308" y="4478920"/>
              <a:ext cx="1830890" cy="1655180"/>
            </a:xfrm>
            <a:prstGeom prst="roundRect">
              <a:avLst>
                <a:gd name="adj" fmla="val 0"/>
              </a:avLst>
            </a:prstGeom>
            <a:blipFill rotWithShape="0">
              <a:blip r:embed="rId4"/>
              <a:stretch>
                <a:fillRect l="-17620" r="-1762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6960E57-7096-B4B3-E21F-F2AFB907AB41}"/>
                </a:ext>
              </a:extLst>
            </p:cNvPr>
            <p:cNvGrpSpPr/>
            <p:nvPr/>
          </p:nvGrpSpPr>
          <p:grpSpPr>
            <a:xfrm>
              <a:off x="8118867" y="4478920"/>
              <a:ext cx="3714190" cy="1655180"/>
              <a:chOff x="7106856" y="3067291"/>
              <a:chExt cx="3714190" cy="165518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CE236B6-49B6-EFF3-876D-5F08B80F2181}"/>
                  </a:ext>
                </a:extLst>
              </p:cNvPr>
              <p:cNvSpPr/>
              <p:nvPr/>
            </p:nvSpPr>
            <p:spPr>
              <a:xfrm>
                <a:off x="7106856" y="3067291"/>
                <a:ext cx="3292183" cy="1655180"/>
              </a:xfrm>
              <a:prstGeom prst="rect">
                <a:avLst/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rIns="180000" rtlCol="0" anchor="ctr" anchorCtr="1"/>
              <a:lstStyle/>
              <a:p>
                <a:endParaRPr kumimoji="1" lang="en-US" altLang="zh-CN" sz="120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4EF4379D-8BE8-217D-3AB6-855CBAA3088E}"/>
                  </a:ext>
                </a:extLst>
              </p:cNvPr>
              <p:cNvGrpSpPr/>
              <p:nvPr/>
            </p:nvGrpSpPr>
            <p:grpSpPr>
              <a:xfrm>
                <a:off x="7295424" y="3429000"/>
                <a:ext cx="3525622" cy="1108032"/>
                <a:chOff x="7401048" y="3193800"/>
                <a:chExt cx="3525622" cy="1108032"/>
              </a:xfrm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99791E1C-173C-70DD-0BC7-AD78FE60DE1C}"/>
                    </a:ext>
                  </a:extLst>
                </p:cNvPr>
                <p:cNvGrpSpPr/>
                <p:nvPr/>
              </p:nvGrpSpPr>
              <p:grpSpPr>
                <a:xfrm>
                  <a:off x="8024693" y="3216406"/>
                  <a:ext cx="2901977" cy="1085426"/>
                  <a:chOff x="2492017" y="2838545"/>
                  <a:chExt cx="2901977" cy="1085426"/>
                </a:xfrm>
              </p:grpSpPr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11E77184-4031-44F0-B695-16F7B3F97241}"/>
                      </a:ext>
                    </a:extLst>
                  </p:cNvPr>
                  <p:cNvSpPr/>
                  <p:nvPr/>
                </p:nvSpPr>
                <p:spPr>
                  <a:xfrm>
                    <a:off x="2492017" y="2838545"/>
                    <a:ext cx="2901977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>
                        <a:solidFill>
                          <a:schemeClr val="tx1"/>
                        </a:solidFill>
                      </a:rPr>
                      <a:t>文化的传播</a:t>
                    </a:r>
                  </a:p>
                </p:txBody>
              </p:sp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8A3ECF20-99A6-04D5-1C26-A58099912603}"/>
                      </a:ext>
                    </a:extLst>
                  </p:cNvPr>
                  <p:cNvSpPr/>
                  <p:nvPr/>
                </p:nvSpPr>
                <p:spPr>
                  <a:xfrm>
                    <a:off x="2492018" y="3185948"/>
                    <a:ext cx="2117554" cy="7380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kumimoji="1" lang="zh-CN" altLang="en-US" sz="1200">
                        <a:solidFill>
                          <a:schemeClr val="tx1"/>
                        </a:solidFill>
                      </a:rPr>
                      <a:t>通过内部沟通和员工参与，将公司文化传达给员工，建立共同的文化认同。</a:t>
                    </a:r>
                  </a:p>
                </p:txBody>
              </p:sp>
            </p:grp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81BBD1E-10E3-8A34-4A63-3519BD4FE059}"/>
                    </a:ext>
                  </a:extLst>
                </p:cNvPr>
                <p:cNvSpPr txBox="1"/>
                <p:nvPr/>
              </p:nvSpPr>
              <p:spPr>
                <a:xfrm>
                  <a:off x="7401048" y="3193800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2"/>
                </a:solidFill>
              </p:spPr>
              <p:txBody>
                <a:bodyPr wrap="none" lIns="91440" tIns="45720" rIns="91440" bIns="45720" rtlCol="0" anchor="ctr" anchorCtr="0">
                  <a:noAutofit/>
                </a:bodyPr>
                <a:lstStyle/>
                <a:p>
                  <a:pPr algn="ctr"/>
                  <a:r>
                    <a:rPr kumimoji="1" lang="en-US" altLang="zh-CN" sz="2000" b="1">
                      <a:solidFill>
                        <a:srgbClr val="FFFFFF"/>
                      </a:solidFill>
                    </a:rPr>
                    <a:t>03</a:t>
                  </a:r>
                  <a:endParaRPr kumimoji="1" lang="zh-CN" altLang="en-US" sz="2000" b="1">
                    <a:solidFill>
                      <a:srgbClr val="FFFFFF"/>
                    </a:solidFill>
                  </a:endParaRPr>
                </a:p>
              </p:txBody>
            </p:sp>
          </p:grp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712D49F-7B0C-F38D-2F39-DF357BCDB2E5}"/>
                </a:ext>
              </a:extLst>
            </p:cNvPr>
            <p:cNvSpPr/>
            <p:nvPr/>
          </p:nvSpPr>
          <p:spPr>
            <a:xfrm>
              <a:off x="669628" y="2637513"/>
              <a:ext cx="3984358" cy="1600200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>
                  <a:solidFill>
                    <a:schemeClr val="tx1"/>
                  </a:solidFill>
                </a:rPr>
                <a:t>文化的核心理念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389373A-60DB-D719-C12E-6889C7A97ED2}"/>
                </a:ext>
              </a:extLst>
            </p:cNvPr>
            <p:cNvSpPr/>
            <p:nvPr/>
          </p:nvSpPr>
          <p:spPr>
            <a:xfrm>
              <a:off x="669628" y="4427308"/>
              <a:ext cx="4149943" cy="2948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1200">
                  <a:solidFill>
                    <a:schemeClr val="tx1"/>
                  </a:solidFill>
                </a:rPr>
                <a:t>公司文化是组织的核心，代表了公司的核心价值观和信仰。</a:t>
              </a:r>
            </a:p>
          </p:txBody>
        </p:sp>
      </p:grpSp>
      <p:sp>
        <p:nvSpPr>
          <p:cNvPr id="32" name="Title 3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文化的内涵解析</a:t>
            </a:r>
          </a:p>
        </p:txBody>
      </p:sp>
    </p:spTree>
    <p:custDataLst>
      <p:tags r:id="rId5"/>
    </p:custDataLst>
    <p:extLst>
      <p:ext uri="{BB962C8B-B14F-4D97-AF65-F5344CB8AC3E}">
        <p14:creationId val="383252466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31A4375-DB8E-66F7-7267-F66E44C6B169}"/>
              </a:ext>
            </a:extLst>
          </p:cNvPr>
          <p:cNvGrpSpPr/>
          <p:nvPr/>
        </p:nvGrpSpPr>
        <p:grpSpPr>
          <a:xfrm>
            <a:off x="660399" y="1191855"/>
            <a:ext cx="10053184" cy="4666131"/>
            <a:chOff x="660399" y="1191855"/>
            <a:chExt cx="10053184" cy="466613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683E812-28D7-7C12-C77F-00A3F3FE3D06}"/>
                </a:ext>
              </a:extLst>
            </p:cNvPr>
            <p:cNvSpPr/>
            <p:nvPr/>
          </p:nvSpPr>
          <p:spPr>
            <a:xfrm>
              <a:off x="660400" y="1191855"/>
              <a:ext cx="701675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>
                  <a:solidFill>
                    <a:schemeClr val="tx1"/>
                  </a:solidFill>
                </a:rPr>
                <a:t>价值观的核心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DED9D5-379A-8B43-8D71-99FCF63D9C67}"/>
                </a:ext>
              </a:extLst>
            </p:cNvPr>
            <p:cNvSpPr/>
            <p:nvPr/>
          </p:nvSpPr>
          <p:spPr>
            <a:xfrm>
              <a:off x="660399" y="1653520"/>
              <a:ext cx="7016750" cy="29482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1200">
                  <a:solidFill>
                    <a:schemeClr val="tx1"/>
                  </a:solidFill>
                </a:rPr>
                <a:t>了解和遵守公司的价值观是每位员工工作的基础，也是公司文化的重要组成部分。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5245796-B1DE-9F13-A33B-BB0F95FB63F9}"/>
                </a:ext>
              </a:extLst>
            </p:cNvPr>
            <p:cNvGrpSpPr/>
            <p:nvPr/>
          </p:nvGrpSpPr>
          <p:grpSpPr>
            <a:xfrm>
              <a:off x="1313316" y="2610385"/>
              <a:ext cx="9400267" cy="3247601"/>
              <a:chOff x="1313316" y="2610385"/>
              <a:chExt cx="9400267" cy="3247601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C6D7C97B-F27F-D2CF-5E48-88FE750DACCA}"/>
                  </a:ext>
                </a:extLst>
              </p:cNvPr>
              <p:cNvGrpSpPr/>
              <p:nvPr/>
            </p:nvGrpSpPr>
            <p:grpSpPr>
              <a:xfrm>
                <a:off x="1628982" y="2610385"/>
                <a:ext cx="8768935" cy="152400"/>
                <a:chOff x="1697797" y="2881055"/>
                <a:chExt cx="8768935" cy="152400"/>
              </a:xfrm>
            </p:grpSpPr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A9779833-61B1-31B2-FDE1-9BD6422FDA38}"/>
                    </a:ext>
                  </a:extLst>
                </p:cNvPr>
                <p:cNvCxnSpPr>
                  <a:stCxn id="8" idx="6"/>
                  <a:endCxn id="10" idx="2"/>
                </p:cNvCxnSpPr>
                <p:nvPr/>
              </p:nvCxnSpPr>
              <p:spPr>
                <a:xfrm>
                  <a:off x="1850197" y="2957255"/>
                  <a:ext cx="8464135" cy="0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B3B18865-C379-8B72-22A0-F6C53BA8F888}"/>
                    </a:ext>
                  </a:extLst>
                </p:cNvPr>
                <p:cNvSpPr/>
                <p:nvPr/>
              </p:nvSpPr>
              <p:spPr>
                <a:xfrm>
                  <a:off x="1697797" y="2881055"/>
                  <a:ext cx="152400" cy="1524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1E0E21E-6321-D704-6931-B452BBFBCF6D}"/>
                    </a:ext>
                  </a:extLst>
                </p:cNvPr>
                <p:cNvSpPr/>
                <p:nvPr/>
              </p:nvSpPr>
              <p:spPr>
                <a:xfrm>
                  <a:off x="6006064" y="2881055"/>
                  <a:ext cx="152400" cy="1524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CFBA67BE-C86C-93B8-EF5A-9ECE2F1514F6}"/>
                    </a:ext>
                  </a:extLst>
                </p:cNvPr>
                <p:cNvSpPr/>
                <p:nvPr/>
              </p:nvSpPr>
              <p:spPr>
                <a:xfrm>
                  <a:off x="10314332" y="2881055"/>
                  <a:ext cx="152400" cy="1524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55F5C93B-ABB6-1101-C9B9-F29AFEA39AF3}"/>
                  </a:ext>
                </a:extLst>
              </p:cNvPr>
              <p:cNvGrpSpPr/>
              <p:nvPr/>
            </p:nvGrpSpPr>
            <p:grpSpPr>
              <a:xfrm>
                <a:off x="1313316" y="2996404"/>
                <a:ext cx="2699657" cy="2861582"/>
                <a:chOff x="1313316" y="2996404"/>
                <a:chExt cx="2699657" cy="2861582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4C3E3675-7D19-0F88-2341-B3655C8798AF}"/>
                    </a:ext>
                  </a:extLst>
                </p:cNvPr>
                <p:cNvSpPr/>
                <p:nvPr/>
              </p:nvSpPr>
              <p:spPr>
                <a:xfrm>
                  <a:off x="1313316" y="2996404"/>
                  <a:ext cx="2699657" cy="2861582"/>
                </a:xfrm>
                <a:custGeom>
                  <a:gdLst>
                    <a:gd name="connsiteX0" fmla="*/ 425401 w 2699657"/>
                    <a:gd name="connsiteY0" fmla="*/ 0 h 2861582"/>
                    <a:gd name="connsiteX1" fmla="*/ 519317 w 2699657"/>
                    <a:gd name="connsiteY1" fmla="*/ 161925 h 2861582"/>
                    <a:gd name="connsiteX2" fmla="*/ 2612566 w 2699657"/>
                    <a:gd name="connsiteY2" fmla="*/ 161925 h 2861582"/>
                    <a:gd name="connsiteX3" fmla="*/ 2699657 w 2699657"/>
                    <a:gd name="connsiteY3" fmla="*/ 249016 h 2861582"/>
                    <a:gd name="connsiteX4" fmla="*/ 2699657 w 2699657"/>
                    <a:gd name="connsiteY4" fmla="*/ 2774491 h 2861582"/>
                    <a:gd name="connsiteX5" fmla="*/ 2612566 w 2699657"/>
                    <a:gd name="connsiteY5" fmla="*/ 2861582 h 2861582"/>
                    <a:gd name="connsiteX6" fmla="*/ 87091 w 2699657"/>
                    <a:gd name="connsiteY6" fmla="*/ 2861582 h 2861582"/>
                    <a:gd name="connsiteX7" fmla="*/ 0 w 2699657"/>
                    <a:gd name="connsiteY7" fmla="*/ 2774491 h 2861582"/>
                    <a:gd name="connsiteX8" fmla="*/ 0 w 2699657"/>
                    <a:gd name="connsiteY8" fmla="*/ 249016 h 2861582"/>
                    <a:gd name="connsiteX9" fmla="*/ 87091 w 2699657"/>
                    <a:gd name="connsiteY9" fmla="*/ 161925 h 2861582"/>
                    <a:gd name="connsiteX10" fmla="*/ 331484 w 2699657"/>
                    <a:gd name="connsiteY10" fmla="*/ 161925 h 286158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699657" h="2861582">
                      <a:moveTo>
                        <a:pt x="425401" y="0"/>
                      </a:moveTo>
                      <a:lnTo>
                        <a:pt x="519317" y="161925"/>
                      </a:lnTo>
                      <a:lnTo>
                        <a:pt x="2612566" y="161925"/>
                      </a:lnTo>
                      <a:cubicBezTo>
                        <a:pt x="2660665" y="161925"/>
                        <a:pt x="2699657" y="200917"/>
                        <a:pt x="2699657" y="249016"/>
                      </a:cubicBezTo>
                      <a:lnTo>
                        <a:pt x="2699657" y="2774491"/>
                      </a:lnTo>
                      <a:cubicBezTo>
                        <a:pt x="2699657" y="2822590"/>
                        <a:pt x="2660665" y="2861582"/>
                        <a:pt x="2612566" y="2861582"/>
                      </a:cubicBezTo>
                      <a:lnTo>
                        <a:pt x="87091" y="2861582"/>
                      </a:lnTo>
                      <a:cubicBezTo>
                        <a:pt x="38992" y="2861582"/>
                        <a:pt x="0" y="2822590"/>
                        <a:pt x="0" y="2774491"/>
                      </a:cubicBezTo>
                      <a:lnTo>
                        <a:pt x="0" y="249016"/>
                      </a:lnTo>
                      <a:cubicBezTo>
                        <a:pt x="0" y="200917"/>
                        <a:pt x="38992" y="161925"/>
                        <a:pt x="87091" y="161925"/>
                      </a:cubicBezTo>
                      <a:lnTo>
                        <a:pt x="331484" y="161925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40FED42C-20B9-D291-C99E-D11FA6435551}"/>
                    </a:ext>
                  </a:extLst>
                </p:cNvPr>
                <p:cNvSpPr/>
                <p:nvPr/>
              </p:nvSpPr>
              <p:spPr>
                <a:xfrm>
                  <a:off x="1581564" y="3961954"/>
                  <a:ext cx="355599" cy="432903"/>
                </a:xfrm>
                <a:custGeom>
                  <a:gdLst>
                    <a:gd name="connsiteX0" fmla="*/ 284197 w 438150"/>
                    <a:gd name="connsiteY0" fmla="*/ 621 h 533400"/>
                    <a:gd name="connsiteX1" fmla="*/ 310867 w 438150"/>
                    <a:gd name="connsiteY1" fmla="*/ 12051 h 533400"/>
                    <a:gd name="connsiteX2" fmla="*/ 310867 w 438150"/>
                    <a:gd name="connsiteY2" fmla="*/ 12051 h 533400"/>
                    <a:gd name="connsiteX3" fmla="*/ 427072 w 438150"/>
                    <a:gd name="connsiteY3" fmla="*/ 128256 h 533400"/>
                    <a:gd name="connsiteX4" fmla="*/ 438502 w 438150"/>
                    <a:gd name="connsiteY4" fmla="*/ 154926 h 533400"/>
                    <a:gd name="connsiteX5" fmla="*/ 438502 w 438150"/>
                    <a:gd name="connsiteY5" fmla="*/ 154926 h 533400"/>
                    <a:gd name="connsiteX6" fmla="*/ 438502 w 438150"/>
                    <a:gd name="connsiteY6" fmla="*/ 495921 h 533400"/>
                    <a:gd name="connsiteX7" fmla="*/ 400402 w 438150"/>
                    <a:gd name="connsiteY7" fmla="*/ 534021 h 533400"/>
                    <a:gd name="connsiteX8" fmla="*/ 400402 w 438150"/>
                    <a:gd name="connsiteY8" fmla="*/ 534021 h 533400"/>
                    <a:gd name="connsiteX9" fmla="*/ 38452 w 438150"/>
                    <a:gd name="connsiteY9" fmla="*/ 534021 h 533400"/>
                    <a:gd name="connsiteX10" fmla="*/ 352 w 438150"/>
                    <a:gd name="connsiteY10" fmla="*/ 495921 h 533400"/>
                    <a:gd name="connsiteX11" fmla="*/ 352 w 438150"/>
                    <a:gd name="connsiteY11" fmla="*/ 495921 h 533400"/>
                    <a:gd name="connsiteX12" fmla="*/ 352 w 438150"/>
                    <a:gd name="connsiteY12" fmla="*/ 38721 h 533400"/>
                    <a:gd name="connsiteX13" fmla="*/ 38452 w 438150"/>
                    <a:gd name="connsiteY13" fmla="*/ 621 h 533400"/>
                    <a:gd name="connsiteX14" fmla="*/ 38452 w 438150"/>
                    <a:gd name="connsiteY14" fmla="*/ 621 h 533400"/>
                    <a:gd name="connsiteX15" fmla="*/ 284197 w 438150"/>
                    <a:gd name="connsiteY15" fmla="*/ 621 h 533400"/>
                    <a:gd name="connsiteX16" fmla="*/ 284197 w 438150"/>
                    <a:gd name="connsiteY16" fmla="*/ 19671 h 533400"/>
                    <a:gd name="connsiteX17" fmla="*/ 38452 w 438150"/>
                    <a:gd name="connsiteY17" fmla="*/ 19671 h 533400"/>
                    <a:gd name="connsiteX18" fmla="*/ 19402 w 438150"/>
                    <a:gd name="connsiteY18" fmla="*/ 38721 h 533400"/>
                    <a:gd name="connsiteX19" fmla="*/ 19402 w 438150"/>
                    <a:gd name="connsiteY19" fmla="*/ 38721 h 533400"/>
                    <a:gd name="connsiteX20" fmla="*/ 19402 w 438150"/>
                    <a:gd name="connsiteY20" fmla="*/ 495921 h 533400"/>
                    <a:gd name="connsiteX21" fmla="*/ 38452 w 438150"/>
                    <a:gd name="connsiteY21" fmla="*/ 514971 h 533400"/>
                    <a:gd name="connsiteX22" fmla="*/ 38452 w 438150"/>
                    <a:gd name="connsiteY22" fmla="*/ 514971 h 533400"/>
                    <a:gd name="connsiteX23" fmla="*/ 400402 w 438150"/>
                    <a:gd name="connsiteY23" fmla="*/ 514971 h 533400"/>
                    <a:gd name="connsiteX24" fmla="*/ 419452 w 438150"/>
                    <a:gd name="connsiteY24" fmla="*/ 495921 h 533400"/>
                    <a:gd name="connsiteX25" fmla="*/ 419452 w 438150"/>
                    <a:gd name="connsiteY25" fmla="*/ 495921 h 533400"/>
                    <a:gd name="connsiteX26" fmla="*/ 419452 w 438150"/>
                    <a:gd name="connsiteY26" fmla="*/ 154926 h 533400"/>
                    <a:gd name="connsiteX27" fmla="*/ 419452 w 438150"/>
                    <a:gd name="connsiteY27" fmla="*/ 153021 h 533400"/>
                    <a:gd name="connsiteX28" fmla="*/ 314677 w 438150"/>
                    <a:gd name="connsiteY28" fmla="*/ 153021 h 533400"/>
                    <a:gd name="connsiteX29" fmla="*/ 286102 w 438150"/>
                    <a:gd name="connsiteY29" fmla="*/ 126351 h 533400"/>
                    <a:gd name="connsiteX30" fmla="*/ 286102 w 438150"/>
                    <a:gd name="connsiteY30" fmla="*/ 124446 h 533400"/>
                    <a:gd name="connsiteX31" fmla="*/ 286102 w 438150"/>
                    <a:gd name="connsiteY31" fmla="*/ 19671 h 533400"/>
                    <a:gd name="connsiteX32" fmla="*/ 284197 w 438150"/>
                    <a:gd name="connsiteY32" fmla="*/ 19671 h 533400"/>
                    <a:gd name="connsiteX33" fmla="*/ 284197 w 438150"/>
                    <a:gd name="connsiteY33" fmla="*/ 19671 h 533400"/>
                    <a:gd name="connsiteX34" fmla="*/ 248002 w 438150"/>
                    <a:gd name="connsiteY34" fmla="*/ 200646 h 533400"/>
                    <a:gd name="connsiteX35" fmla="*/ 305152 w 438150"/>
                    <a:gd name="connsiteY35" fmla="*/ 257796 h 533400"/>
                    <a:gd name="connsiteX36" fmla="*/ 248002 w 438150"/>
                    <a:gd name="connsiteY36" fmla="*/ 314946 h 533400"/>
                    <a:gd name="connsiteX37" fmla="*/ 248002 w 438150"/>
                    <a:gd name="connsiteY37" fmla="*/ 314946 h 533400"/>
                    <a:gd name="connsiteX38" fmla="*/ 171802 w 438150"/>
                    <a:gd name="connsiteY38" fmla="*/ 314946 h 533400"/>
                    <a:gd name="connsiteX39" fmla="*/ 171802 w 438150"/>
                    <a:gd name="connsiteY39" fmla="*/ 410196 h 533400"/>
                    <a:gd name="connsiteX40" fmla="*/ 152752 w 438150"/>
                    <a:gd name="connsiteY40" fmla="*/ 410196 h 533400"/>
                    <a:gd name="connsiteX41" fmla="*/ 152752 w 438150"/>
                    <a:gd name="connsiteY41" fmla="*/ 200646 h 533400"/>
                    <a:gd name="connsiteX42" fmla="*/ 248002 w 438150"/>
                    <a:gd name="connsiteY42" fmla="*/ 200646 h 533400"/>
                    <a:gd name="connsiteX43" fmla="*/ 248002 w 438150"/>
                    <a:gd name="connsiteY43" fmla="*/ 219696 h 533400"/>
                    <a:gd name="connsiteX44" fmla="*/ 171802 w 438150"/>
                    <a:gd name="connsiteY44" fmla="*/ 219696 h 533400"/>
                    <a:gd name="connsiteX45" fmla="*/ 171802 w 438150"/>
                    <a:gd name="connsiteY45" fmla="*/ 295896 h 533400"/>
                    <a:gd name="connsiteX46" fmla="*/ 248002 w 438150"/>
                    <a:gd name="connsiteY46" fmla="*/ 295896 h 533400"/>
                    <a:gd name="connsiteX47" fmla="*/ 286102 w 438150"/>
                    <a:gd name="connsiteY47" fmla="*/ 257796 h 533400"/>
                    <a:gd name="connsiteX48" fmla="*/ 248002 w 438150"/>
                    <a:gd name="connsiteY48" fmla="*/ 219696 h 533400"/>
                    <a:gd name="connsiteX49" fmla="*/ 248002 w 438150"/>
                    <a:gd name="connsiteY49" fmla="*/ 219696 h 533400"/>
                    <a:gd name="connsiteX50" fmla="*/ 305152 w 438150"/>
                    <a:gd name="connsiteY50" fmla="*/ 33006 h 533400"/>
                    <a:gd name="connsiteX51" fmla="*/ 305152 w 438150"/>
                    <a:gd name="connsiteY51" fmla="*/ 124446 h 533400"/>
                    <a:gd name="connsiteX52" fmla="*/ 313724 w 438150"/>
                    <a:gd name="connsiteY52" fmla="*/ 133971 h 533400"/>
                    <a:gd name="connsiteX53" fmla="*/ 314677 w 438150"/>
                    <a:gd name="connsiteY53" fmla="*/ 133971 h 533400"/>
                    <a:gd name="connsiteX54" fmla="*/ 406117 w 438150"/>
                    <a:gd name="connsiteY54" fmla="*/ 133971 h 533400"/>
                    <a:gd name="connsiteX55" fmla="*/ 305152 w 438150"/>
                    <a:gd name="connsiteY55" fmla="*/ 33006 h 53340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</a:cxnLst>
                  <a:rect l="l" t="t" r="r" b="b"/>
                  <a:pathLst>
                    <a:path w="438150" h="533400">
                      <a:moveTo>
                        <a:pt x="284197" y="621"/>
                      </a:moveTo>
                      <a:cubicBezTo>
                        <a:pt x="294674" y="621"/>
                        <a:pt x="304199" y="4431"/>
                        <a:pt x="310867" y="12051"/>
                      </a:cubicBezTo>
                      <a:lnTo>
                        <a:pt x="310867" y="12051"/>
                      </a:lnTo>
                      <a:lnTo>
                        <a:pt x="427072" y="128256"/>
                      </a:lnTo>
                      <a:cubicBezTo>
                        <a:pt x="434692" y="135876"/>
                        <a:pt x="438502" y="145401"/>
                        <a:pt x="438502" y="154926"/>
                      </a:cubicBezTo>
                      <a:lnTo>
                        <a:pt x="438502" y="154926"/>
                      </a:lnTo>
                      <a:lnTo>
                        <a:pt x="438502" y="495921"/>
                      </a:lnTo>
                      <a:cubicBezTo>
                        <a:pt x="438502" y="516876"/>
                        <a:pt x="421357" y="534021"/>
                        <a:pt x="400402" y="534021"/>
                      </a:cubicBezTo>
                      <a:lnTo>
                        <a:pt x="400402" y="534021"/>
                      </a:lnTo>
                      <a:lnTo>
                        <a:pt x="38452" y="534021"/>
                      </a:lnTo>
                      <a:cubicBezTo>
                        <a:pt x="17497" y="534021"/>
                        <a:pt x="352" y="516876"/>
                        <a:pt x="352" y="495921"/>
                      </a:cubicBezTo>
                      <a:lnTo>
                        <a:pt x="352" y="495921"/>
                      </a:lnTo>
                      <a:lnTo>
                        <a:pt x="352" y="38721"/>
                      </a:lnTo>
                      <a:cubicBezTo>
                        <a:pt x="352" y="17766"/>
                        <a:pt x="17497" y="621"/>
                        <a:pt x="38452" y="621"/>
                      </a:cubicBezTo>
                      <a:lnTo>
                        <a:pt x="38452" y="621"/>
                      </a:lnTo>
                      <a:lnTo>
                        <a:pt x="284197" y="621"/>
                      </a:lnTo>
                      <a:close/>
                      <a:moveTo>
                        <a:pt x="284197" y="19671"/>
                      </a:moveTo>
                      <a:lnTo>
                        <a:pt x="38452" y="19671"/>
                      </a:lnTo>
                      <a:cubicBezTo>
                        <a:pt x="27974" y="19671"/>
                        <a:pt x="19402" y="28244"/>
                        <a:pt x="19402" y="38721"/>
                      </a:cubicBezTo>
                      <a:lnTo>
                        <a:pt x="19402" y="38721"/>
                      </a:lnTo>
                      <a:lnTo>
                        <a:pt x="19402" y="495921"/>
                      </a:lnTo>
                      <a:cubicBezTo>
                        <a:pt x="19402" y="506399"/>
                        <a:pt x="27974" y="514971"/>
                        <a:pt x="38452" y="514971"/>
                      </a:cubicBezTo>
                      <a:lnTo>
                        <a:pt x="38452" y="514971"/>
                      </a:lnTo>
                      <a:lnTo>
                        <a:pt x="400402" y="514971"/>
                      </a:lnTo>
                      <a:cubicBezTo>
                        <a:pt x="410880" y="514971"/>
                        <a:pt x="419452" y="506399"/>
                        <a:pt x="419452" y="495921"/>
                      </a:cubicBezTo>
                      <a:lnTo>
                        <a:pt x="419452" y="495921"/>
                      </a:lnTo>
                      <a:lnTo>
                        <a:pt x="419452" y="154926"/>
                      </a:lnTo>
                      <a:cubicBezTo>
                        <a:pt x="419452" y="153974"/>
                        <a:pt x="419452" y="153021"/>
                        <a:pt x="419452" y="153021"/>
                      </a:cubicBezTo>
                      <a:lnTo>
                        <a:pt x="314677" y="153021"/>
                      </a:lnTo>
                      <a:cubicBezTo>
                        <a:pt x="299437" y="153021"/>
                        <a:pt x="287055" y="141591"/>
                        <a:pt x="286102" y="126351"/>
                      </a:cubicBezTo>
                      <a:lnTo>
                        <a:pt x="286102" y="124446"/>
                      </a:lnTo>
                      <a:lnTo>
                        <a:pt x="286102" y="19671"/>
                      </a:lnTo>
                      <a:cubicBezTo>
                        <a:pt x="285149" y="19671"/>
                        <a:pt x="284197" y="19671"/>
                        <a:pt x="284197" y="19671"/>
                      </a:cubicBezTo>
                      <a:lnTo>
                        <a:pt x="284197" y="19671"/>
                      </a:lnTo>
                      <a:close/>
                      <a:moveTo>
                        <a:pt x="248002" y="200646"/>
                      </a:moveTo>
                      <a:cubicBezTo>
                        <a:pt x="279434" y="200646"/>
                        <a:pt x="305152" y="226364"/>
                        <a:pt x="305152" y="257796"/>
                      </a:cubicBezTo>
                      <a:cubicBezTo>
                        <a:pt x="305152" y="289229"/>
                        <a:pt x="279434" y="314946"/>
                        <a:pt x="248002" y="314946"/>
                      </a:cubicBezTo>
                      <a:lnTo>
                        <a:pt x="248002" y="314946"/>
                      </a:lnTo>
                      <a:lnTo>
                        <a:pt x="171802" y="314946"/>
                      </a:lnTo>
                      <a:lnTo>
                        <a:pt x="171802" y="410196"/>
                      </a:lnTo>
                      <a:lnTo>
                        <a:pt x="152752" y="410196"/>
                      </a:lnTo>
                      <a:lnTo>
                        <a:pt x="152752" y="200646"/>
                      </a:lnTo>
                      <a:lnTo>
                        <a:pt x="248002" y="200646"/>
                      </a:lnTo>
                      <a:close/>
                      <a:moveTo>
                        <a:pt x="248002" y="219696"/>
                      </a:moveTo>
                      <a:lnTo>
                        <a:pt x="171802" y="219696"/>
                      </a:lnTo>
                      <a:lnTo>
                        <a:pt x="171802" y="295896"/>
                      </a:lnTo>
                      <a:lnTo>
                        <a:pt x="248002" y="295896"/>
                      </a:lnTo>
                      <a:cubicBezTo>
                        <a:pt x="268957" y="295896"/>
                        <a:pt x="286102" y="278751"/>
                        <a:pt x="286102" y="257796"/>
                      </a:cubicBezTo>
                      <a:cubicBezTo>
                        <a:pt x="286102" y="236841"/>
                        <a:pt x="268957" y="219696"/>
                        <a:pt x="248002" y="219696"/>
                      </a:cubicBezTo>
                      <a:lnTo>
                        <a:pt x="248002" y="219696"/>
                      </a:lnTo>
                      <a:close/>
                      <a:moveTo>
                        <a:pt x="305152" y="33006"/>
                      </a:moveTo>
                      <a:lnTo>
                        <a:pt x="305152" y="124446"/>
                      </a:lnTo>
                      <a:cubicBezTo>
                        <a:pt x="305152" y="129209"/>
                        <a:pt x="308962" y="133019"/>
                        <a:pt x="313724" y="133971"/>
                      </a:cubicBezTo>
                      <a:lnTo>
                        <a:pt x="314677" y="133971"/>
                      </a:lnTo>
                      <a:lnTo>
                        <a:pt x="406117" y="133971"/>
                      </a:lnTo>
                      <a:lnTo>
                        <a:pt x="305152" y="330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13A0E907-7790-7A78-3471-9C54BB178642}"/>
                    </a:ext>
                  </a:extLst>
                </p:cNvPr>
                <p:cNvGrpSpPr/>
                <p:nvPr/>
              </p:nvGrpSpPr>
              <p:grpSpPr>
                <a:xfrm>
                  <a:off x="1475601" y="4573498"/>
                  <a:ext cx="2375086" cy="861491"/>
                  <a:chOff x="1422215" y="4588012"/>
                  <a:chExt cx="2375086" cy="861491"/>
                </a:xfrm>
              </p:grpSpPr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2CE8DCE1-C75E-BD6A-E60E-78FE3BBE5C3B}"/>
                      </a:ext>
                    </a:extLst>
                  </p:cNvPr>
                  <p:cNvSpPr/>
                  <p:nvPr/>
                </p:nvSpPr>
                <p:spPr>
                  <a:xfrm>
                    <a:off x="1422215" y="4933080"/>
                    <a:ext cx="2375086" cy="5164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b="0" i="0">
                        <a:solidFill>
                          <a:srgbClr val="FFFFFF"/>
                        </a:solidFill>
                        <a:effectLst/>
                      </a:rPr>
                      <a:t>明确公司所追求的核心价值，为员工提供明确的指导和目标。</a:t>
                    </a:r>
                    <a:endParaRPr kumimoji="1" lang="en-US" altLang="zh-CN" sz="100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D1FAE45F-F23F-0D7A-ECDD-5D708196C92C}"/>
                      </a:ext>
                    </a:extLst>
                  </p:cNvPr>
                  <p:cNvSpPr/>
                  <p:nvPr/>
                </p:nvSpPr>
                <p:spPr>
                  <a:xfrm>
                    <a:off x="1422215" y="4588012"/>
                    <a:ext cx="2375086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>
                        <a:solidFill>
                          <a:srgbClr val="FFFFFF"/>
                        </a:solidFill>
                      </a:rPr>
                      <a:t>公司价值观的定义</a:t>
                    </a:r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96DF03D1-0C38-8F12-6E86-67C7E3EDAF8E}"/>
                  </a:ext>
                </a:extLst>
              </p:cNvPr>
              <p:cNvGrpSpPr/>
              <p:nvPr/>
            </p:nvGrpSpPr>
            <p:grpSpPr>
              <a:xfrm>
                <a:off x="8013926" y="2996404"/>
                <a:ext cx="2699657" cy="2861582"/>
                <a:chOff x="8013926" y="2996404"/>
                <a:chExt cx="2699657" cy="2861582"/>
              </a:xfrm>
            </p:grpSpPr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60492FE4-F830-6810-0CAC-C6138B7D0F47}"/>
                    </a:ext>
                  </a:extLst>
                </p:cNvPr>
                <p:cNvSpPr/>
                <p:nvPr/>
              </p:nvSpPr>
              <p:spPr>
                <a:xfrm flipH="1">
                  <a:off x="8013926" y="2996404"/>
                  <a:ext cx="2699657" cy="2861582"/>
                </a:xfrm>
                <a:custGeom>
                  <a:gdLst>
                    <a:gd name="connsiteX0" fmla="*/ 425401 w 2699657"/>
                    <a:gd name="connsiteY0" fmla="*/ 0 h 2861582"/>
                    <a:gd name="connsiteX1" fmla="*/ 519317 w 2699657"/>
                    <a:gd name="connsiteY1" fmla="*/ 161925 h 2861582"/>
                    <a:gd name="connsiteX2" fmla="*/ 2612566 w 2699657"/>
                    <a:gd name="connsiteY2" fmla="*/ 161925 h 2861582"/>
                    <a:gd name="connsiteX3" fmla="*/ 2699657 w 2699657"/>
                    <a:gd name="connsiteY3" fmla="*/ 249016 h 2861582"/>
                    <a:gd name="connsiteX4" fmla="*/ 2699657 w 2699657"/>
                    <a:gd name="connsiteY4" fmla="*/ 2774491 h 2861582"/>
                    <a:gd name="connsiteX5" fmla="*/ 2612566 w 2699657"/>
                    <a:gd name="connsiteY5" fmla="*/ 2861582 h 2861582"/>
                    <a:gd name="connsiteX6" fmla="*/ 87091 w 2699657"/>
                    <a:gd name="connsiteY6" fmla="*/ 2861582 h 2861582"/>
                    <a:gd name="connsiteX7" fmla="*/ 0 w 2699657"/>
                    <a:gd name="connsiteY7" fmla="*/ 2774491 h 2861582"/>
                    <a:gd name="connsiteX8" fmla="*/ 0 w 2699657"/>
                    <a:gd name="connsiteY8" fmla="*/ 249016 h 2861582"/>
                    <a:gd name="connsiteX9" fmla="*/ 87091 w 2699657"/>
                    <a:gd name="connsiteY9" fmla="*/ 161925 h 2861582"/>
                    <a:gd name="connsiteX10" fmla="*/ 331484 w 2699657"/>
                    <a:gd name="connsiteY10" fmla="*/ 161925 h 286158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699657" h="2861582">
                      <a:moveTo>
                        <a:pt x="425401" y="0"/>
                      </a:moveTo>
                      <a:lnTo>
                        <a:pt x="519317" y="161925"/>
                      </a:lnTo>
                      <a:lnTo>
                        <a:pt x="2612566" y="161925"/>
                      </a:lnTo>
                      <a:cubicBezTo>
                        <a:pt x="2660665" y="161925"/>
                        <a:pt x="2699657" y="200917"/>
                        <a:pt x="2699657" y="249016"/>
                      </a:cubicBezTo>
                      <a:lnTo>
                        <a:pt x="2699657" y="2774491"/>
                      </a:lnTo>
                      <a:cubicBezTo>
                        <a:pt x="2699657" y="2822590"/>
                        <a:pt x="2660665" y="2861582"/>
                        <a:pt x="2612566" y="2861582"/>
                      </a:cubicBezTo>
                      <a:lnTo>
                        <a:pt x="87091" y="2861582"/>
                      </a:lnTo>
                      <a:cubicBezTo>
                        <a:pt x="38992" y="2861582"/>
                        <a:pt x="0" y="2822590"/>
                        <a:pt x="0" y="2774491"/>
                      </a:cubicBezTo>
                      <a:lnTo>
                        <a:pt x="0" y="249016"/>
                      </a:lnTo>
                      <a:cubicBezTo>
                        <a:pt x="0" y="200917"/>
                        <a:pt x="38992" y="161925"/>
                        <a:pt x="87091" y="161925"/>
                      </a:cubicBezTo>
                      <a:lnTo>
                        <a:pt x="331484" y="161925"/>
                      </a:lnTo>
                      <a:close/>
                    </a:path>
                  </a:pathLst>
                </a:custGeom>
                <a:solidFill>
                  <a:schemeClr val="tx2">
                    <a:alpha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0A1864FA-89CE-4FF5-B335-08BA43F40BB5}"/>
                    </a:ext>
                  </a:extLst>
                </p:cNvPr>
                <p:cNvSpPr/>
                <p:nvPr/>
              </p:nvSpPr>
              <p:spPr>
                <a:xfrm>
                  <a:off x="8304116" y="4016067"/>
                  <a:ext cx="432903" cy="324677"/>
                </a:xfrm>
                <a:custGeom>
                  <a:gdLst>
                    <a:gd name="connsiteX0" fmla="*/ 495908 w 533400"/>
                    <a:gd name="connsiteY0" fmla="*/ 621 h 400050"/>
                    <a:gd name="connsiteX1" fmla="*/ 534008 w 533400"/>
                    <a:gd name="connsiteY1" fmla="*/ 38721 h 400050"/>
                    <a:gd name="connsiteX2" fmla="*/ 534008 w 533400"/>
                    <a:gd name="connsiteY2" fmla="*/ 38721 h 400050"/>
                    <a:gd name="connsiteX3" fmla="*/ 534008 w 533400"/>
                    <a:gd name="connsiteY3" fmla="*/ 362571 h 400050"/>
                    <a:gd name="connsiteX4" fmla="*/ 495908 w 533400"/>
                    <a:gd name="connsiteY4" fmla="*/ 400671 h 400050"/>
                    <a:gd name="connsiteX5" fmla="*/ 495908 w 533400"/>
                    <a:gd name="connsiteY5" fmla="*/ 400671 h 400050"/>
                    <a:gd name="connsiteX6" fmla="*/ 38708 w 533400"/>
                    <a:gd name="connsiteY6" fmla="*/ 400671 h 400050"/>
                    <a:gd name="connsiteX7" fmla="*/ 608 w 533400"/>
                    <a:gd name="connsiteY7" fmla="*/ 362571 h 400050"/>
                    <a:gd name="connsiteX8" fmla="*/ 608 w 533400"/>
                    <a:gd name="connsiteY8" fmla="*/ 362571 h 400050"/>
                    <a:gd name="connsiteX9" fmla="*/ 608 w 533400"/>
                    <a:gd name="connsiteY9" fmla="*/ 38721 h 400050"/>
                    <a:gd name="connsiteX10" fmla="*/ 38708 w 533400"/>
                    <a:gd name="connsiteY10" fmla="*/ 621 h 400050"/>
                    <a:gd name="connsiteX11" fmla="*/ 38708 w 533400"/>
                    <a:gd name="connsiteY11" fmla="*/ 621 h 400050"/>
                    <a:gd name="connsiteX12" fmla="*/ 495908 w 533400"/>
                    <a:gd name="connsiteY12" fmla="*/ 621 h 400050"/>
                    <a:gd name="connsiteX13" fmla="*/ 361605 w 533400"/>
                    <a:gd name="connsiteY13" fmla="*/ 172071 h 400050"/>
                    <a:gd name="connsiteX14" fmla="*/ 360653 w 533400"/>
                    <a:gd name="connsiteY14" fmla="*/ 173024 h 400050"/>
                    <a:gd name="connsiteX15" fmla="*/ 274928 w 533400"/>
                    <a:gd name="connsiteY15" fmla="*/ 284466 h 400050"/>
                    <a:gd name="connsiteX16" fmla="*/ 272071 w 533400"/>
                    <a:gd name="connsiteY16" fmla="*/ 288276 h 400050"/>
                    <a:gd name="connsiteX17" fmla="*/ 219683 w 533400"/>
                    <a:gd name="connsiteY17" fmla="*/ 290181 h 400050"/>
                    <a:gd name="connsiteX18" fmla="*/ 217778 w 533400"/>
                    <a:gd name="connsiteY18" fmla="*/ 289229 h 400050"/>
                    <a:gd name="connsiteX19" fmla="*/ 154913 w 533400"/>
                    <a:gd name="connsiteY19" fmla="*/ 228269 h 400050"/>
                    <a:gd name="connsiteX20" fmla="*/ 153961 w 533400"/>
                    <a:gd name="connsiteY20" fmla="*/ 227316 h 400050"/>
                    <a:gd name="connsiteX21" fmla="*/ 128243 w 533400"/>
                    <a:gd name="connsiteY21" fmla="*/ 228269 h 400050"/>
                    <a:gd name="connsiteX22" fmla="*/ 127290 w 533400"/>
                    <a:gd name="connsiteY22" fmla="*/ 229221 h 400050"/>
                    <a:gd name="connsiteX23" fmla="*/ 19658 w 533400"/>
                    <a:gd name="connsiteY23" fmla="*/ 354951 h 400050"/>
                    <a:gd name="connsiteX24" fmla="*/ 19658 w 533400"/>
                    <a:gd name="connsiteY24" fmla="*/ 361619 h 400050"/>
                    <a:gd name="connsiteX25" fmla="*/ 37755 w 533400"/>
                    <a:gd name="connsiteY25" fmla="*/ 380669 h 400050"/>
                    <a:gd name="connsiteX26" fmla="*/ 38708 w 533400"/>
                    <a:gd name="connsiteY26" fmla="*/ 380669 h 400050"/>
                    <a:gd name="connsiteX27" fmla="*/ 495908 w 533400"/>
                    <a:gd name="connsiteY27" fmla="*/ 380669 h 400050"/>
                    <a:gd name="connsiteX28" fmla="*/ 514958 w 533400"/>
                    <a:gd name="connsiteY28" fmla="*/ 361619 h 400050"/>
                    <a:gd name="connsiteX29" fmla="*/ 514958 w 533400"/>
                    <a:gd name="connsiteY29" fmla="*/ 361619 h 400050"/>
                    <a:gd name="connsiteX30" fmla="*/ 514958 w 533400"/>
                    <a:gd name="connsiteY30" fmla="*/ 337806 h 400050"/>
                    <a:gd name="connsiteX31" fmla="*/ 391133 w 533400"/>
                    <a:gd name="connsiteY31" fmla="*/ 173024 h 400050"/>
                    <a:gd name="connsiteX32" fmla="*/ 387323 w 533400"/>
                    <a:gd name="connsiteY32" fmla="*/ 169214 h 400050"/>
                    <a:gd name="connsiteX33" fmla="*/ 361605 w 533400"/>
                    <a:gd name="connsiteY33" fmla="*/ 172071 h 400050"/>
                    <a:gd name="connsiteX34" fmla="*/ 495908 w 533400"/>
                    <a:gd name="connsiteY34" fmla="*/ 19671 h 400050"/>
                    <a:gd name="connsiteX35" fmla="*/ 38708 w 533400"/>
                    <a:gd name="connsiteY35" fmla="*/ 19671 h 400050"/>
                    <a:gd name="connsiteX36" fmla="*/ 19658 w 533400"/>
                    <a:gd name="connsiteY36" fmla="*/ 38721 h 400050"/>
                    <a:gd name="connsiteX37" fmla="*/ 19658 w 533400"/>
                    <a:gd name="connsiteY37" fmla="*/ 38721 h 400050"/>
                    <a:gd name="connsiteX38" fmla="*/ 19658 w 533400"/>
                    <a:gd name="connsiteY38" fmla="*/ 327329 h 400050"/>
                    <a:gd name="connsiteX39" fmla="*/ 113003 w 533400"/>
                    <a:gd name="connsiteY39" fmla="*/ 217791 h 400050"/>
                    <a:gd name="connsiteX40" fmla="*/ 166343 w 533400"/>
                    <a:gd name="connsiteY40" fmla="*/ 213981 h 400050"/>
                    <a:gd name="connsiteX41" fmla="*/ 167296 w 533400"/>
                    <a:gd name="connsiteY41" fmla="*/ 214934 h 400050"/>
                    <a:gd name="connsiteX42" fmla="*/ 168248 w 533400"/>
                    <a:gd name="connsiteY42" fmla="*/ 215886 h 400050"/>
                    <a:gd name="connsiteX43" fmla="*/ 231113 w 533400"/>
                    <a:gd name="connsiteY43" fmla="*/ 276846 h 400050"/>
                    <a:gd name="connsiteX44" fmla="*/ 257783 w 533400"/>
                    <a:gd name="connsiteY44" fmla="*/ 276846 h 400050"/>
                    <a:gd name="connsiteX45" fmla="*/ 258736 w 533400"/>
                    <a:gd name="connsiteY45" fmla="*/ 275894 h 400050"/>
                    <a:gd name="connsiteX46" fmla="*/ 259688 w 533400"/>
                    <a:gd name="connsiteY46" fmla="*/ 274941 h 400050"/>
                    <a:gd name="connsiteX47" fmla="*/ 345413 w 533400"/>
                    <a:gd name="connsiteY47" fmla="*/ 163499 h 400050"/>
                    <a:gd name="connsiteX48" fmla="*/ 398753 w 533400"/>
                    <a:gd name="connsiteY48" fmla="*/ 156831 h 400050"/>
                    <a:gd name="connsiteX49" fmla="*/ 404468 w 533400"/>
                    <a:gd name="connsiteY49" fmla="*/ 162546 h 400050"/>
                    <a:gd name="connsiteX50" fmla="*/ 406373 w 533400"/>
                    <a:gd name="connsiteY50" fmla="*/ 164451 h 400050"/>
                    <a:gd name="connsiteX51" fmla="*/ 515911 w 533400"/>
                    <a:gd name="connsiteY51" fmla="*/ 309231 h 400050"/>
                    <a:gd name="connsiteX52" fmla="*/ 515911 w 533400"/>
                    <a:gd name="connsiteY52" fmla="*/ 40626 h 400050"/>
                    <a:gd name="connsiteX53" fmla="*/ 497813 w 533400"/>
                    <a:gd name="connsiteY53" fmla="*/ 21576 h 400050"/>
                    <a:gd name="connsiteX54" fmla="*/ 495908 w 533400"/>
                    <a:gd name="connsiteY54" fmla="*/ 19671 h 400050"/>
                    <a:gd name="connsiteX55" fmla="*/ 95858 w 533400"/>
                    <a:gd name="connsiteY55" fmla="*/ 48246 h 400050"/>
                    <a:gd name="connsiteX56" fmla="*/ 143483 w 533400"/>
                    <a:gd name="connsiteY56" fmla="*/ 95871 h 400050"/>
                    <a:gd name="connsiteX57" fmla="*/ 95858 w 533400"/>
                    <a:gd name="connsiteY57" fmla="*/ 143496 h 400050"/>
                    <a:gd name="connsiteX58" fmla="*/ 48233 w 533400"/>
                    <a:gd name="connsiteY58" fmla="*/ 95871 h 400050"/>
                    <a:gd name="connsiteX59" fmla="*/ 95858 w 533400"/>
                    <a:gd name="connsiteY59" fmla="*/ 48246 h 400050"/>
                    <a:gd name="connsiteX60" fmla="*/ 95858 w 533400"/>
                    <a:gd name="connsiteY60" fmla="*/ 67296 h 400050"/>
                    <a:gd name="connsiteX61" fmla="*/ 67283 w 533400"/>
                    <a:gd name="connsiteY61" fmla="*/ 95871 h 400050"/>
                    <a:gd name="connsiteX62" fmla="*/ 95858 w 533400"/>
                    <a:gd name="connsiteY62" fmla="*/ 124446 h 400050"/>
                    <a:gd name="connsiteX63" fmla="*/ 124433 w 533400"/>
                    <a:gd name="connsiteY63" fmla="*/ 95871 h 400050"/>
                    <a:gd name="connsiteX64" fmla="*/ 95858 w 533400"/>
                    <a:gd name="connsiteY64" fmla="*/ 67296 h 4000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533400" h="400050">
                      <a:moveTo>
                        <a:pt x="495908" y="621"/>
                      </a:moveTo>
                      <a:cubicBezTo>
                        <a:pt x="516863" y="621"/>
                        <a:pt x="534008" y="17766"/>
                        <a:pt x="534008" y="38721"/>
                      </a:cubicBezTo>
                      <a:lnTo>
                        <a:pt x="534008" y="38721"/>
                      </a:lnTo>
                      <a:lnTo>
                        <a:pt x="534008" y="362571"/>
                      </a:lnTo>
                      <a:cubicBezTo>
                        <a:pt x="534008" y="383526"/>
                        <a:pt x="516863" y="400671"/>
                        <a:pt x="495908" y="400671"/>
                      </a:cubicBezTo>
                      <a:lnTo>
                        <a:pt x="495908" y="400671"/>
                      </a:lnTo>
                      <a:lnTo>
                        <a:pt x="38708" y="400671"/>
                      </a:lnTo>
                      <a:cubicBezTo>
                        <a:pt x="17753" y="400671"/>
                        <a:pt x="608" y="383526"/>
                        <a:pt x="608" y="362571"/>
                      </a:cubicBezTo>
                      <a:lnTo>
                        <a:pt x="608" y="362571"/>
                      </a:lnTo>
                      <a:lnTo>
                        <a:pt x="608" y="38721"/>
                      </a:lnTo>
                      <a:cubicBezTo>
                        <a:pt x="608" y="17766"/>
                        <a:pt x="17753" y="621"/>
                        <a:pt x="38708" y="621"/>
                      </a:cubicBezTo>
                      <a:lnTo>
                        <a:pt x="38708" y="621"/>
                      </a:lnTo>
                      <a:lnTo>
                        <a:pt x="495908" y="621"/>
                      </a:lnTo>
                      <a:close/>
                      <a:moveTo>
                        <a:pt x="361605" y="172071"/>
                      </a:moveTo>
                      <a:lnTo>
                        <a:pt x="360653" y="173024"/>
                      </a:lnTo>
                      <a:lnTo>
                        <a:pt x="274928" y="284466"/>
                      </a:lnTo>
                      <a:cubicBezTo>
                        <a:pt x="273976" y="285419"/>
                        <a:pt x="273023" y="286371"/>
                        <a:pt x="272071" y="288276"/>
                      </a:cubicBezTo>
                      <a:cubicBezTo>
                        <a:pt x="257783" y="302564"/>
                        <a:pt x="234923" y="303516"/>
                        <a:pt x="219683" y="290181"/>
                      </a:cubicBezTo>
                      <a:lnTo>
                        <a:pt x="217778" y="289229"/>
                      </a:lnTo>
                      <a:lnTo>
                        <a:pt x="154913" y="228269"/>
                      </a:lnTo>
                      <a:cubicBezTo>
                        <a:pt x="154913" y="228269"/>
                        <a:pt x="153961" y="227316"/>
                        <a:pt x="153961" y="227316"/>
                      </a:cubicBezTo>
                      <a:cubicBezTo>
                        <a:pt x="146340" y="220649"/>
                        <a:pt x="134911" y="221601"/>
                        <a:pt x="128243" y="228269"/>
                      </a:cubicBezTo>
                      <a:lnTo>
                        <a:pt x="127290" y="229221"/>
                      </a:lnTo>
                      <a:lnTo>
                        <a:pt x="19658" y="354951"/>
                      </a:lnTo>
                      <a:lnTo>
                        <a:pt x="19658" y="361619"/>
                      </a:lnTo>
                      <a:cubicBezTo>
                        <a:pt x="19658" y="372096"/>
                        <a:pt x="27278" y="379716"/>
                        <a:pt x="37755" y="380669"/>
                      </a:cubicBezTo>
                      <a:lnTo>
                        <a:pt x="38708" y="380669"/>
                      </a:lnTo>
                      <a:lnTo>
                        <a:pt x="495908" y="380669"/>
                      </a:lnTo>
                      <a:cubicBezTo>
                        <a:pt x="506386" y="380669"/>
                        <a:pt x="514958" y="372096"/>
                        <a:pt x="514958" y="361619"/>
                      </a:cubicBezTo>
                      <a:lnTo>
                        <a:pt x="514958" y="361619"/>
                      </a:lnTo>
                      <a:lnTo>
                        <a:pt x="514958" y="337806"/>
                      </a:lnTo>
                      <a:lnTo>
                        <a:pt x="391133" y="173024"/>
                      </a:lnTo>
                      <a:cubicBezTo>
                        <a:pt x="390180" y="172071"/>
                        <a:pt x="389228" y="170166"/>
                        <a:pt x="387323" y="169214"/>
                      </a:cubicBezTo>
                      <a:cubicBezTo>
                        <a:pt x="378751" y="164451"/>
                        <a:pt x="368273" y="165404"/>
                        <a:pt x="361605" y="172071"/>
                      </a:cubicBezTo>
                      <a:close/>
                      <a:moveTo>
                        <a:pt x="495908" y="19671"/>
                      </a:moveTo>
                      <a:lnTo>
                        <a:pt x="38708" y="19671"/>
                      </a:lnTo>
                      <a:cubicBezTo>
                        <a:pt x="28230" y="19671"/>
                        <a:pt x="19658" y="28244"/>
                        <a:pt x="19658" y="38721"/>
                      </a:cubicBezTo>
                      <a:lnTo>
                        <a:pt x="19658" y="38721"/>
                      </a:lnTo>
                      <a:lnTo>
                        <a:pt x="19658" y="327329"/>
                      </a:lnTo>
                      <a:lnTo>
                        <a:pt x="113003" y="217791"/>
                      </a:lnTo>
                      <a:cubicBezTo>
                        <a:pt x="126338" y="201599"/>
                        <a:pt x="151103" y="199694"/>
                        <a:pt x="166343" y="213981"/>
                      </a:cubicBezTo>
                      <a:lnTo>
                        <a:pt x="167296" y="214934"/>
                      </a:lnTo>
                      <a:lnTo>
                        <a:pt x="168248" y="215886"/>
                      </a:lnTo>
                      <a:lnTo>
                        <a:pt x="231113" y="276846"/>
                      </a:lnTo>
                      <a:cubicBezTo>
                        <a:pt x="238733" y="284466"/>
                        <a:pt x="251115" y="284466"/>
                        <a:pt x="257783" y="276846"/>
                      </a:cubicBezTo>
                      <a:lnTo>
                        <a:pt x="258736" y="275894"/>
                      </a:lnTo>
                      <a:lnTo>
                        <a:pt x="259688" y="274941"/>
                      </a:lnTo>
                      <a:lnTo>
                        <a:pt x="345413" y="163499"/>
                      </a:lnTo>
                      <a:cubicBezTo>
                        <a:pt x="357796" y="146354"/>
                        <a:pt x="382561" y="143496"/>
                        <a:pt x="398753" y="156831"/>
                      </a:cubicBezTo>
                      <a:cubicBezTo>
                        <a:pt x="400658" y="158736"/>
                        <a:pt x="402563" y="160641"/>
                        <a:pt x="404468" y="162546"/>
                      </a:cubicBezTo>
                      <a:lnTo>
                        <a:pt x="406373" y="164451"/>
                      </a:lnTo>
                      <a:lnTo>
                        <a:pt x="515911" y="309231"/>
                      </a:lnTo>
                      <a:lnTo>
                        <a:pt x="515911" y="40626"/>
                      </a:lnTo>
                      <a:cubicBezTo>
                        <a:pt x="515911" y="30149"/>
                        <a:pt x="508290" y="22529"/>
                        <a:pt x="497813" y="21576"/>
                      </a:cubicBezTo>
                      <a:lnTo>
                        <a:pt x="495908" y="19671"/>
                      </a:lnTo>
                      <a:close/>
                      <a:moveTo>
                        <a:pt x="95858" y="48246"/>
                      </a:moveTo>
                      <a:cubicBezTo>
                        <a:pt x="122528" y="48246"/>
                        <a:pt x="143483" y="69201"/>
                        <a:pt x="143483" y="95871"/>
                      </a:cubicBezTo>
                      <a:cubicBezTo>
                        <a:pt x="143483" y="122541"/>
                        <a:pt x="122528" y="143496"/>
                        <a:pt x="95858" y="143496"/>
                      </a:cubicBezTo>
                      <a:cubicBezTo>
                        <a:pt x="69188" y="143496"/>
                        <a:pt x="48233" y="122541"/>
                        <a:pt x="48233" y="95871"/>
                      </a:cubicBezTo>
                      <a:cubicBezTo>
                        <a:pt x="48233" y="69201"/>
                        <a:pt x="69188" y="48246"/>
                        <a:pt x="95858" y="48246"/>
                      </a:cubicBezTo>
                      <a:close/>
                      <a:moveTo>
                        <a:pt x="95858" y="67296"/>
                      </a:moveTo>
                      <a:cubicBezTo>
                        <a:pt x="79665" y="67296"/>
                        <a:pt x="67283" y="79679"/>
                        <a:pt x="67283" y="95871"/>
                      </a:cubicBezTo>
                      <a:cubicBezTo>
                        <a:pt x="67283" y="112064"/>
                        <a:pt x="79665" y="124446"/>
                        <a:pt x="95858" y="124446"/>
                      </a:cubicBezTo>
                      <a:cubicBezTo>
                        <a:pt x="112051" y="124446"/>
                        <a:pt x="124433" y="112064"/>
                        <a:pt x="124433" y="95871"/>
                      </a:cubicBezTo>
                      <a:cubicBezTo>
                        <a:pt x="124433" y="79679"/>
                        <a:pt x="112051" y="67296"/>
                        <a:pt x="95858" y="672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A9E6530C-3293-014B-279A-751945AC699B}"/>
                    </a:ext>
                  </a:extLst>
                </p:cNvPr>
                <p:cNvGrpSpPr/>
                <p:nvPr/>
              </p:nvGrpSpPr>
              <p:grpSpPr>
                <a:xfrm>
                  <a:off x="8176211" y="4573498"/>
                  <a:ext cx="2375086" cy="1083091"/>
                  <a:chOff x="1422215" y="4588012"/>
                  <a:chExt cx="2375086" cy="1083091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404BEC2E-C85F-0170-7413-E0524E6C9D31}"/>
                      </a:ext>
                    </a:extLst>
                  </p:cNvPr>
                  <p:cNvSpPr/>
                  <p:nvPr/>
                </p:nvSpPr>
                <p:spPr>
                  <a:xfrm>
                    <a:off x="1422215" y="4933080"/>
                    <a:ext cx="2375086" cy="7380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b="0" i="0">
                        <a:solidFill>
                          <a:srgbClr val="FFFFFF"/>
                        </a:solidFill>
                        <a:effectLst/>
                      </a:rPr>
                      <a:t>通过培训和沟通，将公司价值观传递给每位员工，形成共同的价值观意识。</a:t>
                    </a:r>
                    <a:endParaRPr kumimoji="1" lang="en-US" altLang="zh-CN" sz="100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E1028996-67F1-BC76-2C9D-A2161F67AD4C}"/>
                      </a:ext>
                    </a:extLst>
                  </p:cNvPr>
                  <p:cNvSpPr/>
                  <p:nvPr/>
                </p:nvSpPr>
                <p:spPr>
                  <a:xfrm>
                    <a:off x="1422215" y="4588012"/>
                    <a:ext cx="2375086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>
                        <a:solidFill>
                          <a:srgbClr val="FFFFFF"/>
                        </a:solidFill>
                      </a:rPr>
                      <a:t>价值观的传播</a:t>
                    </a:r>
                  </a:p>
                </p:txBody>
              </p:sp>
            </p:grp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140B0CD-B8FD-926F-BD8E-3E2189DFB8E6}"/>
                  </a:ext>
                </a:extLst>
              </p:cNvPr>
              <p:cNvGrpSpPr/>
              <p:nvPr/>
            </p:nvGrpSpPr>
            <p:grpSpPr>
              <a:xfrm>
                <a:off x="4663621" y="2996404"/>
                <a:ext cx="2699657" cy="2861582"/>
                <a:chOff x="4663621" y="2996404"/>
                <a:chExt cx="2699657" cy="2861582"/>
              </a:xfrm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2D98DAA-7F8B-AF71-5A77-1415AE12440B}"/>
                    </a:ext>
                  </a:extLst>
                </p:cNvPr>
                <p:cNvSpPr/>
                <p:nvPr/>
              </p:nvSpPr>
              <p:spPr>
                <a:xfrm flipH="1">
                  <a:off x="4663621" y="2996404"/>
                  <a:ext cx="2699657" cy="2861582"/>
                </a:xfrm>
                <a:custGeom>
                  <a:gdLst>
                    <a:gd name="connsiteX0" fmla="*/ 425401 w 2699657"/>
                    <a:gd name="connsiteY0" fmla="*/ 0 h 2861582"/>
                    <a:gd name="connsiteX1" fmla="*/ 519317 w 2699657"/>
                    <a:gd name="connsiteY1" fmla="*/ 161925 h 2861582"/>
                    <a:gd name="connsiteX2" fmla="*/ 2612566 w 2699657"/>
                    <a:gd name="connsiteY2" fmla="*/ 161925 h 2861582"/>
                    <a:gd name="connsiteX3" fmla="*/ 2699657 w 2699657"/>
                    <a:gd name="connsiteY3" fmla="*/ 249016 h 2861582"/>
                    <a:gd name="connsiteX4" fmla="*/ 2699657 w 2699657"/>
                    <a:gd name="connsiteY4" fmla="*/ 2774491 h 2861582"/>
                    <a:gd name="connsiteX5" fmla="*/ 2612566 w 2699657"/>
                    <a:gd name="connsiteY5" fmla="*/ 2861582 h 2861582"/>
                    <a:gd name="connsiteX6" fmla="*/ 87091 w 2699657"/>
                    <a:gd name="connsiteY6" fmla="*/ 2861582 h 2861582"/>
                    <a:gd name="connsiteX7" fmla="*/ 0 w 2699657"/>
                    <a:gd name="connsiteY7" fmla="*/ 2774491 h 2861582"/>
                    <a:gd name="connsiteX8" fmla="*/ 0 w 2699657"/>
                    <a:gd name="connsiteY8" fmla="*/ 249016 h 2861582"/>
                    <a:gd name="connsiteX9" fmla="*/ 87091 w 2699657"/>
                    <a:gd name="connsiteY9" fmla="*/ 161925 h 2861582"/>
                    <a:gd name="connsiteX10" fmla="*/ 331484 w 2699657"/>
                    <a:gd name="connsiteY10" fmla="*/ 161925 h 2861582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699657" h="2861582">
                      <a:moveTo>
                        <a:pt x="425401" y="0"/>
                      </a:moveTo>
                      <a:lnTo>
                        <a:pt x="519317" y="161925"/>
                      </a:lnTo>
                      <a:lnTo>
                        <a:pt x="2612566" y="161925"/>
                      </a:lnTo>
                      <a:cubicBezTo>
                        <a:pt x="2660665" y="161925"/>
                        <a:pt x="2699657" y="200917"/>
                        <a:pt x="2699657" y="249016"/>
                      </a:cubicBezTo>
                      <a:lnTo>
                        <a:pt x="2699657" y="2774491"/>
                      </a:lnTo>
                      <a:cubicBezTo>
                        <a:pt x="2699657" y="2822590"/>
                        <a:pt x="2660665" y="2861582"/>
                        <a:pt x="2612566" y="2861582"/>
                      </a:cubicBezTo>
                      <a:lnTo>
                        <a:pt x="87091" y="2861582"/>
                      </a:lnTo>
                      <a:cubicBezTo>
                        <a:pt x="38992" y="2861582"/>
                        <a:pt x="0" y="2822590"/>
                        <a:pt x="0" y="2774491"/>
                      </a:cubicBezTo>
                      <a:lnTo>
                        <a:pt x="0" y="249016"/>
                      </a:lnTo>
                      <a:cubicBezTo>
                        <a:pt x="0" y="200917"/>
                        <a:pt x="38992" y="161925"/>
                        <a:pt x="87091" y="161925"/>
                      </a:cubicBezTo>
                      <a:lnTo>
                        <a:pt x="331484" y="161925"/>
                      </a:lnTo>
                      <a:close/>
                    </a:path>
                  </a:pathLst>
                </a:custGeom>
                <a:solidFill>
                  <a:schemeClr val="tx2">
                    <a:alpha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BE3FBBC1-433A-2948-6EB5-804005C427C9}"/>
                    </a:ext>
                  </a:extLst>
                </p:cNvPr>
                <p:cNvSpPr/>
                <p:nvPr/>
              </p:nvSpPr>
              <p:spPr>
                <a:xfrm>
                  <a:off x="4924084" y="3961954"/>
                  <a:ext cx="401981" cy="432903"/>
                </a:xfrm>
                <a:custGeom>
                  <a:gdLst>
                    <a:gd name="connsiteX0" fmla="*/ 362430 w 495300"/>
                    <a:gd name="connsiteY0" fmla="*/ 621 h 533400"/>
                    <a:gd name="connsiteX1" fmla="*/ 400530 w 495300"/>
                    <a:gd name="connsiteY1" fmla="*/ 38721 h 533400"/>
                    <a:gd name="connsiteX2" fmla="*/ 400530 w 495300"/>
                    <a:gd name="connsiteY2" fmla="*/ 38721 h 533400"/>
                    <a:gd name="connsiteX3" fmla="*/ 400530 w 495300"/>
                    <a:gd name="connsiteY3" fmla="*/ 124446 h 533400"/>
                    <a:gd name="connsiteX4" fmla="*/ 362430 w 495300"/>
                    <a:gd name="connsiteY4" fmla="*/ 162546 h 533400"/>
                    <a:gd name="connsiteX5" fmla="*/ 362430 w 495300"/>
                    <a:gd name="connsiteY5" fmla="*/ 162546 h 533400"/>
                    <a:gd name="connsiteX6" fmla="*/ 257655 w 495300"/>
                    <a:gd name="connsiteY6" fmla="*/ 162546 h 533400"/>
                    <a:gd name="connsiteX7" fmla="*/ 257655 w 495300"/>
                    <a:gd name="connsiteY7" fmla="*/ 295896 h 533400"/>
                    <a:gd name="connsiteX8" fmla="*/ 419580 w 495300"/>
                    <a:gd name="connsiteY8" fmla="*/ 295896 h 533400"/>
                    <a:gd name="connsiteX9" fmla="*/ 457680 w 495300"/>
                    <a:gd name="connsiteY9" fmla="*/ 332091 h 533400"/>
                    <a:gd name="connsiteX10" fmla="*/ 457680 w 495300"/>
                    <a:gd name="connsiteY10" fmla="*/ 333996 h 533400"/>
                    <a:gd name="connsiteX11" fmla="*/ 457680 w 495300"/>
                    <a:gd name="connsiteY11" fmla="*/ 438771 h 533400"/>
                    <a:gd name="connsiteX12" fmla="*/ 467205 w 495300"/>
                    <a:gd name="connsiteY12" fmla="*/ 438771 h 533400"/>
                    <a:gd name="connsiteX13" fmla="*/ 495780 w 495300"/>
                    <a:gd name="connsiteY13" fmla="*/ 465441 h 533400"/>
                    <a:gd name="connsiteX14" fmla="*/ 495780 w 495300"/>
                    <a:gd name="connsiteY14" fmla="*/ 467346 h 533400"/>
                    <a:gd name="connsiteX15" fmla="*/ 495780 w 495300"/>
                    <a:gd name="connsiteY15" fmla="*/ 505446 h 533400"/>
                    <a:gd name="connsiteX16" fmla="*/ 467205 w 495300"/>
                    <a:gd name="connsiteY16" fmla="*/ 534021 h 533400"/>
                    <a:gd name="connsiteX17" fmla="*/ 467205 w 495300"/>
                    <a:gd name="connsiteY17" fmla="*/ 534021 h 533400"/>
                    <a:gd name="connsiteX18" fmla="*/ 429105 w 495300"/>
                    <a:gd name="connsiteY18" fmla="*/ 534021 h 533400"/>
                    <a:gd name="connsiteX19" fmla="*/ 400530 w 495300"/>
                    <a:gd name="connsiteY19" fmla="*/ 505446 h 533400"/>
                    <a:gd name="connsiteX20" fmla="*/ 400530 w 495300"/>
                    <a:gd name="connsiteY20" fmla="*/ 505446 h 533400"/>
                    <a:gd name="connsiteX21" fmla="*/ 400530 w 495300"/>
                    <a:gd name="connsiteY21" fmla="*/ 467346 h 533400"/>
                    <a:gd name="connsiteX22" fmla="*/ 429105 w 495300"/>
                    <a:gd name="connsiteY22" fmla="*/ 438771 h 533400"/>
                    <a:gd name="connsiteX23" fmla="*/ 429105 w 495300"/>
                    <a:gd name="connsiteY23" fmla="*/ 438771 h 533400"/>
                    <a:gd name="connsiteX24" fmla="*/ 438630 w 495300"/>
                    <a:gd name="connsiteY24" fmla="*/ 438771 h 533400"/>
                    <a:gd name="connsiteX25" fmla="*/ 438630 w 495300"/>
                    <a:gd name="connsiteY25" fmla="*/ 333996 h 533400"/>
                    <a:gd name="connsiteX26" fmla="*/ 420533 w 495300"/>
                    <a:gd name="connsiteY26" fmla="*/ 314946 h 533400"/>
                    <a:gd name="connsiteX27" fmla="*/ 419580 w 495300"/>
                    <a:gd name="connsiteY27" fmla="*/ 314946 h 533400"/>
                    <a:gd name="connsiteX28" fmla="*/ 257655 w 495300"/>
                    <a:gd name="connsiteY28" fmla="*/ 314946 h 533400"/>
                    <a:gd name="connsiteX29" fmla="*/ 257655 w 495300"/>
                    <a:gd name="connsiteY29" fmla="*/ 438771 h 533400"/>
                    <a:gd name="connsiteX30" fmla="*/ 267180 w 495300"/>
                    <a:gd name="connsiteY30" fmla="*/ 438771 h 533400"/>
                    <a:gd name="connsiteX31" fmla="*/ 295755 w 495300"/>
                    <a:gd name="connsiteY31" fmla="*/ 465441 h 533400"/>
                    <a:gd name="connsiteX32" fmla="*/ 295755 w 495300"/>
                    <a:gd name="connsiteY32" fmla="*/ 467346 h 533400"/>
                    <a:gd name="connsiteX33" fmla="*/ 295755 w 495300"/>
                    <a:gd name="connsiteY33" fmla="*/ 505446 h 533400"/>
                    <a:gd name="connsiteX34" fmla="*/ 267180 w 495300"/>
                    <a:gd name="connsiteY34" fmla="*/ 534021 h 533400"/>
                    <a:gd name="connsiteX35" fmla="*/ 267180 w 495300"/>
                    <a:gd name="connsiteY35" fmla="*/ 534021 h 533400"/>
                    <a:gd name="connsiteX36" fmla="*/ 229080 w 495300"/>
                    <a:gd name="connsiteY36" fmla="*/ 534021 h 533400"/>
                    <a:gd name="connsiteX37" fmla="*/ 200505 w 495300"/>
                    <a:gd name="connsiteY37" fmla="*/ 505446 h 533400"/>
                    <a:gd name="connsiteX38" fmla="*/ 200505 w 495300"/>
                    <a:gd name="connsiteY38" fmla="*/ 505446 h 533400"/>
                    <a:gd name="connsiteX39" fmla="*/ 200505 w 495300"/>
                    <a:gd name="connsiteY39" fmla="*/ 467346 h 533400"/>
                    <a:gd name="connsiteX40" fmla="*/ 229080 w 495300"/>
                    <a:gd name="connsiteY40" fmla="*/ 438771 h 533400"/>
                    <a:gd name="connsiteX41" fmla="*/ 229080 w 495300"/>
                    <a:gd name="connsiteY41" fmla="*/ 438771 h 533400"/>
                    <a:gd name="connsiteX42" fmla="*/ 238605 w 495300"/>
                    <a:gd name="connsiteY42" fmla="*/ 438771 h 533400"/>
                    <a:gd name="connsiteX43" fmla="*/ 238605 w 495300"/>
                    <a:gd name="connsiteY43" fmla="*/ 314946 h 533400"/>
                    <a:gd name="connsiteX44" fmla="*/ 76680 w 495300"/>
                    <a:gd name="connsiteY44" fmla="*/ 314946 h 533400"/>
                    <a:gd name="connsiteX45" fmla="*/ 57630 w 495300"/>
                    <a:gd name="connsiteY45" fmla="*/ 333044 h 533400"/>
                    <a:gd name="connsiteX46" fmla="*/ 57630 w 495300"/>
                    <a:gd name="connsiteY46" fmla="*/ 333996 h 533400"/>
                    <a:gd name="connsiteX47" fmla="*/ 57630 w 495300"/>
                    <a:gd name="connsiteY47" fmla="*/ 438771 h 533400"/>
                    <a:gd name="connsiteX48" fmla="*/ 67155 w 495300"/>
                    <a:gd name="connsiteY48" fmla="*/ 438771 h 533400"/>
                    <a:gd name="connsiteX49" fmla="*/ 95730 w 495300"/>
                    <a:gd name="connsiteY49" fmla="*/ 465441 h 533400"/>
                    <a:gd name="connsiteX50" fmla="*/ 95730 w 495300"/>
                    <a:gd name="connsiteY50" fmla="*/ 467346 h 533400"/>
                    <a:gd name="connsiteX51" fmla="*/ 95730 w 495300"/>
                    <a:gd name="connsiteY51" fmla="*/ 505446 h 533400"/>
                    <a:gd name="connsiteX52" fmla="*/ 67155 w 495300"/>
                    <a:gd name="connsiteY52" fmla="*/ 534021 h 533400"/>
                    <a:gd name="connsiteX53" fmla="*/ 67155 w 495300"/>
                    <a:gd name="connsiteY53" fmla="*/ 534021 h 533400"/>
                    <a:gd name="connsiteX54" fmla="*/ 29055 w 495300"/>
                    <a:gd name="connsiteY54" fmla="*/ 534021 h 533400"/>
                    <a:gd name="connsiteX55" fmla="*/ 480 w 495300"/>
                    <a:gd name="connsiteY55" fmla="*/ 505446 h 533400"/>
                    <a:gd name="connsiteX56" fmla="*/ 480 w 495300"/>
                    <a:gd name="connsiteY56" fmla="*/ 505446 h 533400"/>
                    <a:gd name="connsiteX57" fmla="*/ 480 w 495300"/>
                    <a:gd name="connsiteY57" fmla="*/ 467346 h 533400"/>
                    <a:gd name="connsiteX58" fmla="*/ 29055 w 495300"/>
                    <a:gd name="connsiteY58" fmla="*/ 438771 h 533400"/>
                    <a:gd name="connsiteX59" fmla="*/ 29055 w 495300"/>
                    <a:gd name="connsiteY59" fmla="*/ 438771 h 533400"/>
                    <a:gd name="connsiteX60" fmla="*/ 38580 w 495300"/>
                    <a:gd name="connsiteY60" fmla="*/ 438771 h 533400"/>
                    <a:gd name="connsiteX61" fmla="*/ 38580 w 495300"/>
                    <a:gd name="connsiteY61" fmla="*/ 333996 h 533400"/>
                    <a:gd name="connsiteX62" fmla="*/ 74775 w 495300"/>
                    <a:gd name="connsiteY62" fmla="*/ 295896 h 533400"/>
                    <a:gd name="connsiteX63" fmla="*/ 76680 w 495300"/>
                    <a:gd name="connsiteY63" fmla="*/ 295896 h 533400"/>
                    <a:gd name="connsiteX64" fmla="*/ 238605 w 495300"/>
                    <a:gd name="connsiteY64" fmla="*/ 295896 h 533400"/>
                    <a:gd name="connsiteX65" fmla="*/ 238605 w 495300"/>
                    <a:gd name="connsiteY65" fmla="*/ 162546 h 533400"/>
                    <a:gd name="connsiteX66" fmla="*/ 133830 w 495300"/>
                    <a:gd name="connsiteY66" fmla="*/ 162546 h 533400"/>
                    <a:gd name="connsiteX67" fmla="*/ 95730 w 495300"/>
                    <a:gd name="connsiteY67" fmla="*/ 126351 h 533400"/>
                    <a:gd name="connsiteX68" fmla="*/ 95730 w 495300"/>
                    <a:gd name="connsiteY68" fmla="*/ 124446 h 533400"/>
                    <a:gd name="connsiteX69" fmla="*/ 95730 w 495300"/>
                    <a:gd name="connsiteY69" fmla="*/ 38721 h 533400"/>
                    <a:gd name="connsiteX70" fmla="*/ 133830 w 495300"/>
                    <a:gd name="connsiteY70" fmla="*/ 621 h 533400"/>
                    <a:gd name="connsiteX71" fmla="*/ 133830 w 495300"/>
                    <a:gd name="connsiteY71" fmla="*/ 621 h 533400"/>
                    <a:gd name="connsiteX72" fmla="*/ 362430 w 495300"/>
                    <a:gd name="connsiteY72" fmla="*/ 621 h 533400"/>
                    <a:gd name="connsiteX73" fmla="*/ 67155 w 495300"/>
                    <a:gd name="connsiteY73" fmla="*/ 457821 h 533400"/>
                    <a:gd name="connsiteX74" fmla="*/ 29055 w 495300"/>
                    <a:gd name="connsiteY74" fmla="*/ 457821 h 533400"/>
                    <a:gd name="connsiteX75" fmla="*/ 19530 w 495300"/>
                    <a:gd name="connsiteY75" fmla="*/ 467346 h 533400"/>
                    <a:gd name="connsiteX76" fmla="*/ 19530 w 495300"/>
                    <a:gd name="connsiteY76" fmla="*/ 467346 h 533400"/>
                    <a:gd name="connsiteX77" fmla="*/ 19530 w 495300"/>
                    <a:gd name="connsiteY77" fmla="*/ 505446 h 533400"/>
                    <a:gd name="connsiteX78" fmla="*/ 29055 w 495300"/>
                    <a:gd name="connsiteY78" fmla="*/ 514971 h 533400"/>
                    <a:gd name="connsiteX79" fmla="*/ 29055 w 495300"/>
                    <a:gd name="connsiteY79" fmla="*/ 514971 h 533400"/>
                    <a:gd name="connsiteX80" fmla="*/ 67155 w 495300"/>
                    <a:gd name="connsiteY80" fmla="*/ 514971 h 533400"/>
                    <a:gd name="connsiteX81" fmla="*/ 76680 w 495300"/>
                    <a:gd name="connsiteY81" fmla="*/ 505446 h 533400"/>
                    <a:gd name="connsiteX82" fmla="*/ 76680 w 495300"/>
                    <a:gd name="connsiteY82" fmla="*/ 505446 h 533400"/>
                    <a:gd name="connsiteX83" fmla="*/ 76680 w 495300"/>
                    <a:gd name="connsiteY83" fmla="*/ 467346 h 533400"/>
                    <a:gd name="connsiteX84" fmla="*/ 67155 w 495300"/>
                    <a:gd name="connsiteY84" fmla="*/ 457821 h 533400"/>
                    <a:gd name="connsiteX85" fmla="*/ 67155 w 495300"/>
                    <a:gd name="connsiteY85" fmla="*/ 457821 h 533400"/>
                    <a:gd name="connsiteX86" fmla="*/ 267180 w 495300"/>
                    <a:gd name="connsiteY86" fmla="*/ 457821 h 533400"/>
                    <a:gd name="connsiteX87" fmla="*/ 229080 w 495300"/>
                    <a:gd name="connsiteY87" fmla="*/ 457821 h 533400"/>
                    <a:gd name="connsiteX88" fmla="*/ 219555 w 495300"/>
                    <a:gd name="connsiteY88" fmla="*/ 467346 h 533400"/>
                    <a:gd name="connsiteX89" fmla="*/ 219555 w 495300"/>
                    <a:gd name="connsiteY89" fmla="*/ 467346 h 533400"/>
                    <a:gd name="connsiteX90" fmla="*/ 219555 w 495300"/>
                    <a:gd name="connsiteY90" fmla="*/ 505446 h 533400"/>
                    <a:gd name="connsiteX91" fmla="*/ 229080 w 495300"/>
                    <a:gd name="connsiteY91" fmla="*/ 514971 h 533400"/>
                    <a:gd name="connsiteX92" fmla="*/ 229080 w 495300"/>
                    <a:gd name="connsiteY92" fmla="*/ 514971 h 533400"/>
                    <a:gd name="connsiteX93" fmla="*/ 267180 w 495300"/>
                    <a:gd name="connsiteY93" fmla="*/ 514971 h 533400"/>
                    <a:gd name="connsiteX94" fmla="*/ 276705 w 495300"/>
                    <a:gd name="connsiteY94" fmla="*/ 505446 h 533400"/>
                    <a:gd name="connsiteX95" fmla="*/ 276705 w 495300"/>
                    <a:gd name="connsiteY95" fmla="*/ 505446 h 533400"/>
                    <a:gd name="connsiteX96" fmla="*/ 276705 w 495300"/>
                    <a:gd name="connsiteY96" fmla="*/ 467346 h 533400"/>
                    <a:gd name="connsiteX97" fmla="*/ 267180 w 495300"/>
                    <a:gd name="connsiteY97" fmla="*/ 457821 h 533400"/>
                    <a:gd name="connsiteX98" fmla="*/ 267180 w 495300"/>
                    <a:gd name="connsiteY98" fmla="*/ 457821 h 533400"/>
                    <a:gd name="connsiteX99" fmla="*/ 467205 w 495300"/>
                    <a:gd name="connsiteY99" fmla="*/ 457821 h 533400"/>
                    <a:gd name="connsiteX100" fmla="*/ 429105 w 495300"/>
                    <a:gd name="connsiteY100" fmla="*/ 457821 h 533400"/>
                    <a:gd name="connsiteX101" fmla="*/ 419580 w 495300"/>
                    <a:gd name="connsiteY101" fmla="*/ 467346 h 533400"/>
                    <a:gd name="connsiteX102" fmla="*/ 419580 w 495300"/>
                    <a:gd name="connsiteY102" fmla="*/ 467346 h 533400"/>
                    <a:gd name="connsiteX103" fmla="*/ 419580 w 495300"/>
                    <a:gd name="connsiteY103" fmla="*/ 505446 h 533400"/>
                    <a:gd name="connsiteX104" fmla="*/ 429105 w 495300"/>
                    <a:gd name="connsiteY104" fmla="*/ 514971 h 533400"/>
                    <a:gd name="connsiteX105" fmla="*/ 429105 w 495300"/>
                    <a:gd name="connsiteY105" fmla="*/ 514971 h 533400"/>
                    <a:gd name="connsiteX106" fmla="*/ 467205 w 495300"/>
                    <a:gd name="connsiteY106" fmla="*/ 514971 h 533400"/>
                    <a:gd name="connsiteX107" fmla="*/ 476730 w 495300"/>
                    <a:gd name="connsiteY107" fmla="*/ 505446 h 533400"/>
                    <a:gd name="connsiteX108" fmla="*/ 476730 w 495300"/>
                    <a:gd name="connsiteY108" fmla="*/ 505446 h 533400"/>
                    <a:gd name="connsiteX109" fmla="*/ 476730 w 495300"/>
                    <a:gd name="connsiteY109" fmla="*/ 467346 h 533400"/>
                    <a:gd name="connsiteX110" fmla="*/ 467205 w 495300"/>
                    <a:gd name="connsiteY110" fmla="*/ 457821 h 533400"/>
                    <a:gd name="connsiteX111" fmla="*/ 467205 w 495300"/>
                    <a:gd name="connsiteY111" fmla="*/ 457821 h 533400"/>
                    <a:gd name="connsiteX112" fmla="*/ 362430 w 495300"/>
                    <a:gd name="connsiteY112" fmla="*/ 19671 h 533400"/>
                    <a:gd name="connsiteX113" fmla="*/ 133830 w 495300"/>
                    <a:gd name="connsiteY113" fmla="*/ 19671 h 533400"/>
                    <a:gd name="connsiteX114" fmla="*/ 114780 w 495300"/>
                    <a:gd name="connsiteY114" fmla="*/ 38721 h 533400"/>
                    <a:gd name="connsiteX115" fmla="*/ 114780 w 495300"/>
                    <a:gd name="connsiteY115" fmla="*/ 38721 h 533400"/>
                    <a:gd name="connsiteX116" fmla="*/ 114780 w 495300"/>
                    <a:gd name="connsiteY116" fmla="*/ 124446 h 533400"/>
                    <a:gd name="connsiteX117" fmla="*/ 133830 w 495300"/>
                    <a:gd name="connsiteY117" fmla="*/ 143496 h 533400"/>
                    <a:gd name="connsiteX118" fmla="*/ 133830 w 495300"/>
                    <a:gd name="connsiteY118" fmla="*/ 143496 h 533400"/>
                    <a:gd name="connsiteX119" fmla="*/ 362430 w 495300"/>
                    <a:gd name="connsiteY119" fmla="*/ 143496 h 533400"/>
                    <a:gd name="connsiteX120" fmla="*/ 381480 w 495300"/>
                    <a:gd name="connsiteY120" fmla="*/ 124446 h 533400"/>
                    <a:gd name="connsiteX121" fmla="*/ 381480 w 495300"/>
                    <a:gd name="connsiteY121" fmla="*/ 124446 h 533400"/>
                    <a:gd name="connsiteX122" fmla="*/ 381480 w 495300"/>
                    <a:gd name="connsiteY122" fmla="*/ 38721 h 533400"/>
                    <a:gd name="connsiteX123" fmla="*/ 362430 w 495300"/>
                    <a:gd name="connsiteY123" fmla="*/ 19671 h 533400"/>
                    <a:gd name="connsiteX124" fmla="*/ 362430 w 495300"/>
                    <a:gd name="connsiteY124" fmla="*/ 19671 h 533400"/>
                    <a:gd name="connsiteX125" fmla="*/ 157643 w 495300"/>
                    <a:gd name="connsiteY125" fmla="*/ 86346 h 533400"/>
                    <a:gd name="connsiteX126" fmla="*/ 171930 w 495300"/>
                    <a:gd name="connsiteY126" fmla="*/ 100634 h 533400"/>
                    <a:gd name="connsiteX127" fmla="*/ 157643 w 495300"/>
                    <a:gd name="connsiteY127" fmla="*/ 114921 h 533400"/>
                    <a:gd name="connsiteX128" fmla="*/ 143355 w 495300"/>
                    <a:gd name="connsiteY128" fmla="*/ 100634 h 533400"/>
                    <a:gd name="connsiteX129" fmla="*/ 157643 w 495300"/>
                    <a:gd name="connsiteY129" fmla="*/ 86346 h 53340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</a:cxnLst>
                  <a:rect l="l" t="t" r="r" b="b"/>
                  <a:pathLst>
                    <a:path w="495300" h="533400">
                      <a:moveTo>
                        <a:pt x="362430" y="621"/>
                      </a:moveTo>
                      <a:cubicBezTo>
                        <a:pt x="383385" y="621"/>
                        <a:pt x="400530" y="17766"/>
                        <a:pt x="400530" y="38721"/>
                      </a:cubicBezTo>
                      <a:lnTo>
                        <a:pt x="400530" y="38721"/>
                      </a:lnTo>
                      <a:lnTo>
                        <a:pt x="400530" y="124446"/>
                      </a:lnTo>
                      <a:cubicBezTo>
                        <a:pt x="400530" y="145401"/>
                        <a:pt x="383385" y="162546"/>
                        <a:pt x="362430" y="162546"/>
                      </a:cubicBezTo>
                      <a:lnTo>
                        <a:pt x="362430" y="162546"/>
                      </a:lnTo>
                      <a:lnTo>
                        <a:pt x="257655" y="162546"/>
                      </a:lnTo>
                      <a:lnTo>
                        <a:pt x="257655" y="295896"/>
                      </a:lnTo>
                      <a:lnTo>
                        <a:pt x="419580" y="295896"/>
                      </a:lnTo>
                      <a:cubicBezTo>
                        <a:pt x="439583" y="295896"/>
                        <a:pt x="456727" y="312089"/>
                        <a:pt x="457680" y="332091"/>
                      </a:cubicBezTo>
                      <a:lnTo>
                        <a:pt x="457680" y="333996"/>
                      </a:lnTo>
                      <a:lnTo>
                        <a:pt x="457680" y="438771"/>
                      </a:lnTo>
                      <a:lnTo>
                        <a:pt x="467205" y="438771"/>
                      </a:lnTo>
                      <a:cubicBezTo>
                        <a:pt x="482445" y="438771"/>
                        <a:pt x="494827" y="450201"/>
                        <a:pt x="495780" y="465441"/>
                      </a:cubicBezTo>
                      <a:lnTo>
                        <a:pt x="495780" y="467346"/>
                      </a:lnTo>
                      <a:lnTo>
                        <a:pt x="495780" y="505446"/>
                      </a:lnTo>
                      <a:cubicBezTo>
                        <a:pt x="495780" y="521639"/>
                        <a:pt x="483398" y="534021"/>
                        <a:pt x="467205" y="534021"/>
                      </a:cubicBezTo>
                      <a:lnTo>
                        <a:pt x="467205" y="534021"/>
                      </a:lnTo>
                      <a:lnTo>
                        <a:pt x="429105" y="534021"/>
                      </a:lnTo>
                      <a:cubicBezTo>
                        <a:pt x="412912" y="534021"/>
                        <a:pt x="400530" y="521639"/>
                        <a:pt x="400530" y="505446"/>
                      </a:cubicBezTo>
                      <a:lnTo>
                        <a:pt x="400530" y="505446"/>
                      </a:lnTo>
                      <a:lnTo>
                        <a:pt x="400530" y="467346"/>
                      </a:lnTo>
                      <a:cubicBezTo>
                        <a:pt x="400530" y="451154"/>
                        <a:pt x="412912" y="438771"/>
                        <a:pt x="429105" y="438771"/>
                      </a:cubicBezTo>
                      <a:lnTo>
                        <a:pt x="429105" y="438771"/>
                      </a:lnTo>
                      <a:lnTo>
                        <a:pt x="438630" y="438771"/>
                      </a:lnTo>
                      <a:lnTo>
                        <a:pt x="438630" y="333996"/>
                      </a:lnTo>
                      <a:cubicBezTo>
                        <a:pt x="438630" y="323519"/>
                        <a:pt x="431010" y="315899"/>
                        <a:pt x="420533" y="314946"/>
                      </a:cubicBezTo>
                      <a:lnTo>
                        <a:pt x="419580" y="314946"/>
                      </a:lnTo>
                      <a:lnTo>
                        <a:pt x="257655" y="314946"/>
                      </a:lnTo>
                      <a:lnTo>
                        <a:pt x="257655" y="438771"/>
                      </a:lnTo>
                      <a:lnTo>
                        <a:pt x="267180" y="438771"/>
                      </a:lnTo>
                      <a:cubicBezTo>
                        <a:pt x="282420" y="438771"/>
                        <a:pt x="294802" y="450201"/>
                        <a:pt x="295755" y="465441"/>
                      </a:cubicBezTo>
                      <a:lnTo>
                        <a:pt x="295755" y="467346"/>
                      </a:lnTo>
                      <a:lnTo>
                        <a:pt x="295755" y="505446"/>
                      </a:lnTo>
                      <a:cubicBezTo>
                        <a:pt x="295755" y="521639"/>
                        <a:pt x="283373" y="534021"/>
                        <a:pt x="267180" y="534021"/>
                      </a:cubicBezTo>
                      <a:lnTo>
                        <a:pt x="267180" y="534021"/>
                      </a:lnTo>
                      <a:lnTo>
                        <a:pt x="229080" y="534021"/>
                      </a:lnTo>
                      <a:cubicBezTo>
                        <a:pt x="212887" y="534021"/>
                        <a:pt x="200505" y="521639"/>
                        <a:pt x="200505" y="505446"/>
                      </a:cubicBezTo>
                      <a:lnTo>
                        <a:pt x="200505" y="505446"/>
                      </a:lnTo>
                      <a:lnTo>
                        <a:pt x="200505" y="467346"/>
                      </a:lnTo>
                      <a:cubicBezTo>
                        <a:pt x="200505" y="451154"/>
                        <a:pt x="212887" y="438771"/>
                        <a:pt x="229080" y="438771"/>
                      </a:cubicBezTo>
                      <a:lnTo>
                        <a:pt x="229080" y="438771"/>
                      </a:lnTo>
                      <a:lnTo>
                        <a:pt x="238605" y="438771"/>
                      </a:lnTo>
                      <a:lnTo>
                        <a:pt x="238605" y="314946"/>
                      </a:lnTo>
                      <a:lnTo>
                        <a:pt x="76680" y="314946"/>
                      </a:lnTo>
                      <a:cubicBezTo>
                        <a:pt x="66202" y="314946"/>
                        <a:pt x="58583" y="322566"/>
                        <a:pt x="57630" y="333044"/>
                      </a:cubicBezTo>
                      <a:lnTo>
                        <a:pt x="57630" y="333996"/>
                      </a:lnTo>
                      <a:lnTo>
                        <a:pt x="57630" y="438771"/>
                      </a:lnTo>
                      <a:lnTo>
                        <a:pt x="67155" y="438771"/>
                      </a:lnTo>
                      <a:cubicBezTo>
                        <a:pt x="82395" y="438771"/>
                        <a:pt x="94777" y="450201"/>
                        <a:pt x="95730" y="465441"/>
                      </a:cubicBezTo>
                      <a:lnTo>
                        <a:pt x="95730" y="467346"/>
                      </a:lnTo>
                      <a:lnTo>
                        <a:pt x="95730" y="505446"/>
                      </a:lnTo>
                      <a:cubicBezTo>
                        <a:pt x="95730" y="521639"/>
                        <a:pt x="83348" y="534021"/>
                        <a:pt x="67155" y="534021"/>
                      </a:cubicBezTo>
                      <a:lnTo>
                        <a:pt x="67155" y="534021"/>
                      </a:lnTo>
                      <a:lnTo>
                        <a:pt x="29055" y="534021"/>
                      </a:lnTo>
                      <a:cubicBezTo>
                        <a:pt x="12862" y="534021"/>
                        <a:pt x="480" y="521639"/>
                        <a:pt x="480" y="505446"/>
                      </a:cubicBezTo>
                      <a:lnTo>
                        <a:pt x="480" y="505446"/>
                      </a:lnTo>
                      <a:lnTo>
                        <a:pt x="480" y="467346"/>
                      </a:lnTo>
                      <a:cubicBezTo>
                        <a:pt x="480" y="451154"/>
                        <a:pt x="12862" y="438771"/>
                        <a:pt x="29055" y="438771"/>
                      </a:cubicBezTo>
                      <a:lnTo>
                        <a:pt x="29055" y="438771"/>
                      </a:lnTo>
                      <a:lnTo>
                        <a:pt x="38580" y="438771"/>
                      </a:lnTo>
                      <a:lnTo>
                        <a:pt x="38580" y="333996"/>
                      </a:lnTo>
                      <a:cubicBezTo>
                        <a:pt x="38580" y="313994"/>
                        <a:pt x="54773" y="296849"/>
                        <a:pt x="74775" y="295896"/>
                      </a:cubicBezTo>
                      <a:lnTo>
                        <a:pt x="76680" y="295896"/>
                      </a:lnTo>
                      <a:lnTo>
                        <a:pt x="238605" y="295896"/>
                      </a:lnTo>
                      <a:lnTo>
                        <a:pt x="238605" y="162546"/>
                      </a:lnTo>
                      <a:lnTo>
                        <a:pt x="133830" y="162546"/>
                      </a:lnTo>
                      <a:cubicBezTo>
                        <a:pt x="113827" y="162546"/>
                        <a:pt x="96683" y="146354"/>
                        <a:pt x="95730" y="126351"/>
                      </a:cubicBezTo>
                      <a:lnTo>
                        <a:pt x="95730" y="124446"/>
                      </a:lnTo>
                      <a:lnTo>
                        <a:pt x="95730" y="38721"/>
                      </a:lnTo>
                      <a:cubicBezTo>
                        <a:pt x="95730" y="17766"/>
                        <a:pt x="112875" y="621"/>
                        <a:pt x="133830" y="621"/>
                      </a:cubicBezTo>
                      <a:lnTo>
                        <a:pt x="133830" y="621"/>
                      </a:lnTo>
                      <a:lnTo>
                        <a:pt x="362430" y="621"/>
                      </a:lnTo>
                      <a:close/>
                      <a:moveTo>
                        <a:pt x="67155" y="457821"/>
                      </a:moveTo>
                      <a:lnTo>
                        <a:pt x="29055" y="457821"/>
                      </a:lnTo>
                      <a:cubicBezTo>
                        <a:pt x="23340" y="457821"/>
                        <a:pt x="19530" y="461631"/>
                        <a:pt x="19530" y="467346"/>
                      </a:cubicBezTo>
                      <a:lnTo>
                        <a:pt x="19530" y="467346"/>
                      </a:lnTo>
                      <a:lnTo>
                        <a:pt x="19530" y="505446"/>
                      </a:lnTo>
                      <a:cubicBezTo>
                        <a:pt x="19530" y="511161"/>
                        <a:pt x="23340" y="514971"/>
                        <a:pt x="29055" y="514971"/>
                      </a:cubicBezTo>
                      <a:lnTo>
                        <a:pt x="29055" y="514971"/>
                      </a:lnTo>
                      <a:lnTo>
                        <a:pt x="67155" y="514971"/>
                      </a:lnTo>
                      <a:cubicBezTo>
                        <a:pt x="72870" y="514971"/>
                        <a:pt x="76680" y="511161"/>
                        <a:pt x="76680" y="505446"/>
                      </a:cubicBezTo>
                      <a:lnTo>
                        <a:pt x="76680" y="505446"/>
                      </a:lnTo>
                      <a:lnTo>
                        <a:pt x="76680" y="467346"/>
                      </a:lnTo>
                      <a:cubicBezTo>
                        <a:pt x="76680" y="461631"/>
                        <a:pt x="72870" y="457821"/>
                        <a:pt x="67155" y="457821"/>
                      </a:cubicBezTo>
                      <a:lnTo>
                        <a:pt x="67155" y="457821"/>
                      </a:lnTo>
                      <a:close/>
                      <a:moveTo>
                        <a:pt x="267180" y="457821"/>
                      </a:moveTo>
                      <a:lnTo>
                        <a:pt x="229080" y="457821"/>
                      </a:lnTo>
                      <a:cubicBezTo>
                        <a:pt x="223365" y="457821"/>
                        <a:pt x="219555" y="461631"/>
                        <a:pt x="219555" y="467346"/>
                      </a:cubicBezTo>
                      <a:lnTo>
                        <a:pt x="219555" y="467346"/>
                      </a:lnTo>
                      <a:lnTo>
                        <a:pt x="219555" y="505446"/>
                      </a:lnTo>
                      <a:cubicBezTo>
                        <a:pt x="219555" y="511161"/>
                        <a:pt x="223365" y="514971"/>
                        <a:pt x="229080" y="514971"/>
                      </a:cubicBezTo>
                      <a:lnTo>
                        <a:pt x="229080" y="514971"/>
                      </a:lnTo>
                      <a:lnTo>
                        <a:pt x="267180" y="514971"/>
                      </a:lnTo>
                      <a:cubicBezTo>
                        <a:pt x="272895" y="514971"/>
                        <a:pt x="276705" y="511161"/>
                        <a:pt x="276705" y="505446"/>
                      </a:cubicBezTo>
                      <a:lnTo>
                        <a:pt x="276705" y="505446"/>
                      </a:lnTo>
                      <a:lnTo>
                        <a:pt x="276705" y="467346"/>
                      </a:lnTo>
                      <a:cubicBezTo>
                        <a:pt x="276705" y="461631"/>
                        <a:pt x="272895" y="457821"/>
                        <a:pt x="267180" y="457821"/>
                      </a:cubicBezTo>
                      <a:lnTo>
                        <a:pt x="267180" y="457821"/>
                      </a:lnTo>
                      <a:close/>
                      <a:moveTo>
                        <a:pt x="467205" y="457821"/>
                      </a:moveTo>
                      <a:lnTo>
                        <a:pt x="429105" y="457821"/>
                      </a:lnTo>
                      <a:cubicBezTo>
                        <a:pt x="423390" y="457821"/>
                        <a:pt x="419580" y="461631"/>
                        <a:pt x="419580" y="467346"/>
                      </a:cubicBezTo>
                      <a:lnTo>
                        <a:pt x="419580" y="467346"/>
                      </a:lnTo>
                      <a:lnTo>
                        <a:pt x="419580" y="505446"/>
                      </a:lnTo>
                      <a:cubicBezTo>
                        <a:pt x="419580" y="511161"/>
                        <a:pt x="423390" y="514971"/>
                        <a:pt x="429105" y="514971"/>
                      </a:cubicBezTo>
                      <a:lnTo>
                        <a:pt x="429105" y="514971"/>
                      </a:lnTo>
                      <a:lnTo>
                        <a:pt x="467205" y="514971"/>
                      </a:lnTo>
                      <a:cubicBezTo>
                        <a:pt x="472920" y="514971"/>
                        <a:pt x="476730" y="511161"/>
                        <a:pt x="476730" y="505446"/>
                      </a:cubicBezTo>
                      <a:lnTo>
                        <a:pt x="476730" y="505446"/>
                      </a:lnTo>
                      <a:lnTo>
                        <a:pt x="476730" y="467346"/>
                      </a:lnTo>
                      <a:cubicBezTo>
                        <a:pt x="476730" y="461631"/>
                        <a:pt x="472920" y="457821"/>
                        <a:pt x="467205" y="457821"/>
                      </a:cubicBezTo>
                      <a:lnTo>
                        <a:pt x="467205" y="457821"/>
                      </a:lnTo>
                      <a:close/>
                      <a:moveTo>
                        <a:pt x="362430" y="19671"/>
                      </a:moveTo>
                      <a:lnTo>
                        <a:pt x="133830" y="19671"/>
                      </a:lnTo>
                      <a:cubicBezTo>
                        <a:pt x="123352" y="19671"/>
                        <a:pt x="114780" y="28244"/>
                        <a:pt x="114780" y="38721"/>
                      </a:cubicBezTo>
                      <a:lnTo>
                        <a:pt x="114780" y="38721"/>
                      </a:lnTo>
                      <a:lnTo>
                        <a:pt x="114780" y="124446"/>
                      </a:lnTo>
                      <a:cubicBezTo>
                        <a:pt x="114780" y="134924"/>
                        <a:pt x="123352" y="143496"/>
                        <a:pt x="133830" y="143496"/>
                      </a:cubicBezTo>
                      <a:lnTo>
                        <a:pt x="133830" y="143496"/>
                      </a:lnTo>
                      <a:lnTo>
                        <a:pt x="362430" y="143496"/>
                      </a:lnTo>
                      <a:cubicBezTo>
                        <a:pt x="372908" y="143496"/>
                        <a:pt x="381480" y="134924"/>
                        <a:pt x="381480" y="124446"/>
                      </a:cubicBezTo>
                      <a:lnTo>
                        <a:pt x="381480" y="124446"/>
                      </a:lnTo>
                      <a:lnTo>
                        <a:pt x="381480" y="38721"/>
                      </a:lnTo>
                      <a:cubicBezTo>
                        <a:pt x="381480" y="28244"/>
                        <a:pt x="372908" y="19671"/>
                        <a:pt x="362430" y="19671"/>
                      </a:cubicBezTo>
                      <a:lnTo>
                        <a:pt x="362430" y="19671"/>
                      </a:lnTo>
                      <a:close/>
                      <a:moveTo>
                        <a:pt x="157643" y="86346"/>
                      </a:moveTo>
                      <a:cubicBezTo>
                        <a:pt x="165262" y="86346"/>
                        <a:pt x="171930" y="93014"/>
                        <a:pt x="171930" y="100634"/>
                      </a:cubicBezTo>
                      <a:cubicBezTo>
                        <a:pt x="171930" y="108254"/>
                        <a:pt x="165262" y="114921"/>
                        <a:pt x="157643" y="114921"/>
                      </a:cubicBezTo>
                      <a:cubicBezTo>
                        <a:pt x="150023" y="114921"/>
                        <a:pt x="143355" y="108254"/>
                        <a:pt x="143355" y="100634"/>
                      </a:cubicBezTo>
                      <a:cubicBezTo>
                        <a:pt x="143355" y="93014"/>
                        <a:pt x="150023" y="86346"/>
                        <a:pt x="157643" y="863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zh-CN" altLang="en-US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endParaRPr>
                </a:p>
              </p:txBody>
            </p: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AD174CA0-C1E7-2FE6-EA63-F3D341839273}"/>
                    </a:ext>
                  </a:extLst>
                </p:cNvPr>
                <p:cNvGrpSpPr/>
                <p:nvPr/>
              </p:nvGrpSpPr>
              <p:grpSpPr>
                <a:xfrm>
                  <a:off x="4825906" y="4573498"/>
                  <a:ext cx="2375086" cy="1083091"/>
                  <a:chOff x="1422215" y="4588012"/>
                  <a:chExt cx="2375086" cy="1083091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B41429EE-5DC7-40E3-4B16-B85641920C67}"/>
                      </a:ext>
                    </a:extLst>
                  </p:cNvPr>
                  <p:cNvSpPr/>
                  <p:nvPr/>
                </p:nvSpPr>
                <p:spPr>
                  <a:xfrm>
                    <a:off x="1422215" y="4933080"/>
                    <a:ext cx="2375086" cy="73802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91440" tIns="45720" rIns="91440" bIns="45720" rtlCol="0" anchor="t" anchorCtr="0">
                    <a:sp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 b="0" i="0">
                        <a:solidFill>
                          <a:srgbClr val="FFFFFF"/>
                        </a:solidFill>
                        <a:effectLst/>
                      </a:rPr>
                      <a:t>员工的行为和决策都应该符合公司价值观，为公司的长期发展提供支持。</a:t>
                    </a:r>
                    <a:endParaRPr kumimoji="1" lang="en-US" altLang="zh-CN" sz="100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5F6BB710-A97D-063D-CC6A-DDAA901A5AC6}"/>
                      </a:ext>
                    </a:extLst>
                  </p:cNvPr>
                  <p:cNvSpPr/>
                  <p:nvPr/>
                </p:nvSpPr>
                <p:spPr>
                  <a:xfrm>
                    <a:off x="1422215" y="4588012"/>
                    <a:ext cx="2375086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lIns="91440" tIns="45720" rIns="91440" bIns="45720" rtlCol="0" anchor="b" anchorCtr="0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kumimoji="1" lang="zh-CN" altLang="en-US" sz="1600" b="1">
                        <a:solidFill>
                          <a:srgbClr val="FFFFFF"/>
                        </a:solidFill>
                      </a:rPr>
                      <a:t>价值观的影响力</a:t>
                    </a:r>
                  </a:p>
                </p:txBody>
              </p:sp>
            </p:grpSp>
          </p:grpSp>
        </p:grpSp>
      </p:grpSp>
      <p:sp>
        <p:nvSpPr>
          <p:cNvPr id="53" name="Title 5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价值观的重要性</a:t>
            </a:r>
          </a:p>
        </p:txBody>
      </p:sp>
    </p:spTree>
    <p:custDataLst>
      <p:tags r:id="rId2"/>
    </p:custDataLst>
    <p:extLst>
      <p:ext uri="{BB962C8B-B14F-4D97-AF65-F5344CB8AC3E}">
        <p14:creationId val="3588809181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1" name="Group 20"/>
          <p:cNvGrpSpPr/>
          <p:nvPr/>
        </p:nvGrpSpPr>
        <p:grpSpPr>
          <a:xfrm>
            <a:off x="660400" y="1086828"/>
            <a:ext cx="11531600" cy="5108507"/>
            <a:chOff x="660400" y="1086828"/>
            <a:chExt cx="11531600" cy="5108507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EAACBFA-C881-4835-A119-5C584F3869F4}"/>
                </a:ext>
              </a:extLst>
            </p:cNvPr>
            <p:cNvSpPr/>
            <p:nvPr/>
          </p:nvSpPr>
          <p:spPr>
            <a:xfrm rot="10800000" flipH="1">
              <a:off x="9506856" y="4550064"/>
              <a:ext cx="2685144" cy="814616"/>
            </a:xfrm>
            <a:custGeom>
              <a:gdLst>
                <a:gd name="connsiteX0" fmla="*/ 81462 w 2685144"/>
                <a:gd name="connsiteY0" fmla="*/ 0 h 814616"/>
                <a:gd name="connsiteX1" fmla="*/ 2685144 w 2685144"/>
                <a:gd name="connsiteY1" fmla="*/ 0 h 814616"/>
                <a:gd name="connsiteX2" fmla="*/ 2685144 w 2685144"/>
                <a:gd name="connsiteY2" fmla="*/ 814616 h 814616"/>
                <a:gd name="connsiteX3" fmla="*/ 81462 w 2685144"/>
                <a:gd name="connsiteY3" fmla="*/ 814615 h 814616"/>
                <a:gd name="connsiteX4" fmla="*/ 0 w 2685144"/>
                <a:gd name="connsiteY4" fmla="*/ 733153 h 814616"/>
                <a:gd name="connsiteX5" fmla="*/ 0 w 2685144"/>
                <a:gd name="connsiteY5" fmla="*/ 81462 h 814616"/>
                <a:gd name="connsiteX6" fmla="*/ 81462 w 2685144"/>
                <a:gd name="connsiteY6" fmla="*/ 0 h 814616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85144" h="814616">
                  <a:moveTo>
                    <a:pt x="81462" y="0"/>
                  </a:moveTo>
                  <a:lnTo>
                    <a:pt x="2685144" y="0"/>
                  </a:lnTo>
                  <a:lnTo>
                    <a:pt x="2685144" y="814616"/>
                  </a:lnTo>
                  <a:lnTo>
                    <a:pt x="81462" y="814615"/>
                  </a:lnTo>
                  <a:cubicBezTo>
                    <a:pt x="36472" y="814615"/>
                    <a:pt x="0" y="778143"/>
                    <a:pt x="0" y="733153"/>
                  </a:cubicBezTo>
                  <a:lnTo>
                    <a:pt x="0" y="81462"/>
                  </a:lnTo>
                  <a:cubicBezTo>
                    <a:pt x="0" y="36472"/>
                    <a:pt x="36472" y="0"/>
                    <a:pt x="81462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10000"/>
              </a:schemeClr>
            </a:solidFill>
            <a:ln w="762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r"/>
              <a:endParaRPr lang="zh-CN" altLang="en-US" sz="3200" b="1"/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DCA6858-885F-46F9-8AE2-6E65FFB26623}"/>
                </a:ext>
              </a:extLst>
            </p:cNvPr>
            <p:cNvSpPr/>
            <p:nvPr/>
          </p:nvSpPr>
          <p:spPr>
            <a:xfrm>
              <a:off x="7278914" y="1130301"/>
              <a:ext cx="3997393" cy="5003800"/>
            </a:xfrm>
            <a:prstGeom prst="roundRect">
              <a:avLst>
                <a:gd name="adj" fmla="val 4500"/>
              </a:avLst>
            </a:prstGeom>
            <a:blipFill rotWithShape="0">
              <a:blip r:embed="rId2"/>
              <a:stretch>
                <a:fillRect l="-44030" r="-4403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5A94761-C8AF-4888-9AD7-575DB43CE6BA}"/>
                </a:ext>
              </a:extLst>
            </p:cNvPr>
            <p:cNvGrpSpPr/>
            <p:nvPr/>
          </p:nvGrpSpPr>
          <p:grpSpPr>
            <a:xfrm>
              <a:off x="2226244" y="3156154"/>
              <a:ext cx="444222" cy="444220"/>
              <a:chOff x="3866383" y="2794007"/>
              <a:chExt cx="444222" cy="444220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4B0DF9FE-B1B7-4ABD-A76C-A6B6BDE3DF9F}"/>
                  </a:ext>
                </a:extLst>
              </p:cNvPr>
              <p:cNvSpPr/>
              <p:nvPr/>
            </p:nvSpPr>
            <p:spPr>
              <a:xfrm>
                <a:off x="3866383" y="2794007"/>
                <a:ext cx="444222" cy="444220"/>
              </a:xfrm>
              <a:prstGeom prst="roundRect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80D6D966-43D6-41B5-82EC-1B8439C43BA0}"/>
                  </a:ext>
                </a:extLst>
              </p:cNvPr>
              <p:cNvSpPr/>
              <p:nvPr/>
            </p:nvSpPr>
            <p:spPr bwMode="auto">
              <a:xfrm>
                <a:off x="3985714" y="2939032"/>
                <a:ext cx="205561" cy="154170"/>
              </a:xfrm>
              <a:custGeom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1F4D1A6-4488-475E-BC7B-427B878E5CE1}"/>
                </a:ext>
              </a:extLst>
            </p:cNvPr>
            <p:cNvSpPr txBox="1"/>
            <p:nvPr/>
          </p:nvSpPr>
          <p:spPr>
            <a:xfrm>
              <a:off x="2789796" y="3156154"/>
              <a:ext cx="3997391" cy="400110"/>
            </a:xfrm>
            <a:prstGeom prst="rect">
              <a:avLst/>
            </a:prstGeom>
            <a:noFill/>
          </p:spPr>
          <p:txBody>
            <a:bodyPr wrap="none" anchor="b">
              <a:normAutofit/>
            </a:bodyPr>
            <a:lstStyle>
              <a:defPPr>
                <a:defRPr lang="zh-CN"/>
              </a:defPPr>
              <a:lvl1pPr marR="0" lvl="0" indent="0" defTabSz="913765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 kumimoji="0" sz="20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/>
                <a:t>文化价值观的内涵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8EBA46-41A0-4364-AF52-87C3F4C9FC16}"/>
                </a:ext>
              </a:extLst>
            </p:cNvPr>
            <p:cNvSpPr txBox="1"/>
            <p:nvPr/>
          </p:nvSpPr>
          <p:spPr>
            <a:xfrm>
              <a:off x="2789799" y="3556264"/>
              <a:ext cx="3997392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/>
                <a:t>传承公司价值：发挥员工的个人特长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2FFB28-E9D7-4BFE-A6E0-F9DA845C2CB7}"/>
                </a:ext>
              </a:extLst>
            </p:cNvPr>
            <p:cNvSpPr txBox="1"/>
            <p:nvPr/>
          </p:nvSpPr>
          <p:spPr>
            <a:xfrm>
              <a:off x="2789796" y="4209783"/>
              <a:ext cx="3997391" cy="400110"/>
            </a:xfrm>
            <a:prstGeom prst="rect">
              <a:avLst/>
            </a:prstGeom>
            <a:noFill/>
          </p:spPr>
          <p:txBody>
            <a:bodyPr wrap="none" anchor="b">
              <a:normAutofit/>
            </a:bodyPr>
            <a:lstStyle>
              <a:defPPr>
                <a:defRPr lang="zh-CN"/>
              </a:defPPr>
              <a:lvl1pPr marR="0" lvl="0" indent="0" defTabSz="913765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 kumimoji="0" sz="20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/>
                <a:t>文化价值观的体现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74AA954-A295-4F42-8FBD-A9CAD76C93F1}"/>
                </a:ext>
              </a:extLst>
            </p:cNvPr>
            <p:cNvSpPr txBox="1"/>
            <p:nvPr/>
          </p:nvSpPr>
          <p:spPr>
            <a:xfrm>
              <a:off x="2789799" y="4609893"/>
              <a:ext cx="3997392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/>
                <a:t>在日常工作中秉持公司文化价值观，不断提升自身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B48C3C-7227-418A-8A84-5C7E96967119}"/>
                </a:ext>
              </a:extLst>
            </p:cNvPr>
            <p:cNvGrpSpPr/>
            <p:nvPr/>
          </p:nvGrpSpPr>
          <p:grpSpPr>
            <a:xfrm>
              <a:off x="2225656" y="4225173"/>
              <a:ext cx="444222" cy="444220"/>
              <a:chOff x="7078395" y="2794007"/>
              <a:chExt cx="444222" cy="444220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12B00DA9-5C34-4013-B583-7B74FE878EF7}"/>
                  </a:ext>
                </a:extLst>
              </p:cNvPr>
              <p:cNvSpPr/>
              <p:nvPr/>
            </p:nvSpPr>
            <p:spPr>
              <a:xfrm>
                <a:off x="7078395" y="2794007"/>
                <a:ext cx="444222" cy="444220"/>
              </a:xfrm>
              <a:prstGeom prst="roundRect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DB0D959-3742-4364-934A-FB2AE22DCDC8}"/>
                  </a:ext>
                </a:extLst>
              </p:cNvPr>
              <p:cNvSpPr/>
              <p:nvPr/>
            </p:nvSpPr>
            <p:spPr bwMode="auto">
              <a:xfrm>
                <a:off x="7206741" y="2913337"/>
                <a:ext cx="187529" cy="205561"/>
              </a:xfrm>
              <a:custGeom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EB0F187-88E1-444A-99A5-92962552DD0C}"/>
                </a:ext>
              </a:extLst>
            </p:cNvPr>
            <p:cNvSpPr txBox="1"/>
            <p:nvPr/>
          </p:nvSpPr>
          <p:spPr>
            <a:xfrm>
              <a:off x="2789796" y="5278802"/>
              <a:ext cx="3997391" cy="400110"/>
            </a:xfrm>
            <a:prstGeom prst="rect">
              <a:avLst/>
            </a:prstGeom>
            <a:noFill/>
          </p:spPr>
          <p:txBody>
            <a:bodyPr wrap="none" anchor="b">
              <a:normAutofit/>
            </a:bodyPr>
            <a:lstStyle>
              <a:defPPr>
                <a:defRPr lang="zh-CN"/>
              </a:defPPr>
              <a:lvl1pPr marR="0" lvl="0" indent="0" defTabSz="913765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 kumimoji="0" sz="20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/>
                <a:t>文化价值观的贯彻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EE6B820-CE16-4323-8614-41FAD3EFD8AA}"/>
                </a:ext>
              </a:extLst>
            </p:cNvPr>
            <p:cNvSpPr txBox="1"/>
            <p:nvPr/>
          </p:nvSpPr>
          <p:spPr>
            <a:xfrm>
              <a:off x="2789799" y="5678912"/>
              <a:ext cx="3997392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/>
                <a:t>将公司文化价值观融入日常工作，实现公司与员工共同发展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05D8C4F-2905-453B-A6E5-88CF42F30318}"/>
                </a:ext>
              </a:extLst>
            </p:cNvPr>
            <p:cNvGrpSpPr/>
            <p:nvPr/>
          </p:nvGrpSpPr>
          <p:grpSpPr>
            <a:xfrm>
              <a:off x="2225655" y="5275371"/>
              <a:ext cx="444222" cy="444220"/>
              <a:chOff x="7881396" y="2794007"/>
              <a:chExt cx="444222" cy="444220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3376CCB9-F372-4BC2-A48B-6DFA4789E58C}"/>
                  </a:ext>
                </a:extLst>
              </p:cNvPr>
              <p:cNvSpPr/>
              <p:nvPr/>
            </p:nvSpPr>
            <p:spPr>
              <a:xfrm>
                <a:off x="7881396" y="2794007"/>
                <a:ext cx="444222" cy="444220"/>
              </a:xfrm>
              <a:prstGeom prst="roundRect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A5A1AFE-E2A5-467B-B4F5-A0C61690085F}"/>
                  </a:ext>
                </a:extLst>
              </p:cNvPr>
              <p:cNvSpPr/>
              <p:nvPr/>
            </p:nvSpPr>
            <p:spPr bwMode="auto">
              <a:xfrm>
                <a:off x="8019080" y="2913337"/>
                <a:ext cx="168853" cy="205561"/>
              </a:xfrm>
              <a:custGeom>
                <a:gdLst>
                  <a:gd name="connsiteX0" fmla="*/ 283816 w 438150"/>
                  <a:gd name="connsiteY0" fmla="*/ 621 h 533400"/>
                  <a:gd name="connsiteX1" fmla="*/ 286102 w 438150"/>
                  <a:gd name="connsiteY1" fmla="*/ 716 h 533400"/>
                  <a:gd name="connsiteX2" fmla="*/ 286102 w 438150"/>
                  <a:gd name="connsiteY2" fmla="*/ 124446 h 533400"/>
                  <a:gd name="connsiteX3" fmla="*/ 286197 w 438150"/>
                  <a:gd name="connsiteY3" fmla="*/ 126160 h 533400"/>
                  <a:gd name="connsiteX4" fmla="*/ 314677 w 438150"/>
                  <a:gd name="connsiteY4" fmla="*/ 153021 h 533400"/>
                  <a:gd name="connsiteX5" fmla="*/ 314677 w 438150"/>
                  <a:gd name="connsiteY5" fmla="*/ 153021 h 533400"/>
                  <a:gd name="connsiteX6" fmla="*/ 438407 w 438150"/>
                  <a:gd name="connsiteY6" fmla="*/ 153021 h 533400"/>
                  <a:gd name="connsiteX7" fmla="*/ 438502 w 438150"/>
                  <a:gd name="connsiteY7" fmla="*/ 155307 h 533400"/>
                  <a:gd name="connsiteX8" fmla="*/ 438502 w 438150"/>
                  <a:gd name="connsiteY8" fmla="*/ 505446 h 533400"/>
                  <a:gd name="connsiteX9" fmla="*/ 409927 w 438150"/>
                  <a:gd name="connsiteY9" fmla="*/ 534021 h 533400"/>
                  <a:gd name="connsiteX10" fmla="*/ 28927 w 438150"/>
                  <a:gd name="connsiteY10" fmla="*/ 534021 h 533400"/>
                  <a:gd name="connsiteX11" fmla="*/ 352 w 438150"/>
                  <a:gd name="connsiteY11" fmla="*/ 505446 h 533400"/>
                  <a:gd name="connsiteX12" fmla="*/ 352 w 438150"/>
                  <a:gd name="connsiteY12" fmla="*/ 29196 h 533400"/>
                  <a:gd name="connsiteX13" fmla="*/ 28927 w 438150"/>
                  <a:gd name="connsiteY13" fmla="*/ 621 h 533400"/>
                  <a:gd name="connsiteX14" fmla="*/ 283816 w 438150"/>
                  <a:gd name="connsiteY14" fmla="*/ 621 h 533400"/>
                  <a:gd name="connsiteX15" fmla="*/ 248002 w 438150"/>
                  <a:gd name="connsiteY15" fmla="*/ 200646 h 533400"/>
                  <a:gd name="connsiteX16" fmla="*/ 152752 w 438150"/>
                  <a:gd name="connsiteY16" fmla="*/ 200646 h 533400"/>
                  <a:gd name="connsiteX17" fmla="*/ 152752 w 438150"/>
                  <a:gd name="connsiteY17" fmla="*/ 410196 h 533400"/>
                  <a:gd name="connsiteX18" fmla="*/ 171802 w 438150"/>
                  <a:gd name="connsiteY18" fmla="*/ 410196 h 533400"/>
                  <a:gd name="connsiteX19" fmla="*/ 171802 w 438150"/>
                  <a:gd name="connsiteY19" fmla="*/ 314946 h 533400"/>
                  <a:gd name="connsiteX20" fmla="*/ 248002 w 438150"/>
                  <a:gd name="connsiteY20" fmla="*/ 314946 h 533400"/>
                  <a:gd name="connsiteX21" fmla="*/ 250098 w 438150"/>
                  <a:gd name="connsiteY21" fmla="*/ 314946 h 533400"/>
                  <a:gd name="connsiteX22" fmla="*/ 305152 w 438150"/>
                  <a:gd name="connsiteY22" fmla="*/ 257796 h 533400"/>
                  <a:gd name="connsiteX23" fmla="*/ 248002 w 438150"/>
                  <a:gd name="connsiteY23" fmla="*/ 200646 h 533400"/>
                  <a:gd name="connsiteX24" fmla="*/ 248002 w 438150"/>
                  <a:gd name="connsiteY24" fmla="*/ 200646 h 533400"/>
                  <a:gd name="connsiteX25" fmla="*/ 248002 w 438150"/>
                  <a:gd name="connsiteY25" fmla="*/ 219696 h 533400"/>
                  <a:gd name="connsiteX26" fmla="*/ 286102 w 438150"/>
                  <a:gd name="connsiteY26" fmla="*/ 257796 h 533400"/>
                  <a:gd name="connsiteX27" fmla="*/ 248002 w 438150"/>
                  <a:gd name="connsiteY27" fmla="*/ 295896 h 533400"/>
                  <a:gd name="connsiteX28" fmla="*/ 248002 w 438150"/>
                  <a:gd name="connsiteY28" fmla="*/ 295896 h 533400"/>
                  <a:gd name="connsiteX29" fmla="*/ 171802 w 438150"/>
                  <a:gd name="connsiteY29" fmla="*/ 295896 h 533400"/>
                  <a:gd name="connsiteX30" fmla="*/ 171802 w 438150"/>
                  <a:gd name="connsiteY30" fmla="*/ 219696 h 533400"/>
                  <a:gd name="connsiteX31" fmla="*/ 248002 w 438150"/>
                  <a:gd name="connsiteY31" fmla="*/ 219696 h 533400"/>
                  <a:gd name="connsiteX32" fmla="*/ 428977 w 438150"/>
                  <a:gd name="connsiteY32" fmla="*/ 133971 h 533400"/>
                  <a:gd name="connsiteX33" fmla="*/ 314677 w 438150"/>
                  <a:gd name="connsiteY33" fmla="*/ 133971 h 533400"/>
                  <a:gd name="connsiteX34" fmla="*/ 313534 w 438150"/>
                  <a:gd name="connsiteY34" fmla="*/ 133876 h 533400"/>
                  <a:gd name="connsiteX35" fmla="*/ 305152 w 438150"/>
                  <a:gd name="connsiteY35" fmla="*/ 124446 h 533400"/>
                  <a:gd name="connsiteX36" fmla="*/ 305152 w 438150"/>
                  <a:gd name="connsiteY36" fmla="*/ 124446 h 533400"/>
                  <a:gd name="connsiteX37" fmla="*/ 305152 w 438150"/>
                  <a:gd name="connsiteY37" fmla="*/ 10146 h 533400"/>
                  <a:gd name="connsiteX38" fmla="*/ 428977 w 438150"/>
                  <a:gd name="connsiteY38" fmla="*/ 133971 h 53340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38150" h="533400">
                    <a:moveTo>
                      <a:pt x="283816" y="621"/>
                    </a:moveTo>
                    <a:cubicBezTo>
                      <a:pt x="284578" y="621"/>
                      <a:pt x="285340" y="621"/>
                      <a:pt x="286102" y="716"/>
                    </a:cubicBezTo>
                    <a:lnTo>
                      <a:pt x="286102" y="124446"/>
                    </a:lnTo>
                    <a:lnTo>
                      <a:pt x="286197" y="126160"/>
                    </a:lnTo>
                    <a:cubicBezTo>
                      <a:pt x="287055" y="141115"/>
                      <a:pt x="299532" y="153021"/>
                      <a:pt x="314677" y="153021"/>
                    </a:cubicBezTo>
                    <a:lnTo>
                      <a:pt x="314677" y="153021"/>
                    </a:lnTo>
                    <a:lnTo>
                      <a:pt x="438407" y="153021"/>
                    </a:lnTo>
                    <a:cubicBezTo>
                      <a:pt x="438502" y="153783"/>
                      <a:pt x="438502" y="154545"/>
                      <a:pt x="438502" y="155307"/>
                    </a:cubicBezTo>
                    <a:lnTo>
                      <a:pt x="438502" y="505446"/>
                    </a:lnTo>
                    <a:cubicBezTo>
                      <a:pt x="438502" y="521257"/>
                      <a:pt x="425739" y="534021"/>
                      <a:pt x="409927" y="534021"/>
                    </a:cubicBezTo>
                    <a:lnTo>
                      <a:pt x="28927" y="534021"/>
                    </a:lnTo>
                    <a:cubicBezTo>
                      <a:pt x="13115" y="534021"/>
                      <a:pt x="352" y="521257"/>
                      <a:pt x="352" y="505446"/>
                    </a:cubicBezTo>
                    <a:lnTo>
                      <a:pt x="352" y="29196"/>
                    </a:lnTo>
                    <a:cubicBezTo>
                      <a:pt x="352" y="13385"/>
                      <a:pt x="13115" y="621"/>
                      <a:pt x="28927" y="621"/>
                    </a:cubicBezTo>
                    <a:lnTo>
                      <a:pt x="283816" y="621"/>
                    </a:lnTo>
                    <a:close/>
                    <a:moveTo>
                      <a:pt x="248002" y="200646"/>
                    </a:moveTo>
                    <a:lnTo>
                      <a:pt x="152752" y="200646"/>
                    </a:lnTo>
                    <a:lnTo>
                      <a:pt x="152752" y="410196"/>
                    </a:lnTo>
                    <a:lnTo>
                      <a:pt x="171802" y="410196"/>
                    </a:lnTo>
                    <a:lnTo>
                      <a:pt x="171802" y="314946"/>
                    </a:lnTo>
                    <a:lnTo>
                      <a:pt x="248002" y="314946"/>
                    </a:lnTo>
                    <a:lnTo>
                      <a:pt x="250098" y="314946"/>
                    </a:lnTo>
                    <a:cubicBezTo>
                      <a:pt x="280673" y="313803"/>
                      <a:pt x="305152" y="288657"/>
                      <a:pt x="305152" y="257796"/>
                    </a:cubicBezTo>
                    <a:cubicBezTo>
                      <a:pt x="305152" y="226268"/>
                      <a:pt x="279530" y="200646"/>
                      <a:pt x="248002" y="200646"/>
                    </a:cubicBez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cubicBezTo>
                      <a:pt x="269052" y="219696"/>
                      <a:pt x="286102" y="236746"/>
                      <a:pt x="286102" y="257796"/>
                    </a:cubicBezTo>
                    <a:cubicBezTo>
                      <a:pt x="286102" y="278846"/>
                      <a:pt x="269052" y="295896"/>
                      <a:pt x="248002" y="295896"/>
                    </a:cubicBezTo>
                    <a:lnTo>
                      <a:pt x="248002" y="295896"/>
                    </a:lnTo>
                    <a:lnTo>
                      <a:pt x="171802" y="295896"/>
                    </a:lnTo>
                    <a:lnTo>
                      <a:pt x="171802" y="219696"/>
                    </a:lnTo>
                    <a:lnTo>
                      <a:pt x="248002" y="219696"/>
                    </a:lnTo>
                    <a:close/>
                    <a:moveTo>
                      <a:pt x="428977" y="133971"/>
                    </a:moveTo>
                    <a:lnTo>
                      <a:pt x="314677" y="133971"/>
                    </a:lnTo>
                    <a:lnTo>
                      <a:pt x="313534" y="133876"/>
                    </a:lnTo>
                    <a:cubicBezTo>
                      <a:pt x="308772" y="133304"/>
                      <a:pt x="305152" y="129304"/>
                      <a:pt x="305152" y="124446"/>
                    </a:cubicBezTo>
                    <a:lnTo>
                      <a:pt x="305152" y="124446"/>
                    </a:lnTo>
                    <a:lnTo>
                      <a:pt x="305152" y="10146"/>
                    </a:lnTo>
                    <a:lnTo>
                      <a:pt x="428977" y="13397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103D680-18AE-4A39-A615-A83E946CB4FE}"/>
                </a:ext>
              </a:extLst>
            </p:cNvPr>
            <p:cNvSpPr txBox="1"/>
            <p:nvPr/>
          </p:nvSpPr>
          <p:spPr>
            <a:xfrm>
              <a:off x="660400" y="1086828"/>
              <a:ext cx="524292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solidFill>
                    <a:schemeClr val="tx1"/>
                  </a:solidFill>
                </a:rPr>
                <a:t>文化融合，共创未来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A153B72-E48F-42FD-92ED-707DFBFEBAD7}"/>
                </a:ext>
              </a:extLst>
            </p:cNvPr>
            <p:cNvSpPr txBox="1"/>
            <p:nvPr/>
          </p:nvSpPr>
          <p:spPr>
            <a:xfrm>
              <a:off x="676568" y="2252387"/>
              <a:ext cx="5226755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/>
                <a:t>公司文化价值观与员工个人工作相互融合，共同促进公司发展。</a:t>
              </a:r>
            </a:p>
          </p:txBody>
        </p:sp>
      </p:grp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文化与工作融合</a:t>
            </a:r>
          </a:p>
        </p:txBody>
      </p:sp>
    </p:spTree>
    <p:custDataLst>
      <p:tags r:id="rId3"/>
    </p:custDataLst>
    <p:extLst>
      <p:ext uri="{BB962C8B-B14F-4D97-AF65-F5344CB8AC3E}">
        <p14:creationId val="4002362969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Group 2"/>
          <p:cNvGrpSpPr/>
          <p:nvPr/>
        </p:nvGrpSpPr>
        <p:grpSpPr>
          <a:xfrm>
            <a:off x="854423" y="1300580"/>
            <a:ext cx="10470454" cy="4733503"/>
            <a:chOff x="854423" y="1300580"/>
            <a:chExt cx="10470454" cy="473350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2A07337-CB03-4A52-B5C9-1A70C46D00E5}"/>
                </a:ext>
              </a:extLst>
            </p:cNvPr>
            <p:cNvSpPr/>
            <p:nvPr/>
          </p:nvSpPr>
          <p:spPr>
            <a:xfrm>
              <a:off x="1055078" y="1300580"/>
              <a:ext cx="5245914" cy="461665"/>
            </a:xfrm>
            <a:prstGeom prst="rect">
              <a:avLst/>
            </a:prstGeom>
            <a:ln>
              <a:noFill/>
            </a:ln>
          </p:spPr>
          <p:txBody>
            <a:bodyPr wrap="square" anchor="b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>
                  <a:solidFill>
                    <a:schemeClr val="tx1"/>
                  </a:solidFill>
                </a:rPr>
                <a:t>价值观融入工作，提高绩效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97CF282-6D9E-4BBA-AAB4-5B8C6E12850D}"/>
                </a:ext>
              </a:extLst>
            </p:cNvPr>
            <p:cNvGrpSpPr/>
            <p:nvPr/>
          </p:nvGrpSpPr>
          <p:grpSpPr>
            <a:xfrm>
              <a:off x="854423" y="2362917"/>
              <a:ext cx="3348110" cy="1702881"/>
              <a:chOff x="872198" y="2362917"/>
              <a:chExt cx="3348110" cy="1702881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7A9E02CF-2F66-49A9-BE12-7441FBAD6AA4}"/>
                  </a:ext>
                </a:extLst>
              </p:cNvPr>
              <p:cNvSpPr/>
              <p:nvPr/>
            </p:nvSpPr>
            <p:spPr>
              <a:xfrm>
                <a:off x="872198" y="2546487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23609568-9E32-49DE-8CCC-4230BC154107}"/>
                  </a:ext>
                </a:extLst>
              </p:cNvPr>
              <p:cNvGrpSpPr/>
              <p:nvPr/>
            </p:nvGrpSpPr>
            <p:grpSpPr>
              <a:xfrm>
                <a:off x="1439335" y="2362917"/>
                <a:ext cx="468104" cy="468102"/>
                <a:chOff x="3526795" y="2235779"/>
                <a:chExt cx="410200" cy="410198"/>
              </a:xfrm>
            </p:grpSpPr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4A1E3CB0-50FA-4FAA-8B30-038A01B529B6}"/>
                    </a:ext>
                  </a:extLst>
                </p:cNvPr>
                <p:cNvSpPr/>
                <p:nvPr/>
              </p:nvSpPr>
              <p:spPr>
                <a:xfrm>
                  <a:off x="3526795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" name="Freeform: Shape 5">
                  <a:extLst>
                    <a:ext uri="{FF2B5EF4-FFF2-40B4-BE49-F238E27FC236}">
                      <a16:creationId xmlns:a16="http://schemas.microsoft.com/office/drawing/2014/main" id="{D6DD3A0A-ADCB-4378-9E09-4668A50BDEAC}"/>
                    </a:ext>
                  </a:extLst>
                </p:cNvPr>
                <p:cNvSpPr/>
                <p:nvPr/>
              </p:nvSpPr>
              <p:spPr>
                <a:xfrm>
                  <a:off x="3642895" y="2374128"/>
                  <a:ext cx="178001" cy="133500"/>
                </a:xfrm>
                <a:custGeom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8C0CA768-4D7B-40A0-97B6-861E88134FFA}"/>
                  </a:ext>
                </a:extLst>
              </p:cNvPr>
              <p:cNvGrpSpPr/>
              <p:nvPr/>
            </p:nvGrpSpPr>
            <p:grpSpPr>
              <a:xfrm>
                <a:off x="2011661" y="2798872"/>
                <a:ext cx="1817487" cy="1044233"/>
                <a:chOff x="1713496" y="2587855"/>
                <a:chExt cx="1817487" cy="1044233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70F3FDE-C54A-471E-9D59-4F6397924E63}"/>
                    </a:ext>
                  </a:extLst>
                </p:cNvPr>
                <p:cNvSpPr txBox="1"/>
                <p:nvPr/>
              </p:nvSpPr>
              <p:spPr>
                <a:xfrm>
                  <a:off x="1713496" y="2587855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/>
                    <a:t>价值观的意义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B0D4ADC-DEA5-4B53-9746-40497E49C6EF}"/>
                    </a:ext>
                  </a:extLst>
                </p:cNvPr>
                <p:cNvSpPr txBox="1"/>
                <p:nvPr/>
              </p:nvSpPr>
              <p:spPr>
                <a:xfrm>
                  <a:off x="1713497" y="2894065"/>
                  <a:ext cx="1817486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价值观是员工共同遵循的准则，能够指导员工的行为和决策。</a:t>
                  </a:r>
                  <a:endParaRPr kumimoji="0" lang="en-US" altLang="zh-CN" sz="11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8F20F8C-2999-44D3-93B1-B3817A8BEF54}"/>
                </a:ext>
              </a:extLst>
            </p:cNvPr>
            <p:cNvGrpSpPr/>
            <p:nvPr/>
          </p:nvGrpSpPr>
          <p:grpSpPr>
            <a:xfrm>
              <a:off x="2692282" y="4296854"/>
              <a:ext cx="3348110" cy="1737229"/>
              <a:chOff x="2710057" y="4296854"/>
              <a:chExt cx="3348110" cy="1737229"/>
            </a:xfrm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4BBB6801-B73C-4DA8-AE71-945877D31262}"/>
                  </a:ext>
                </a:extLst>
              </p:cNvPr>
              <p:cNvSpPr/>
              <p:nvPr/>
            </p:nvSpPr>
            <p:spPr>
              <a:xfrm>
                <a:off x="2710057" y="4514772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94AFD69D-1DB5-4523-801A-DFCB56911F87}"/>
                  </a:ext>
                </a:extLst>
              </p:cNvPr>
              <p:cNvGrpSpPr/>
              <p:nvPr/>
            </p:nvGrpSpPr>
            <p:grpSpPr>
              <a:xfrm>
                <a:off x="3277194" y="4296854"/>
                <a:ext cx="468104" cy="468102"/>
                <a:chOff x="6362386" y="2235779"/>
                <a:chExt cx="410200" cy="410198"/>
              </a:xfrm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EB82F06F-3195-4848-9781-68AA946E7D33}"/>
                    </a:ext>
                  </a:extLst>
                </p:cNvPr>
                <p:cNvSpPr/>
                <p:nvPr/>
              </p:nvSpPr>
              <p:spPr>
                <a:xfrm>
                  <a:off x="6362386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0000">
                      <a:schemeClr val="accent4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4A0D7FDB-5307-4CEC-A47B-4561FEC8D714}"/>
                    </a:ext>
                  </a:extLst>
                </p:cNvPr>
                <p:cNvSpPr/>
                <p:nvPr/>
              </p:nvSpPr>
              <p:spPr>
                <a:xfrm>
                  <a:off x="6478486" y="2376357"/>
                  <a:ext cx="178001" cy="141741"/>
                </a:xfrm>
                <a:custGeom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4CE275C-E64D-4699-99BF-6B83A579C4B0}"/>
                  </a:ext>
                </a:extLst>
              </p:cNvPr>
              <p:cNvGrpSpPr/>
              <p:nvPr/>
            </p:nvGrpSpPr>
            <p:grpSpPr>
              <a:xfrm>
                <a:off x="3895120" y="4732809"/>
                <a:ext cx="1817487" cy="1044233"/>
                <a:chOff x="1759096" y="4521792"/>
                <a:chExt cx="1817487" cy="1044233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D6D37B0-ABDD-45CE-9883-AE7795DBF5A2}"/>
                    </a:ext>
                  </a:extLst>
                </p:cNvPr>
                <p:cNvSpPr txBox="1"/>
                <p:nvPr/>
              </p:nvSpPr>
              <p:spPr>
                <a:xfrm>
                  <a:off x="1759096" y="4521792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/>
                    <a:t>价值观的影响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F4A534B0-3326-47EE-AE70-945ABBB93F66}"/>
                    </a:ext>
                  </a:extLst>
                </p:cNvPr>
                <p:cNvSpPr txBox="1"/>
                <p:nvPr/>
              </p:nvSpPr>
              <p:spPr>
                <a:xfrm>
                  <a:off x="1759097" y="4828002"/>
                  <a:ext cx="1817486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价值观的贯彻落实能够带来更高的工作效率和更好的工作绩效。</a:t>
                  </a: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235F19D5-F784-4F70-B876-411EAEDF7ABF}"/>
                </a:ext>
              </a:extLst>
            </p:cNvPr>
            <p:cNvGrpSpPr/>
            <p:nvPr/>
          </p:nvGrpSpPr>
          <p:grpSpPr>
            <a:xfrm>
              <a:off x="4415595" y="2362917"/>
              <a:ext cx="3348110" cy="1702881"/>
              <a:chOff x="4433370" y="2362917"/>
              <a:chExt cx="3348110" cy="1702881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53D49132-3E82-4D9F-B2C1-B62687D5F540}"/>
                  </a:ext>
                </a:extLst>
              </p:cNvPr>
              <p:cNvSpPr/>
              <p:nvPr/>
            </p:nvSpPr>
            <p:spPr>
              <a:xfrm>
                <a:off x="4433370" y="2546487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9541747-86E2-4E61-91EC-2DBB70FCEA37}"/>
                  </a:ext>
                </a:extLst>
              </p:cNvPr>
              <p:cNvGrpSpPr/>
              <p:nvPr/>
            </p:nvGrpSpPr>
            <p:grpSpPr>
              <a:xfrm>
                <a:off x="5025305" y="2362917"/>
                <a:ext cx="468104" cy="468102"/>
                <a:chOff x="4471992" y="2235779"/>
                <a:chExt cx="410200" cy="410198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E66FBF85-AC11-433B-9923-B72F880B5B08}"/>
                    </a:ext>
                  </a:extLst>
                </p:cNvPr>
                <p:cNvSpPr/>
                <p:nvPr/>
              </p:nvSpPr>
              <p:spPr>
                <a:xfrm>
                  <a:off x="4471992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33FBB0CC-B1FE-443B-92B0-446D487D7493}"/>
                    </a:ext>
                  </a:extLst>
                </p:cNvPr>
                <p:cNvSpPr/>
                <p:nvPr/>
              </p:nvSpPr>
              <p:spPr>
                <a:xfrm>
                  <a:off x="4595899" y="2358227"/>
                  <a:ext cx="162386" cy="178001"/>
                </a:xfrm>
                <a:custGeom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4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23505648-5FE0-4CC1-9353-09AD4A93C12A}"/>
                  </a:ext>
                </a:extLst>
              </p:cNvPr>
              <p:cNvGrpSpPr/>
              <p:nvPr/>
            </p:nvGrpSpPr>
            <p:grpSpPr>
              <a:xfrm>
                <a:off x="5643231" y="2798872"/>
                <a:ext cx="1817487" cy="1044233"/>
                <a:chOff x="5345066" y="2650728"/>
                <a:chExt cx="1817487" cy="1044233"/>
              </a:xfrm>
            </p:grpSpPr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3CF440B-3ABE-493E-BC93-5B9CE138B64E}"/>
                    </a:ext>
                  </a:extLst>
                </p:cNvPr>
                <p:cNvSpPr txBox="1"/>
                <p:nvPr/>
              </p:nvSpPr>
              <p:spPr>
                <a:xfrm>
                  <a:off x="5345066" y="2650728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/>
                    <a:t>价值观的核心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2D99C10-5542-473B-B89C-8AE514502E01}"/>
                    </a:ext>
                  </a:extLst>
                </p:cNvPr>
                <p:cNvSpPr txBox="1"/>
                <p:nvPr/>
              </p:nvSpPr>
              <p:spPr>
                <a:xfrm>
                  <a:off x="5345067" y="2956938"/>
                  <a:ext cx="1817486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公司的核心价值观通常是创新、客户至上、合作、诚信、责任等。</a:t>
                  </a:r>
                </a:p>
              </p:txBody>
            </p:sp>
          </p:grp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9098A0F-CC2D-4D01-A6B4-14589F574942}"/>
                </a:ext>
              </a:extLst>
            </p:cNvPr>
            <p:cNvGrpSpPr/>
            <p:nvPr/>
          </p:nvGrpSpPr>
          <p:grpSpPr>
            <a:xfrm>
              <a:off x="6253454" y="4296854"/>
              <a:ext cx="3348110" cy="1737229"/>
              <a:chOff x="6271229" y="4296854"/>
              <a:chExt cx="3348110" cy="1737229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9DB1AD59-AFF4-49B9-9D44-793973E94283}"/>
                  </a:ext>
                </a:extLst>
              </p:cNvPr>
              <p:cNvSpPr/>
              <p:nvPr/>
            </p:nvSpPr>
            <p:spPr>
              <a:xfrm>
                <a:off x="6271229" y="4514772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FD6E7A9-88C4-439C-A39B-A698E08EFBC9}"/>
                  </a:ext>
                </a:extLst>
              </p:cNvPr>
              <p:cNvGrpSpPr/>
              <p:nvPr/>
            </p:nvGrpSpPr>
            <p:grpSpPr>
              <a:xfrm>
                <a:off x="6863164" y="4296854"/>
                <a:ext cx="468104" cy="468102"/>
                <a:chOff x="7307583" y="2235779"/>
                <a:chExt cx="410200" cy="410198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8C1AFBAC-EB55-4CDC-91FD-9DCBFAB72897}"/>
                    </a:ext>
                  </a:extLst>
                </p:cNvPr>
                <p:cNvSpPr/>
                <p:nvPr/>
              </p:nvSpPr>
              <p:spPr>
                <a:xfrm>
                  <a:off x="7307583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60000">
                      <a:schemeClr val="accent5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5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9697F260-9FB5-44DE-BA27-E68C201CA50C}"/>
                    </a:ext>
                  </a:extLst>
                </p:cNvPr>
                <p:cNvSpPr/>
                <p:nvPr/>
              </p:nvSpPr>
              <p:spPr>
                <a:xfrm>
                  <a:off x="7423682" y="2356641"/>
                  <a:ext cx="178001" cy="174822"/>
                </a:xfrm>
                <a:custGeom>
                  <a:gdLst>
                    <a:gd name="connsiteX0" fmla="*/ 343764 w 533400"/>
                    <a:gd name="connsiteY0" fmla="*/ 276846 h 523875"/>
                    <a:gd name="connsiteX1" fmla="*/ 372339 w 533400"/>
                    <a:gd name="connsiteY1" fmla="*/ 305421 h 523875"/>
                    <a:gd name="connsiteX2" fmla="*/ 372339 w 533400"/>
                    <a:gd name="connsiteY2" fmla="*/ 495921 h 523875"/>
                    <a:gd name="connsiteX3" fmla="*/ 343764 w 533400"/>
                    <a:gd name="connsiteY3" fmla="*/ 524496 h 523875"/>
                    <a:gd name="connsiteX4" fmla="*/ 191364 w 533400"/>
                    <a:gd name="connsiteY4" fmla="*/ 524496 h 523875"/>
                    <a:gd name="connsiteX5" fmla="*/ 162789 w 533400"/>
                    <a:gd name="connsiteY5" fmla="*/ 495921 h 523875"/>
                    <a:gd name="connsiteX6" fmla="*/ 162789 w 533400"/>
                    <a:gd name="connsiteY6" fmla="*/ 305421 h 523875"/>
                    <a:gd name="connsiteX7" fmla="*/ 191364 w 533400"/>
                    <a:gd name="connsiteY7" fmla="*/ 276846 h 523875"/>
                    <a:gd name="connsiteX8" fmla="*/ 343764 w 533400"/>
                    <a:gd name="connsiteY8" fmla="*/ 276846 h 523875"/>
                    <a:gd name="connsiteX9" fmla="*/ 143739 w 533400"/>
                    <a:gd name="connsiteY9" fmla="*/ 114921 h 523875"/>
                    <a:gd name="connsiteX10" fmla="*/ 179934 w 533400"/>
                    <a:gd name="connsiteY10" fmla="*/ 153021 h 523875"/>
                    <a:gd name="connsiteX11" fmla="*/ 181839 w 533400"/>
                    <a:gd name="connsiteY11" fmla="*/ 153021 h 523875"/>
                    <a:gd name="connsiteX12" fmla="*/ 353289 w 533400"/>
                    <a:gd name="connsiteY12" fmla="*/ 153021 h 523875"/>
                    <a:gd name="connsiteX13" fmla="*/ 391389 w 533400"/>
                    <a:gd name="connsiteY13" fmla="*/ 116826 h 523875"/>
                    <a:gd name="connsiteX14" fmla="*/ 391389 w 533400"/>
                    <a:gd name="connsiteY14" fmla="*/ 114921 h 523875"/>
                    <a:gd name="connsiteX15" fmla="*/ 505689 w 533400"/>
                    <a:gd name="connsiteY15" fmla="*/ 114921 h 523875"/>
                    <a:gd name="connsiteX16" fmla="*/ 534264 w 533400"/>
                    <a:gd name="connsiteY16" fmla="*/ 143496 h 523875"/>
                    <a:gd name="connsiteX17" fmla="*/ 534264 w 533400"/>
                    <a:gd name="connsiteY17" fmla="*/ 381621 h 523875"/>
                    <a:gd name="connsiteX18" fmla="*/ 505689 w 533400"/>
                    <a:gd name="connsiteY18" fmla="*/ 410196 h 523875"/>
                    <a:gd name="connsiteX19" fmla="*/ 391389 w 533400"/>
                    <a:gd name="connsiteY19" fmla="*/ 410196 h 523875"/>
                    <a:gd name="connsiteX20" fmla="*/ 391389 w 533400"/>
                    <a:gd name="connsiteY20" fmla="*/ 295896 h 523875"/>
                    <a:gd name="connsiteX21" fmla="*/ 355194 w 533400"/>
                    <a:gd name="connsiteY21" fmla="*/ 257796 h 523875"/>
                    <a:gd name="connsiteX22" fmla="*/ 353289 w 533400"/>
                    <a:gd name="connsiteY22" fmla="*/ 257796 h 523875"/>
                    <a:gd name="connsiteX23" fmla="*/ 181839 w 533400"/>
                    <a:gd name="connsiteY23" fmla="*/ 257796 h 523875"/>
                    <a:gd name="connsiteX24" fmla="*/ 143739 w 533400"/>
                    <a:gd name="connsiteY24" fmla="*/ 293991 h 523875"/>
                    <a:gd name="connsiteX25" fmla="*/ 143739 w 533400"/>
                    <a:gd name="connsiteY25" fmla="*/ 295896 h 523875"/>
                    <a:gd name="connsiteX26" fmla="*/ 143739 w 533400"/>
                    <a:gd name="connsiteY26" fmla="*/ 410196 h 523875"/>
                    <a:gd name="connsiteX27" fmla="*/ 29439 w 533400"/>
                    <a:gd name="connsiteY27" fmla="*/ 410196 h 523875"/>
                    <a:gd name="connsiteX28" fmla="*/ 864 w 533400"/>
                    <a:gd name="connsiteY28" fmla="*/ 381621 h 523875"/>
                    <a:gd name="connsiteX29" fmla="*/ 864 w 533400"/>
                    <a:gd name="connsiteY29" fmla="*/ 201408 h 523875"/>
                    <a:gd name="connsiteX30" fmla="*/ 11151 w 533400"/>
                    <a:gd name="connsiteY30" fmla="*/ 175405 h 523875"/>
                    <a:gd name="connsiteX31" fmla="*/ 56300 w 533400"/>
                    <a:gd name="connsiteY31" fmla="*/ 127018 h 523875"/>
                    <a:gd name="connsiteX32" fmla="*/ 84112 w 533400"/>
                    <a:gd name="connsiteY32" fmla="*/ 114921 h 523875"/>
                    <a:gd name="connsiteX33" fmla="*/ 143739 w 533400"/>
                    <a:gd name="connsiteY33" fmla="*/ 114921 h 523875"/>
                    <a:gd name="connsiteX34" fmla="*/ 462827 w 533400"/>
                    <a:gd name="connsiteY34" fmla="*/ 172071 h 523875"/>
                    <a:gd name="connsiteX35" fmla="*/ 448539 w 533400"/>
                    <a:gd name="connsiteY35" fmla="*/ 186359 h 523875"/>
                    <a:gd name="connsiteX36" fmla="*/ 462827 w 533400"/>
                    <a:gd name="connsiteY36" fmla="*/ 200646 h 523875"/>
                    <a:gd name="connsiteX37" fmla="*/ 477114 w 533400"/>
                    <a:gd name="connsiteY37" fmla="*/ 186359 h 523875"/>
                    <a:gd name="connsiteX38" fmla="*/ 462827 w 533400"/>
                    <a:gd name="connsiteY38" fmla="*/ 172071 h 523875"/>
                    <a:gd name="connsiteX39" fmla="*/ 343764 w 533400"/>
                    <a:gd name="connsiteY39" fmla="*/ 621 h 523875"/>
                    <a:gd name="connsiteX40" fmla="*/ 372339 w 533400"/>
                    <a:gd name="connsiteY40" fmla="*/ 29196 h 523875"/>
                    <a:gd name="connsiteX41" fmla="*/ 372339 w 533400"/>
                    <a:gd name="connsiteY41" fmla="*/ 105396 h 523875"/>
                    <a:gd name="connsiteX42" fmla="*/ 343764 w 533400"/>
                    <a:gd name="connsiteY42" fmla="*/ 133971 h 523875"/>
                    <a:gd name="connsiteX43" fmla="*/ 191364 w 533400"/>
                    <a:gd name="connsiteY43" fmla="*/ 133971 h 523875"/>
                    <a:gd name="connsiteX44" fmla="*/ 162789 w 533400"/>
                    <a:gd name="connsiteY44" fmla="*/ 105396 h 523875"/>
                    <a:gd name="connsiteX45" fmla="*/ 162789 w 533400"/>
                    <a:gd name="connsiteY45" fmla="*/ 29196 h 523875"/>
                    <a:gd name="connsiteX46" fmla="*/ 191364 w 533400"/>
                    <a:gd name="connsiteY46" fmla="*/ 621 h 523875"/>
                    <a:gd name="connsiteX47" fmla="*/ 343764 w 533400"/>
                    <a:gd name="connsiteY47" fmla="*/ 621 h 52387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</a:cxnLst>
                  <a:rect l="l" t="t" r="r" b="b"/>
                  <a:pathLst>
                    <a:path w="533400" h="523875">
                      <a:moveTo>
                        <a:pt x="343764" y="276846"/>
                      </a:moveTo>
                      <a:cubicBezTo>
                        <a:pt x="359576" y="276846"/>
                        <a:pt x="372339" y="289610"/>
                        <a:pt x="372339" y="305421"/>
                      </a:cubicBezTo>
                      <a:lnTo>
                        <a:pt x="372339" y="495921"/>
                      </a:lnTo>
                      <a:cubicBezTo>
                        <a:pt x="372339" y="511732"/>
                        <a:pt x="359576" y="524496"/>
                        <a:pt x="343764" y="524496"/>
                      </a:cubicBezTo>
                      <a:lnTo>
                        <a:pt x="191364" y="524496"/>
                      </a:lnTo>
                      <a:cubicBezTo>
                        <a:pt x="175552" y="524496"/>
                        <a:pt x="162789" y="511732"/>
                        <a:pt x="162789" y="495921"/>
                      </a:cubicBezTo>
                      <a:lnTo>
                        <a:pt x="162789" y="305421"/>
                      </a:lnTo>
                      <a:cubicBezTo>
                        <a:pt x="162789" y="289610"/>
                        <a:pt x="175552" y="276846"/>
                        <a:pt x="191364" y="276846"/>
                      </a:cubicBezTo>
                      <a:lnTo>
                        <a:pt x="343764" y="276846"/>
                      </a:lnTo>
                      <a:close/>
                      <a:moveTo>
                        <a:pt x="143739" y="114921"/>
                      </a:moveTo>
                      <a:cubicBezTo>
                        <a:pt x="143739" y="135305"/>
                        <a:pt x="159741" y="151973"/>
                        <a:pt x="179934" y="153021"/>
                      </a:cubicBezTo>
                      <a:lnTo>
                        <a:pt x="181839" y="153021"/>
                      </a:lnTo>
                      <a:lnTo>
                        <a:pt x="353289" y="153021"/>
                      </a:lnTo>
                      <a:cubicBezTo>
                        <a:pt x="373673" y="153021"/>
                        <a:pt x="390341" y="137019"/>
                        <a:pt x="391389" y="116826"/>
                      </a:cubicBezTo>
                      <a:lnTo>
                        <a:pt x="391389" y="114921"/>
                      </a:lnTo>
                      <a:lnTo>
                        <a:pt x="505689" y="114921"/>
                      </a:lnTo>
                      <a:cubicBezTo>
                        <a:pt x="521501" y="114921"/>
                        <a:pt x="534264" y="127685"/>
                        <a:pt x="534264" y="143496"/>
                      </a:cubicBezTo>
                      <a:lnTo>
                        <a:pt x="534264" y="381621"/>
                      </a:lnTo>
                      <a:cubicBezTo>
                        <a:pt x="534264" y="397432"/>
                        <a:pt x="521501" y="410196"/>
                        <a:pt x="505689" y="410196"/>
                      </a:cubicBezTo>
                      <a:lnTo>
                        <a:pt x="391389" y="410196"/>
                      </a:lnTo>
                      <a:lnTo>
                        <a:pt x="391389" y="295896"/>
                      </a:lnTo>
                      <a:cubicBezTo>
                        <a:pt x="391389" y="275512"/>
                        <a:pt x="375387" y="258844"/>
                        <a:pt x="355194" y="257796"/>
                      </a:cubicBezTo>
                      <a:lnTo>
                        <a:pt x="353289" y="257796"/>
                      </a:lnTo>
                      <a:lnTo>
                        <a:pt x="181839" y="257796"/>
                      </a:lnTo>
                      <a:cubicBezTo>
                        <a:pt x="161455" y="257796"/>
                        <a:pt x="144787" y="273798"/>
                        <a:pt x="143739" y="293991"/>
                      </a:cubicBezTo>
                      <a:lnTo>
                        <a:pt x="143739" y="295896"/>
                      </a:lnTo>
                      <a:lnTo>
                        <a:pt x="143739" y="410196"/>
                      </a:lnTo>
                      <a:lnTo>
                        <a:pt x="29439" y="410196"/>
                      </a:lnTo>
                      <a:cubicBezTo>
                        <a:pt x="13627" y="410196"/>
                        <a:pt x="864" y="397432"/>
                        <a:pt x="864" y="381621"/>
                      </a:cubicBezTo>
                      <a:lnTo>
                        <a:pt x="864" y="201408"/>
                      </a:lnTo>
                      <a:cubicBezTo>
                        <a:pt x="864" y="191788"/>
                        <a:pt x="4484" y="182454"/>
                        <a:pt x="11151" y="175405"/>
                      </a:cubicBezTo>
                      <a:lnTo>
                        <a:pt x="56300" y="127018"/>
                      </a:lnTo>
                      <a:cubicBezTo>
                        <a:pt x="63538" y="119303"/>
                        <a:pt x="73635" y="114921"/>
                        <a:pt x="84112" y="114921"/>
                      </a:cubicBezTo>
                      <a:lnTo>
                        <a:pt x="143739" y="114921"/>
                      </a:lnTo>
                      <a:close/>
                      <a:moveTo>
                        <a:pt x="462827" y="172071"/>
                      </a:moveTo>
                      <a:cubicBezTo>
                        <a:pt x="454921" y="172071"/>
                        <a:pt x="448539" y="178453"/>
                        <a:pt x="448539" y="186359"/>
                      </a:cubicBezTo>
                      <a:cubicBezTo>
                        <a:pt x="448539" y="194264"/>
                        <a:pt x="454921" y="200646"/>
                        <a:pt x="462827" y="200646"/>
                      </a:cubicBezTo>
                      <a:cubicBezTo>
                        <a:pt x="470732" y="200646"/>
                        <a:pt x="477114" y="194264"/>
                        <a:pt x="477114" y="186359"/>
                      </a:cubicBezTo>
                      <a:cubicBezTo>
                        <a:pt x="477114" y="178453"/>
                        <a:pt x="470732" y="172071"/>
                        <a:pt x="462827" y="172071"/>
                      </a:cubicBezTo>
                      <a:close/>
                      <a:moveTo>
                        <a:pt x="343764" y="621"/>
                      </a:moveTo>
                      <a:cubicBezTo>
                        <a:pt x="359576" y="621"/>
                        <a:pt x="372339" y="13385"/>
                        <a:pt x="372339" y="29196"/>
                      </a:cubicBezTo>
                      <a:lnTo>
                        <a:pt x="372339" y="105396"/>
                      </a:lnTo>
                      <a:cubicBezTo>
                        <a:pt x="372339" y="121207"/>
                        <a:pt x="359576" y="133971"/>
                        <a:pt x="343764" y="133971"/>
                      </a:cubicBezTo>
                      <a:lnTo>
                        <a:pt x="191364" y="133971"/>
                      </a:lnTo>
                      <a:cubicBezTo>
                        <a:pt x="175552" y="133971"/>
                        <a:pt x="162789" y="121207"/>
                        <a:pt x="162789" y="105396"/>
                      </a:cubicBezTo>
                      <a:lnTo>
                        <a:pt x="162789" y="29196"/>
                      </a:lnTo>
                      <a:cubicBezTo>
                        <a:pt x="162789" y="13385"/>
                        <a:pt x="175552" y="621"/>
                        <a:pt x="191364" y="621"/>
                      </a:cubicBezTo>
                      <a:lnTo>
                        <a:pt x="343764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4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58B45714-2A2E-437A-B3CF-B7C1F30FF232}"/>
                  </a:ext>
                </a:extLst>
              </p:cNvPr>
              <p:cNvGrpSpPr/>
              <p:nvPr/>
            </p:nvGrpSpPr>
            <p:grpSpPr>
              <a:xfrm>
                <a:off x="7526690" y="4732809"/>
                <a:ext cx="1817487" cy="1265832"/>
                <a:chOff x="5390666" y="4584665"/>
                <a:chExt cx="1817487" cy="1265832"/>
              </a:xfrm>
            </p:grpSpPr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DA033946-0200-4DAC-A91E-3741493BEE1D}"/>
                    </a:ext>
                  </a:extLst>
                </p:cNvPr>
                <p:cNvSpPr txBox="1"/>
                <p:nvPr/>
              </p:nvSpPr>
              <p:spPr>
                <a:xfrm>
                  <a:off x="5390666" y="4584665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/>
                    <a:t>员工参与价值观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08D8279-57C2-4132-B91C-39FD1456C54E}"/>
                    </a:ext>
                  </a:extLst>
                </p:cNvPr>
                <p:cNvSpPr txBox="1"/>
                <p:nvPr/>
              </p:nvSpPr>
              <p:spPr>
                <a:xfrm>
                  <a:off x="5390667" y="4890875"/>
                  <a:ext cx="1817486" cy="9596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员工可以通过参与公司的文化和价值观建设，更好地融入公司文化并提高个人素质。</a:t>
                  </a:r>
                </a:p>
              </p:txBody>
            </p:sp>
          </p:grp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60E171E-87DB-46F3-A50B-2005576135C2}"/>
                </a:ext>
              </a:extLst>
            </p:cNvPr>
            <p:cNvGrpSpPr/>
            <p:nvPr/>
          </p:nvGrpSpPr>
          <p:grpSpPr>
            <a:xfrm>
              <a:off x="7976767" y="2362917"/>
              <a:ext cx="3348110" cy="1702881"/>
              <a:chOff x="7994542" y="2362917"/>
              <a:chExt cx="3348110" cy="1702881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F3CDB50F-A675-4B26-B18F-5C064D303346}"/>
                  </a:ext>
                </a:extLst>
              </p:cNvPr>
              <p:cNvSpPr/>
              <p:nvPr/>
            </p:nvSpPr>
            <p:spPr>
              <a:xfrm>
                <a:off x="7994542" y="2546487"/>
                <a:ext cx="3348110" cy="1519311"/>
              </a:xfrm>
              <a:prstGeom prst="roundRect">
                <a:avLst>
                  <a:gd name="adj" fmla="val 50000"/>
                </a:avLst>
              </a:prstGeom>
              <a:solidFill>
                <a:schemeClr val="tx1">
                  <a:lumMod val="50000"/>
                  <a:lumOff val="50000"/>
                  <a:alpha val="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B5BA95F-2D69-426A-B826-4D0A986F0D22}"/>
                  </a:ext>
                </a:extLst>
              </p:cNvPr>
              <p:cNvGrpSpPr/>
              <p:nvPr/>
            </p:nvGrpSpPr>
            <p:grpSpPr>
              <a:xfrm>
                <a:off x="8589230" y="2362917"/>
                <a:ext cx="468104" cy="468102"/>
                <a:chOff x="5417189" y="2235779"/>
                <a:chExt cx="410200" cy="410198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3086ECFC-1893-4E78-8095-D69006A21A33}"/>
                    </a:ext>
                  </a:extLst>
                </p:cNvPr>
                <p:cNvSpPr/>
                <p:nvPr/>
              </p:nvSpPr>
              <p:spPr>
                <a:xfrm>
                  <a:off x="5417189" y="2235779"/>
                  <a:ext cx="410200" cy="410198"/>
                </a:xfrm>
                <a:prstGeom prst="ellipse">
                  <a:avLst/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EE879720-C59B-4805-8518-0B8677F86760}"/>
                    </a:ext>
                  </a:extLst>
                </p:cNvPr>
                <p:cNvSpPr/>
                <p:nvPr/>
              </p:nvSpPr>
              <p:spPr>
                <a:xfrm>
                  <a:off x="5533289" y="2369958"/>
                  <a:ext cx="178001" cy="148188"/>
                </a:xfrm>
                <a:custGeom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47802A0B-FE8E-4912-A1FB-4EE433BD3C32}"/>
                  </a:ext>
                </a:extLst>
              </p:cNvPr>
              <p:cNvGrpSpPr/>
              <p:nvPr/>
            </p:nvGrpSpPr>
            <p:grpSpPr>
              <a:xfrm>
                <a:off x="9207157" y="2798872"/>
                <a:ext cx="1817487" cy="1044233"/>
                <a:chOff x="8908992" y="2650728"/>
                <a:chExt cx="1817487" cy="1044233"/>
              </a:xfrm>
            </p:grpSpPr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BB033F5-D5C4-4EFA-9F88-4B7C6F6413CB}"/>
                    </a:ext>
                  </a:extLst>
                </p:cNvPr>
                <p:cNvSpPr txBox="1"/>
                <p:nvPr/>
              </p:nvSpPr>
              <p:spPr>
                <a:xfrm>
                  <a:off x="8908992" y="2650728"/>
                  <a:ext cx="1817485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91440" tIns="45720" rIns="91440" bIns="4572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1600" b="1"/>
                    <a:t>价值观的落实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8934C73-3346-4EA1-A97F-3091F29862FD}"/>
                    </a:ext>
                  </a:extLst>
                </p:cNvPr>
                <p:cNvSpPr txBox="1"/>
                <p:nvPr/>
              </p:nvSpPr>
              <p:spPr>
                <a:xfrm>
                  <a:off x="8908993" y="2956938"/>
                  <a:ext cx="1817486" cy="73802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spAutoFit/>
                </a:bodyPr>
                <a:lstStyle/>
                <a:p>
                  <a:pPr marL="0" marR="0" lvl="0" indent="0" defTabSz="913765" rtl="0" eaLnBrk="1" fontAlgn="auto" latinLnBrk="0" hangingPunct="1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Pct val="25000"/>
                    <a:buFontTx/>
                    <a:buNone/>
                    <a:defRPr/>
                  </a:pPr>
                  <a:r>
                    <a:rPr kumimoji="0" lang="zh-CN" altLang="en-US" sz="1200" b="0" i="0" u="none" strike="noStrike" kern="120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</a:rPr>
                    <a:t>将价值观落实到工作中，需要在日常工作中不断提醒自己并加以实践。</a:t>
                  </a:r>
                </a:p>
              </p:txBody>
            </p:sp>
          </p:grp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2FD8A7F-165E-4F38-B766-372DB089AABB}"/>
                </a:ext>
              </a:extLst>
            </p:cNvPr>
            <p:cNvSpPr txBox="1"/>
            <p:nvPr/>
          </p:nvSpPr>
          <p:spPr>
            <a:xfrm>
              <a:off x="1055078" y="1810575"/>
              <a:ext cx="5245914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zh-CN" altLang="en-US" sz="1200">
                  <a:solidFill>
                    <a:schemeClr val="tx1"/>
                  </a:solidFill>
                </a:rPr>
                <a:t>了解公司的价值观，将其融入日常工作中，能提高员工的绩效和工作效率。</a:t>
              </a:r>
            </a:p>
          </p:txBody>
        </p:sp>
      </p:grpSp>
      <p:sp>
        <p:nvSpPr>
          <p:cNvPr id="54" name="Title 53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价值观的实践应用</a:t>
            </a:r>
          </a:p>
        </p:txBody>
      </p:sp>
    </p:spTree>
    <p:custDataLst>
      <p:tags r:id="rId2"/>
    </p:custDataLst>
    <p:extLst>
      <p:ext uri="{BB962C8B-B14F-4D97-AF65-F5344CB8AC3E}">
        <p14:creationId val="3297771033"/>
      </p:ext>
    </p:extLst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4" name="Group 3"/>
          <p:cNvGrpSpPr/>
          <p:nvPr/>
        </p:nvGrpSpPr>
        <p:grpSpPr>
          <a:xfrm>
            <a:off x="0" y="1312994"/>
            <a:ext cx="12192000" cy="4577377"/>
            <a:chOff x="0" y="1312994"/>
            <a:chExt cx="12192000" cy="457737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0E383D0-B964-4105-AF11-A57AFACED110}"/>
                </a:ext>
              </a:extLst>
            </p:cNvPr>
            <p:cNvSpPr/>
            <p:nvPr/>
          </p:nvSpPr>
          <p:spPr>
            <a:xfrm>
              <a:off x="0" y="2679734"/>
              <a:ext cx="2316759" cy="2262656"/>
            </a:xfrm>
            <a:prstGeom prst="roundRect">
              <a:avLst>
                <a:gd name="adj" fmla="val 5528"/>
              </a:avLst>
            </a:prstGeom>
            <a:blipFill rotWithShape="0">
              <a:blip r:embed="rId2"/>
              <a:stretch>
                <a:fillRect l="-23060" r="-23060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9C1B639-1000-4856-B207-DB1EAC53ED4A}"/>
                </a:ext>
              </a:extLst>
            </p:cNvPr>
            <p:cNvSpPr/>
            <p:nvPr/>
          </p:nvSpPr>
          <p:spPr>
            <a:xfrm>
              <a:off x="9875241" y="2679734"/>
              <a:ext cx="2316759" cy="2262656"/>
            </a:xfrm>
            <a:prstGeom prst="roundRect">
              <a:avLst>
                <a:gd name="adj" fmla="val 5528"/>
              </a:avLst>
            </a:prstGeom>
            <a:blipFill rotWithShape="0">
              <a:blip r:embed="rId3"/>
              <a:stretch>
                <a:fillRect l="-23060" r="-23060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4C8F30B-AFC3-4C64-A0F2-9E3D2658FFFF}"/>
                </a:ext>
              </a:extLst>
            </p:cNvPr>
            <p:cNvSpPr txBox="1"/>
            <p:nvPr/>
          </p:nvSpPr>
          <p:spPr>
            <a:xfrm>
              <a:off x="2625844" y="1312994"/>
              <a:ext cx="69276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>
                  <a:solidFill>
                    <a:schemeClr val="tx1"/>
                  </a:solidFill>
                </a:rPr>
                <a:t>培养共同价值观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FF9BC56-9B83-4203-8607-22C7A1360042}"/>
                </a:ext>
              </a:extLst>
            </p:cNvPr>
            <p:cNvSpPr/>
            <p:nvPr/>
          </p:nvSpPr>
          <p:spPr>
            <a:xfrm flipH="1">
              <a:off x="2625844" y="1728776"/>
              <a:ext cx="6927613" cy="294824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 defTabSz="913765">
                <a:lnSpc>
                  <a:spcPct val="120000"/>
                </a:lnSpc>
                <a:buSzPct val="25000"/>
                <a:defRPr/>
              </a:pPr>
              <a:r>
                <a:rPr lang="zh-CN" altLang="en-US" sz="1200"/>
                <a:t>通过培养共同价值观，员工能够更好地理解公司的文化，从而提高工作效率。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F664982-D3DA-4D3B-A231-860225DFCED4}"/>
                </a:ext>
              </a:extLst>
            </p:cNvPr>
            <p:cNvGrpSpPr/>
            <p:nvPr/>
          </p:nvGrpSpPr>
          <p:grpSpPr>
            <a:xfrm>
              <a:off x="2564867" y="2679734"/>
              <a:ext cx="3407079" cy="3210637"/>
              <a:chOff x="2417514" y="2679734"/>
              <a:chExt cx="3407079" cy="3210637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F9573481-7FDF-4DAD-AE2C-541B910E13FC}"/>
                  </a:ext>
                </a:extLst>
              </p:cNvPr>
              <p:cNvSpPr/>
              <p:nvPr/>
            </p:nvSpPr>
            <p:spPr>
              <a:xfrm>
                <a:off x="2417514" y="2679734"/>
                <a:ext cx="3407079" cy="2262656"/>
              </a:xfrm>
              <a:prstGeom prst="roundRect">
                <a:avLst>
                  <a:gd name="adj" fmla="val 5528"/>
                </a:avLst>
              </a:prstGeom>
              <a:solidFill>
                <a:schemeClr val="tx1">
                  <a:alpha val="5000"/>
                </a:schemeClr>
              </a:solid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A7AF0E6-777B-4706-BB27-E8FC3C355469}"/>
                  </a:ext>
                </a:extLst>
              </p:cNvPr>
              <p:cNvGrpSpPr/>
              <p:nvPr/>
            </p:nvGrpSpPr>
            <p:grpSpPr>
              <a:xfrm>
                <a:off x="2773916" y="3760157"/>
                <a:ext cx="2694274" cy="591924"/>
                <a:chOff x="10079481" y="3610591"/>
                <a:chExt cx="1720451" cy="591924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C2FC015-0E37-47A6-8A56-329F1CBFACB4}"/>
                    </a:ext>
                  </a:extLst>
                </p:cNvPr>
                <p:cNvSpPr txBox="1"/>
                <p:nvPr/>
              </p:nvSpPr>
              <p:spPr>
                <a:xfrm>
                  <a:off x="10079481" y="3907691"/>
                  <a:ext cx="1720451" cy="294824"/>
                </a:xfrm>
                <a:prstGeom prst="rect">
                  <a:avLst/>
                </a:prstGeom>
                <a:noFill/>
                <a:ln w="38100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marR="0" lvl="0" defTabSz="913765" rtl="0" eaLnBrk="1" fontAlgn="auto" latinLnBrk="0" hangingPunct="1">
                    <a:lnSpc>
                      <a:spcPct val="12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Pct val="30000"/>
                    <a:defRPr/>
                  </a:pPr>
                  <a:r>
                    <a:rPr kumimoji="0" lang="zh-CN" altLang="en-US" sz="120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</a:rPr>
                    <a:t>员工激励：提升工作积极性的策略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FBD1404-443E-4FB5-9DA0-38DD55193806}"/>
                    </a:ext>
                  </a:extLst>
                </p:cNvPr>
                <p:cNvSpPr txBox="1"/>
                <p:nvPr/>
              </p:nvSpPr>
              <p:spPr>
                <a:xfrm>
                  <a:off x="10079481" y="3610591"/>
                  <a:ext cx="1720451" cy="369332"/>
                </a:xfrm>
                <a:prstGeom prst="rect">
                  <a:avLst/>
                </a:prstGeom>
                <a:noFill/>
                <a:ln w="38100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b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pPr marR="0" lvl="0" defTabSz="913765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Pct val="25000"/>
                    <a:defRPr/>
                  </a:pPr>
                  <a:r>
                    <a:rPr kumimoji="0" lang="zh-CN" altLang="en-US" sz="1600" b="1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</a:rPr>
                    <a:t>文化的重要性</a:t>
                  </a: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1EE8C3C-4DE1-492A-87BC-C376CE23207F}"/>
                  </a:ext>
                </a:extLst>
              </p:cNvPr>
              <p:cNvGrpSpPr/>
              <p:nvPr/>
            </p:nvGrpSpPr>
            <p:grpSpPr>
              <a:xfrm>
                <a:off x="3858321" y="3018905"/>
                <a:ext cx="525465" cy="525465"/>
                <a:chOff x="1540339" y="1164218"/>
                <a:chExt cx="454025" cy="454025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22F26F15-AC3A-4B92-9773-EFED6A7D711C}"/>
                    </a:ext>
                  </a:extLst>
                </p:cNvPr>
                <p:cNvSpPr/>
                <p:nvPr/>
              </p:nvSpPr>
              <p:spPr>
                <a:xfrm>
                  <a:off x="1540339" y="1164218"/>
                  <a:ext cx="454025" cy="454025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3ED703D1-126B-4215-9011-11923DFDDAE5}"/>
                    </a:ext>
                  </a:extLst>
                </p:cNvPr>
                <p:cNvSpPr/>
                <p:nvPr/>
              </p:nvSpPr>
              <p:spPr bwMode="auto">
                <a:xfrm>
                  <a:off x="1686469" y="1282040"/>
                  <a:ext cx="161764" cy="218380"/>
                </a:xfrm>
                <a:custGeom>
                  <a:gdLst>
                    <a:gd name="connsiteX0" fmla="*/ 86973 w 381000"/>
                    <a:gd name="connsiteY0" fmla="*/ 38721 h 514350"/>
                    <a:gd name="connsiteX1" fmla="*/ 86973 w 381000"/>
                    <a:gd name="connsiteY1" fmla="*/ 57771 h 514350"/>
                    <a:gd name="connsiteX2" fmla="*/ 123168 w 381000"/>
                    <a:gd name="connsiteY2" fmla="*/ 95871 h 514350"/>
                    <a:gd name="connsiteX3" fmla="*/ 125073 w 381000"/>
                    <a:gd name="connsiteY3" fmla="*/ 95871 h 514350"/>
                    <a:gd name="connsiteX4" fmla="*/ 258423 w 381000"/>
                    <a:gd name="connsiteY4" fmla="*/ 95871 h 514350"/>
                    <a:gd name="connsiteX5" fmla="*/ 296523 w 381000"/>
                    <a:gd name="connsiteY5" fmla="*/ 59676 h 514350"/>
                    <a:gd name="connsiteX6" fmla="*/ 296523 w 381000"/>
                    <a:gd name="connsiteY6" fmla="*/ 57771 h 514350"/>
                    <a:gd name="connsiteX7" fmla="*/ 296523 w 381000"/>
                    <a:gd name="connsiteY7" fmla="*/ 38721 h 514350"/>
                    <a:gd name="connsiteX8" fmla="*/ 353673 w 381000"/>
                    <a:gd name="connsiteY8" fmla="*/ 38721 h 514350"/>
                    <a:gd name="connsiteX9" fmla="*/ 382248 w 381000"/>
                    <a:gd name="connsiteY9" fmla="*/ 67296 h 514350"/>
                    <a:gd name="connsiteX10" fmla="*/ 382248 w 381000"/>
                    <a:gd name="connsiteY10" fmla="*/ 486396 h 514350"/>
                    <a:gd name="connsiteX11" fmla="*/ 353673 w 381000"/>
                    <a:gd name="connsiteY11" fmla="*/ 514971 h 514350"/>
                    <a:gd name="connsiteX12" fmla="*/ 29823 w 381000"/>
                    <a:gd name="connsiteY12" fmla="*/ 514971 h 514350"/>
                    <a:gd name="connsiteX13" fmla="*/ 1248 w 381000"/>
                    <a:gd name="connsiteY13" fmla="*/ 486396 h 514350"/>
                    <a:gd name="connsiteX14" fmla="*/ 1248 w 381000"/>
                    <a:gd name="connsiteY14" fmla="*/ 67296 h 514350"/>
                    <a:gd name="connsiteX15" fmla="*/ 29823 w 381000"/>
                    <a:gd name="connsiteY15" fmla="*/ 38721 h 514350"/>
                    <a:gd name="connsiteX16" fmla="*/ 86973 w 381000"/>
                    <a:gd name="connsiteY16" fmla="*/ 38721 h 514350"/>
                    <a:gd name="connsiteX17" fmla="*/ 191748 w 381000"/>
                    <a:gd name="connsiteY17" fmla="*/ 333996 h 514350"/>
                    <a:gd name="connsiteX18" fmla="*/ 77448 w 381000"/>
                    <a:gd name="connsiteY18" fmla="*/ 333996 h 514350"/>
                    <a:gd name="connsiteX19" fmla="*/ 77448 w 381000"/>
                    <a:gd name="connsiteY19" fmla="*/ 353046 h 514350"/>
                    <a:gd name="connsiteX20" fmla="*/ 191748 w 381000"/>
                    <a:gd name="connsiteY20" fmla="*/ 353046 h 514350"/>
                    <a:gd name="connsiteX21" fmla="*/ 191748 w 381000"/>
                    <a:gd name="connsiteY21" fmla="*/ 333996 h 514350"/>
                    <a:gd name="connsiteX22" fmla="*/ 306048 w 381000"/>
                    <a:gd name="connsiteY22" fmla="*/ 257796 h 514350"/>
                    <a:gd name="connsiteX23" fmla="*/ 77448 w 381000"/>
                    <a:gd name="connsiteY23" fmla="*/ 257796 h 514350"/>
                    <a:gd name="connsiteX24" fmla="*/ 77448 w 381000"/>
                    <a:gd name="connsiteY24" fmla="*/ 276846 h 514350"/>
                    <a:gd name="connsiteX25" fmla="*/ 306048 w 381000"/>
                    <a:gd name="connsiteY25" fmla="*/ 276846 h 514350"/>
                    <a:gd name="connsiteX26" fmla="*/ 306048 w 381000"/>
                    <a:gd name="connsiteY26" fmla="*/ 257796 h 514350"/>
                    <a:gd name="connsiteX27" fmla="*/ 306048 w 381000"/>
                    <a:gd name="connsiteY27" fmla="*/ 181596 h 514350"/>
                    <a:gd name="connsiteX28" fmla="*/ 77448 w 381000"/>
                    <a:gd name="connsiteY28" fmla="*/ 181596 h 514350"/>
                    <a:gd name="connsiteX29" fmla="*/ 77448 w 381000"/>
                    <a:gd name="connsiteY29" fmla="*/ 200646 h 514350"/>
                    <a:gd name="connsiteX30" fmla="*/ 306048 w 381000"/>
                    <a:gd name="connsiteY30" fmla="*/ 200646 h 514350"/>
                    <a:gd name="connsiteX31" fmla="*/ 306048 w 381000"/>
                    <a:gd name="connsiteY31" fmla="*/ 181596 h 514350"/>
                    <a:gd name="connsiteX32" fmla="*/ 248898 w 381000"/>
                    <a:gd name="connsiteY32" fmla="*/ 621 h 514350"/>
                    <a:gd name="connsiteX33" fmla="*/ 277473 w 381000"/>
                    <a:gd name="connsiteY33" fmla="*/ 29196 h 514350"/>
                    <a:gd name="connsiteX34" fmla="*/ 277473 w 381000"/>
                    <a:gd name="connsiteY34" fmla="*/ 48246 h 514350"/>
                    <a:gd name="connsiteX35" fmla="*/ 248898 w 381000"/>
                    <a:gd name="connsiteY35" fmla="*/ 76821 h 514350"/>
                    <a:gd name="connsiteX36" fmla="*/ 134598 w 381000"/>
                    <a:gd name="connsiteY36" fmla="*/ 76821 h 514350"/>
                    <a:gd name="connsiteX37" fmla="*/ 106023 w 381000"/>
                    <a:gd name="connsiteY37" fmla="*/ 48246 h 514350"/>
                    <a:gd name="connsiteX38" fmla="*/ 106023 w 381000"/>
                    <a:gd name="connsiteY38" fmla="*/ 29196 h 514350"/>
                    <a:gd name="connsiteX39" fmla="*/ 134598 w 381000"/>
                    <a:gd name="connsiteY39" fmla="*/ 621 h 514350"/>
                    <a:gd name="connsiteX40" fmla="*/ 248898 w 381000"/>
                    <a:gd name="connsiteY40" fmla="*/ 621 h 5143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</a:cxnLst>
                  <a:rect l="l" t="t" r="r" b="b"/>
                  <a:pathLst>
                    <a:path w="381000" h="514350">
                      <a:moveTo>
                        <a:pt x="86973" y="38721"/>
                      </a:moveTo>
                      <a:lnTo>
                        <a:pt x="86973" y="57771"/>
                      </a:lnTo>
                      <a:cubicBezTo>
                        <a:pt x="86973" y="78155"/>
                        <a:pt x="102975" y="94823"/>
                        <a:pt x="123168" y="95871"/>
                      </a:cubicBezTo>
                      <a:lnTo>
                        <a:pt x="125073" y="95871"/>
                      </a:lnTo>
                      <a:lnTo>
                        <a:pt x="258423" y="95871"/>
                      </a:lnTo>
                      <a:cubicBezTo>
                        <a:pt x="278807" y="95871"/>
                        <a:pt x="295475" y="79869"/>
                        <a:pt x="296523" y="59676"/>
                      </a:cubicBezTo>
                      <a:lnTo>
                        <a:pt x="296523" y="57771"/>
                      </a:lnTo>
                      <a:lnTo>
                        <a:pt x="296523" y="38721"/>
                      </a:lnTo>
                      <a:lnTo>
                        <a:pt x="353673" y="38721"/>
                      </a:lnTo>
                      <a:cubicBezTo>
                        <a:pt x="369485" y="38721"/>
                        <a:pt x="382248" y="51485"/>
                        <a:pt x="382248" y="67296"/>
                      </a:cubicBezTo>
                      <a:lnTo>
                        <a:pt x="382248" y="486396"/>
                      </a:lnTo>
                      <a:cubicBezTo>
                        <a:pt x="382248" y="502207"/>
                        <a:pt x="369485" y="514971"/>
                        <a:pt x="353673" y="514971"/>
                      </a:cubicBezTo>
                      <a:lnTo>
                        <a:pt x="29823" y="514971"/>
                      </a:lnTo>
                      <a:cubicBezTo>
                        <a:pt x="14011" y="514971"/>
                        <a:pt x="1248" y="502207"/>
                        <a:pt x="1248" y="486396"/>
                      </a:cubicBezTo>
                      <a:lnTo>
                        <a:pt x="1248" y="67296"/>
                      </a:lnTo>
                      <a:cubicBezTo>
                        <a:pt x="1248" y="51485"/>
                        <a:pt x="14011" y="38721"/>
                        <a:pt x="29823" y="38721"/>
                      </a:cubicBezTo>
                      <a:lnTo>
                        <a:pt x="86973" y="38721"/>
                      </a:lnTo>
                      <a:close/>
                      <a:moveTo>
                        <a:pt x="191748" y="333996"/>
                      </a:moveTo>
                      <a:lnTo>
                        <a:pt x="77448" y="333996"/>
                      </a:lnTo>
                      <a:lnTo>
                        <a:pt x="77448" y="353046"/>
                      </a:lnTo>
                      <a:lnTo>
                        <a:pt x="191748" y="353046"/>
                      </a:lnTo>
                      <a:lnTo>
                        <a:pt x="191748" y="333996"/>
                      </a:lnTo>
                      <a:close/>
                      <a:moveTo>
                        <a:pt x="306048" y="257796"/>
                      </a:moveTo>
                      <a:lnTo>
                        <a:pt x="77448" y="257796"/>
                      </a:lnTo>
                      <a:lnTo>
                        <a:pt x="77448" y="276846"/>
                      </a:lnTo>
                      <a:lnTo>
                        <a:pt x="306048" y="276846"/>
                      </a:lnTo>
                      <a:lnTo>
                        <a:pt x="306048" y="257796"/>
                      </a:lnTo>
                      <a:close/>
                      <a:moveTo>
                        <a:pt x="306048" y="181596"/>
                      </a:moveTo>
                      <a:lnTo>
                        <a:pt x="77448" y="181596"/>
                      </a:lnTo>
                      <a:lnTo>
                        <a:pt x="77448" y="200646"/>
                      </a:lnTo>
                      <a:lnTo>
                        <a:pt x="306048" y="200646"/>
                      </a:lnTo>
                      <a:lnTo>
                        <a:pt x="306048" y="181596"/>
                      </a:lnTo>
                      <a:close/>
                      <a:moveTo>
                        <a:pt x="248898" y="621"/>
                      </a:moveTo>
                      <a:cubicBezTo>
                        <a:pt x="264710" y="621"/>
                        <a:pt x="277473" y="13385"/>
                        <a:pt x="277473" y="29196"/>
                      </a:cubicBezTo>
                      <a:lnTo>
                        <a:pt x="277473" y="48246"/>
                      </a:lnTo>
                      <a:cubicBezTo>
                        <a:pt x="277473" y="64057"/>
                        <a:pt x="264710" y="76821"/>
                        <a:pt x="248898" y="76821"/>
                      </a:cubicBezTo>
                      <a:lnTo>
                        <a:pt x="134598" y="76821"/>
                      </a:lnTo>
                      <a:cubicBezTo>
                        <a:pt x="118786" y="76821"/>
                        <a:pt x="106023" y="64057"/>
                        <a:pt x="106023" y="48246"/>
                      </a:cubicBezTo>
                      <a:lnTo>
                        <a:pt x="106023" y="29196"/>
                      </a:lnTo>
                      <a:cubicBezTo>
                        <a:pt x="106023" y="13385"/>
                        <a:pt x="118786" y="621"/>
                        <a:pt x="134598" y="621"/>
                      </a:cubicBezTo>
                      <a:lnTo>
                        <a:pt x="248898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B6B5E85-46B4-46A0-BCCF-99BAD31657AA}"/>
                  </a:ext>
                </a:extLst>
              </p:cNvPr>
              <p:cNvSpPr txBox="1"/>
              <p:nvPr/>
            </p:nvSpPr>
            <p:spPr>
              <a:xfrm>
                <a:off x="3619988" y="5305596"/>
                <a:ext cx="100213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>
                    <a:solidFill>
                      <a:schemeClr val="accent1">
                        <a:alpha val="10000"/>
                      </a:schemeClr>
                    </a:solidFill>
                  </a:rPr>
                  <a:t>01</a:t>
                </a:r>
                <a:endParaRPr lang="zh-CN" altLang="en-US" sz="3200" b="1">
                  <a:solidFill>
                    <a:schemeClr val="accent1">
                      <a:alpha val="10000"/>
                    </a:schemeClr>
                  </a:solidFill>
                </a:endParaRPr>
              </a:p>
            </p:txBody>
          </p:sp>
        </p:grp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BD66488-20BC-4604-914E-DF3651AD1529}"/>
                </a:ext>
              </a:extLst>
            </p:cNvPr>
            <p:cNvSpPr/>
            <p:nvPr/>
          </p:nvSpPr>
          <p:spPr>
            <a:xfrm>
              <a:off x="6220054" y="2679734"/>
              <a:ext cx="3407079" cy="2262656"/>
            </a:xfrm>
            <a:prstGeom prst="roundRect">
              <a:avLst>
                <a:gd name="adj" fmla="val 5528"/>
              </a:avLst>
            </a:prstGeom>
            <a:solidFill>
              <a:schemeClr val="tx1">
                <a:alpha val="5000"/>
              </a:schemeClr>
            </a:solid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FB9E9E-A875-4FAE-A5D4-3D290F5F975C}"/>
                </a:ext>
              </a:extLst>
            </p:cNvPr>
            <p:cNvSpPr txBox="1"/>
            <p:nvPr/>
          </p:nvSpPr>
          <p:spPr>
            <a:xfrm>
              <a:off x="6576456" y="4057257"/>
              <a:ext cx="2694274" cy="294824"/>
            </a:xfrm>
            <a:prstGeom prst="rect">
              <a:avLst/>
            </a:prstGeom>
            <a:noFill/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algn="ctr"/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R="0" lvl="0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30000"/>
                <a:defRPr/>
              </a:pPr>
              <a:r>
                <a:rPr kumimoji="0" lang="zh-CN" altLang="en-US" sz="12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rPr>
                <a:t>引导员工的行为准则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796919B-E476-490B-BFE3-E2C0EF22A061}"/>
                </a:ext>
              </a:extLst>
            </p:cNvPr>
            <p:cNvSpPr txBox="1"/>
            <p:nvPr/>
          </p:nvSpPr>
          <p:spPr>
            <a:xfrm>
              <a:off x="6576456" y="3760157"/>
              <a:ext cx="2694274" cy="369332"/>
            </a:xfrm>
            <a:prstGeom prst="rect">
              <a:avLst/>
            </a:prstGeom>
            <a:noFill/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rmAutofit/>
            </a:bodyPr>
            <a:lstStyle>
              <a:defPPr>
                <a:defRPr lang="zh-CN"/>
              </a:defPPr>
              <a:lvl1pPr algn="ctr"/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R="0" lvl="0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</a:rPr>
                <a:t>价值观的作用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D9374A9-5187-428E-B5FB-658603F92386}"/>
                </a:ext>
              </a:extLst>
            </p:cNvPr>
            <p:cNvGrpSpPr/>
            <p:nvPr/>
          </p:nvGrpSpPr>
          <p:grpSpPr>
            <a:xfrm>
              <a:off x="7660861" y="3018905"/>
              <a:ext cx="525465" cy="525465"/>
              <a:chOff x="6647853" y="1151203"/>
              <a:chExt cx="454025" cy="454025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033AA99A-71D7-47F6-A1B8-01454666E153}"/>
                  </a:ext>
                </a:extLst>
              </p:cNvPr>
              <p:cNvSpPr/>
              <p:nvPr/>
            </p:nvSpPr>
            <p:spPr>
              <a:xfrm>
                <a:off x="6647853" y="1151203"/>
                <a:ext cx="454025" cy="454025"/>
              </a:xfrm>
              <a:prstGeom prst="ellipse">
                <a:avLst/>
              </a:prstGeom>
              <a:solidFill>
                <a:schemeClr val="tx1">
                  <a:alpha val="20000"/>
                </a:schemeClr>
              </a:solid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686ED918-C53E-41EB-9C25-983DF476E021}"/>
                  </a:ext>
                </a:extLst>
              </p:cNvPr>
              <p:cNvSpPr/>
              <p:nvPr/>
            </p:nvSpPr>
            <p:spPr bwMode="auto">
              <a:xfrm>
                <a:off x="6765675" y="1287313"/>
                <a:ext cx="218381" cy="181805"/>
              </a:xfrm>
              <a:custGeom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878F1A3-80DE-4EDA-8ED8-F3E22DBDD3C2}"/>
                </a:ext>
              </a:extLst>
            </p:cNvPr>
            <p:cNvSpPr txBox="1"/>
            <p:nvPr/>
          </p:nvSpPr>
          <p:spPr>
            <a:xfrm>
              <a:off x="7422528" y="5305596"/>
              <a:ext cx="100213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>
                  <a:solidFill>
                    <a:schemeClr val="tx1">
                      <a:alpha val="10000"/>
                    </a:schemeClr>
                  </a:solidFill>
                </a:rPr>
                <a:t>02</a:t>
              </a:r>
              <a:endParaRPr lang="zh-CN" altLang="en-US" sz="3200" b="1">
                <a:solidFill>
                  <a:schemeClr val="tx1">
                    <a:alpha val="10000"/>
                  </a:schemeClr>
                </a:solidFill>
              </a:endParaRPr>
            </a:p>
          </p:txBody>
        </p:sp>
      </p:grpSp>
      <p:sp>
        <p:nvSpPr>
          <p:cNvPr id="42" name="Title 4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文化驱动效率</a:t>
            </a:r>
          </a:p>
        </p:txBody>
      </p:sp>
    </p:spTree>
    <p:custDataLst>
      <p:tags r:id="rId4"/>
    </p:custDataLst>
    <p:extLst>
      <p:ext uri="{BB962C8B-B14F-4D97-AF65-F5344CB8AC3E}">
        <p14:creationId val="3039267048"/>
      </p:ext>
    </p:extLst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altLang="zh-CN"/>
              <a:t>02.技巧概念重要性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基础办公技巧的重要性</a:t>
            </a:r>
            <a:endParaRPr lang="en-US" altLang="zh-CN"/>
          </a:p>
        </p:txBody>
      </p:sp>
    </p:spTree>
    <p:custDataLst>
      <p:tags r:id="rId2"/>
    </p:custDataLst>
    <p:extLst>
      <p:ext uri="{BB962C8B-B14F-4D97-AF65-F5344CB8AC3E}">
        <p14:creationId val="324174377"/>
      </p:ext>
    </p:extLst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D7C8DD1-CCD5-1387-2BED-04874CEC19CD}"/>
              </a:ext>
            </a:extLst>
          </p:cNvPr>
          <p:cNvGrpSpPr/>
          <p:nvPr/>
        </p:nvGrpSpPr>
        <p:grpSpPr>
          <a:xfrm>
            <a:off x="0" y="371097"/>
            <a:ext cx="11518900" cy="5918519"/>
            <a:chOff x="0" y="371097"/>
            <a:chExt cx="11518900" cy="5918519"/>
          </a:xfrm>
        </p:grpSpPr>
        <p:grpSp>
          <p:nvGrpSpPr>
            <p:cNvPr id="2" name="Group 1"/>
            <p:cNvGrpSpPr/>
            <p:nvPr/>
          </p:nvGrpSpPr>
          <p:grpSpPr>
            <a:xfrm>
              <a:off x="0" y="371097"/>
              <a:ext cx="5140705" cy="5918519"/>
              <a:chOff x="0" y="1130300"/>
              <a:chExt cx="4202796" cy="4838699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ABBE326-83EB-7593-02E7-F7BCC445A388}"/>
                  </a:ext>
                </a:extLst>
              </p:cNvPr>
              <p:cNvSpPr/>
              <p:nvPr/>
            </p:nvSpPr>
            <p:spPr>
              <a:xfrm>
                <a:off x="0" y="1130300"/>
                <a:ext cx="2419350" cy="4838699"/>
              </a:xfrm>
              <a:custGeom>
                <a:gdLst>
                  <a:gd name="connsiteX0" fmla="*/ 0 w 2286000"/>
                  <a:gd name="connsiteY0" fmla="*/ 0 h 4572000"/>
                  <a:gd name="connsiteX1" fmla="*/ 2286000 w 2286000"/>
                  <a:gd name="connsiteY1" fmla="*/ 2286000 h 4572000"/>
                  <a:gd name="connsiteX2" fmla="*/ 0 w 2286000"/>
                  <a:gd name="connsiteY2" fmla="*/ 4572000 h 457200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286000" h="4572000">
                    <a:moveTo>
                      <a:pt x="0" y="0"/>
                    </a:moveTo>
                    <a:cubicBezTo>
                      <a:pt x="1262523" y="0"/>
                      <a:pt x="2286000" y="1023477"/>
                      <a:pt x="2286000" y="2286000"/>
                    </a:cubicBezTo>
                    <a:cubicBezTo>
                      <a:pt x="2286000" y="3548523"/>
                      <a:pt x="1262523" y="4572000"/>
                      <a:pt x="0" y="4572000"/>
                    </a:cubicBezTo>
                    <a:close/>
                  </a:path>
                </a:pathLst>
              </a:custGeom>
              <a:solidFill>
                <a:schemeClr val="tx2">
                  <a:alpha val="15000"/>
                </a:schemeClr>
              </a:solidFill>
              <a:ln w="12700" cap="flat">
                <a:noFill/>
                <a:prstDash val="solid"/>
                <a:miter/>
              </a:ln>
            </p:spPr>
            <p:txBody>
              <a:bodyPr lIns="91440" tIns="93600" rIns="91440" bIns="45720" rtlCol="0" anchor="ctr"/>
              <a:lstStyle/>
              <a:p>
                <a:pPr algn="ctr"/>
                <a:endParaRPr kumimoji="1" lang="zh-CN" altLang="en-US" sz="1050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4E11B540-1416-365C-B9B3-140F4183A570}"/>
                  </a:ext>
                </a:extLst>
              </p:cNvPr>
              <p:cNvSpPr/>
              <p:nvPr/>
            </p:nvSpPr>
            <p:spPr>
              <a:xfrm>
                <a:off x="1138614" y="3632200"/>
                <a:ext cx="3064182" cy="1505130"/>
              </a:xfrm>
              <a:custGeom>
                <a:gdLst>
                  <a:gd name="connsiteX0" fmla="*/ 0 w 3064182"/>
                  <a:gd name="connsiteY0" fmla="*/ 0 h 1505130"/>
                  <a:gd name="connsiteX1" fmla="*/ 3064182 w 3064182"/>
                  <a:gd name="connsiteY1" fmla="*/ 0 h 1505130"/>
                  <a:gd name="connsiteX2" fmla="*/ 3057699 w 3064182"/>
                  <a:gd name="connsiteY2" fmla="*/ 128399 h 1505130"/>
                  <a:gd name="connsiteX3" fmla="*/ 1532091 w 3064182"/>
                  <a:gd name="connsiteY3" fmla="*/ 1505130 h 1505130"/>
                  <a:gd name="connsiteX4" fmla="*/ 6483 w 3064182"/>
                  <a:gd name="connsiteY4" fmla="*/ 128399 h 150513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4182" h="1505130">
                    <a:moveTo>
                      <a:pt x="0" y="0"/>
                    </a:moveTo>
                    <a:lnTo>
                      <a:pt x="3064182" y="0"/>
                    </a:lnTo>
                    <a:lnTo>
                      <a:pt x="3057699" y="128399"/>
                    </a:lnTo>
                    <a:cubicBezTo>
                      <a:pt x="2979167" y="901688"/>
                      <a:pt x="2326099" y="1505130"/>
                      <a:pt x="1532091" y="1505130"/>
                    </a:cubicBezTo>
                    <a:cubicBezTo>
                      <a:pt x="738083" y="1505130"/>
                      <a:pt x="85015" y="901688"/>
                      <a:pt x="6483" y="128399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839DD37-C7DF-5923-8D34-5935F7E9B7EA}"/>
                </a:ext>
              </a:extLst>
            </p:cNvPr>
            <p:cNvGrpSpPr/>
            <p:nvPr/>
          </p:nvGrpSpPr>
          <p:grpSpPr>
            <a:xfrm>
              <a:off x="6237037" y="1259113"/>
              <a:ext cx="5281863" cy="1288075"/>
              <a:chOff x="6237037" y="1130300"/>
              <a:chExt cx="5281863" cy="1288075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EC70938-79F8-77CB-C98D-E4B162C9A6BA}"/>
                  </a:ext>
                </a:extLst>
              </p:cNvPr>
              <p:cNvSpPr/>
              <p:nvPr/>
            </p:nvSpPr>
            <p:spPr>
              <a:xfrm>
                <a:off x="6237037" y="1130300"/>
                <a:ext cx="5281863" cy="1288075"/>
              </a:xfrm>
              <a:prstGeom prst="roundRect">
                <a:avLst>
                  <a:gd name="adj" fmla="val 1000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424334-91B3-6851-8C52-6FF13EC3C0D8}"/>
                  </a:ext>
                </a:extLst>
              </p:cNvPr>
              <p:cNvSpPr/>
              <p:nvPr/>
            </p:nvSpPr>
            <p:spPr>
              <a:xfrm>
                <a:off x="7036366" y="1306675"/>
                <a:ext cx="4266534" cy="4643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08000" tIns="108000" rIns="108000" bIns="108000" rtlCol="0" anchor="b" anchorCtr="0">
                <a:normAutofit/>
              </a:bodyPr>
              <a:lstStyle/>
              <a:p>
                <a:pPr defTabSz="914354">
                  <a:lnSpc>
                    <a:spcPct val="100000"/>
                  </a:lnSpc>
                </a:pPr>
                <a:r>
                  <a:rPr lang="zh-CN" altLang="en-US" sz="1600" b="1">
                    <a:solidFill>
                      <a:schemeClr val="tx1"/>
                    </a:solidFill>
                    <a:effectLst/>
                  </a:rPr>
                  <a:t>提高工作效率</a:t>
                </a:r>
                <a:endParaRPr lang="en-US" altLang="zh-CN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6FE860E-ACFA-213D-BEB7-14AD85FB0904}"/>
                  </a:ext>
                </a:extLst>
              </p:cNvPr>
              <p:cNvSpPr/>
              <p:nvPr/>
            </p:nvSpPr>
            <p:spPr>
              <a:xfrm>
                <a:off x="7036367" y="1644620"/>
                <a:ext cx="4266533" cy="642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学习并应用办公技巧可以帮助员工更快地完成任务，节省时间和精力。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AC4CCC-66D9-B632-E72D-A5F419F37FA6}"/>
                  </a:ext>
                </a:extLst>
              </p:cNvPr>
              <p:cNvSpPr txBox="1"/>
              <p:nvPr/>
            </p:nvSpPr>
            <p:spPr>
              <a:xfrm>
                <a:off x="6453037" y="1504337"/>
                <a:ext cx="540000" cy="540000"/>
              </a:xfrm>
              <a:prstGeom prst="ellipse">
                <a:avLst/>
              </a:prstGeom>
              <a:solidFill>
                <a:schemeClr val="accent1"/>
              </a:solidFill>
            </p:spPr>
            <p:txBody>
              <a:bodyPr wrap="non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lang="en-US" altLang="zh-CN"/>
                  <a:t>01</a:t>
                </a:r>
                <a:endParaRPr lang="zh-CN" alt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839DD37-C7DF-5923-8D34-5935F7E9B7EA}"/>
                </a:ext>
              </a:extLst>
            </p:cNvPr>
            <p:cNvGrpSpPr/>
            <p:nvPr/>
          </p:nvGrpSpPr>
          <p:grpSpPr>
            <a:xfrm>
              <a:off x="6237037" y="2966782"/>
              <a:ext cx="5281863" cy="1288075"/>
              <a:chOff x="6237037" y="1130300"/>
              <a:chExt cx="5281863" cy="1288075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6EC70938-79F8-77CB-C98D-E4B162C9A6BA}"/>
                  </a:ext>
                </a:extLst>
              </p:cNvPr>
              <p:cNvSpPr/>
              <p:nvPr/>
            </p:nvSpPr>
            <p:spPr>
              <a:xfrm>
                <a:off x="6237037" y="1130300"/>
                <a:ext cx="5281863" cy="1288075"/>
              </a:xfrm>
              <a:prstGeom prst="roundRect">
                <a:avLst>
                  <a:gd name="adj" fmla="val 1000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8424334-91B3-6851-8C52-6FF13EC3C0D8}"/>
                  </a:ext>
                </a:extLst>
              </p:cNvPr>
              <p:cNvSpPr/>
              <p:nvPr/>
            </p:nvSpPr>
            <p:spPr>
              <a:xfrm>
                <a:off x="7036366" y="1306675"/>
                <a:ext cx="4266534" cy="4643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08000" tIns="108000" rIns="108000" bIns="108000" rtlCol="0" anchor="b" anchorCtr="0">
                <a:normAutofit/>
              </a:bodyPr>
              <a:lstStyle/>
              <a:p>
                <a:pPr defTabSz="914354">
                  <a:lnSpc>
                    <a:spcPct val="100000"/>
                  </a:lnSpc>
                </a:pPr>
                <a:r>
                  <a:rPr lang="zh-CN" altLang="en-US" sz="1600" b="1">
                    <a:solidFill>
                      <a:schemeClr val="tx1"/>
                    </a:solidFill>
                    <a:effectLst/>
                  </a:rPr>
                  <a:t>增强工作质量</a:t>
                </a:r>
                <a:endParaRPr lang="en-US" altLang="zh-CN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46FE860E-ACFA-213D-BEB7-14AD85FB0904}"/>
                  </a:ext>
                </a:extLst>
              </p:cNvPr>
              <p:cNvSpPr/>
              <p:nvPr/>
            </p:nvSpPr>
            <p:spPr>
              <a:xfrm>
                <a:off x="7036367" y="1644620"/>
                <a:ext cx="4266533" cy="4206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掌握办公技巧可以提高工作准确性和质量，减少错误和疏忽。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AC4CCC-66D9-B632-E72D-A5F419F37FA6}"/>
                  </a:ext>
                </a:extLst>
              </p:cNvPr>
              <p:cNvSpPr txBox="1"/>
              <p:nvPr/>
            </p:nvSpPr>
            <p:spPr>
              <a:xfrm>
                <a:off x="6453037" y="1504337"/>
                <a:ext cx="540000" cy="540000"/>
              </a:xfrm>
              <a:prstGeom prst="ellipse">
                <a:avLst/>
              </a:prstGeom>
              <a:solidFill>
                <a:schemeClr val="accent1"/>
              </a:solidFill>
            </p:spPr>
            <p:txBody>
              <a:bodyPr wrap="non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lang="en-US" altLang="zh-CN"/>
                  <a:t>02</a:t>
                </a:r>
                <a:endParaRPr lang="zh-CN" alt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839DD37-C7DF-5923-8D34-5935F7E9B7EA}"/>
                </a:ext>
              </a:extLst>
            </p:cNvPr>
            <p:cNvGrpSpPr/>
            <p:nvPr/>
          </p:nvGrpSpPr>
          <p:grpSpPr>
            <a:xfrm>
              <a:off x="6237037" y="4674450"/>
              <a:ext cx="5281863" cy="1288075"/>
              <a:chOff x="6237037" y="1130300"/>
              <a:chExt cx="5281863" cy="1288075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6EC70938-79F8-77CB-C98D-E4B162C9A6BA}"/>
                  </a:ext>
                </a:extLst>
              </p:cNvPr>
              <p:cNvSpPr/>
              <p:nvPr/>
            </p:nvSpPr>
            <p:spPr>
              <a:xfrm>
                <a:off x="6237037" y="1130300"/>
                <a:ext cx="5281863" cy="1288075"/>
              </a:xfrm>
              <a:prstGeom prst="roundRect">
                <a:avLst>
                  <a:gd name="adj" fmla="val 1000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8424334-91B3-6851-8C52-6FF13EC3C0D8}"/>
                  </a:ext>
                </a:extLst>
              </p:cNvPr>
              <p:cNvSpPr/>
              <p:nvPr/>
            </p:nvSpPr>
            <p:spPr>
              <a:xfrm>
                <a:off x="7036366" y="1306675"/>
                <a:ext cx="4266534" cy="4643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08000" tIns="108000" rIns="108000" bIns="108000" rtlCol="0" anchor="b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>
                    <a:solidFill>
                      <a:schemeClr val="tx1"/>
                    </a:solidFill>
                    <a:effectLst/>
                  </a:rPr>
                  <a:t>提升个人能力</a:t>
                </a:r>
                <a:endParaRPr kumimoji="1" lang="en-US" altLang="zh-CN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6FE860E-ACFA-213D-BEB7-14AD85FB0904}"/>
                  </a:ext>
                </a:extLst>
              </p:cNvPr>
              <p:cNvSpPr/>
              <p:nvPr/>
            </p:nvSpPr>
            <p:spPr>
              <a:xfrm>
                <a:off x="7036367" y="1644620"/>
                <a:ext cx="4266533" cy="642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办公技巧的应用不仅可以改善工作效率，还可以培养员工的自我管理和解决问题的能力。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7AC4CCC-66D9-B632-E72D-A5F419F37FA6}"/>
                  </a:ext>
                </a:extLst>
              </p:cNvPr>
              <p:cNvSpPr txBox="1"/>
              <p:nvPr/>
            </p:nvSpPr>
            <p:spPr>
              <a:xfrm>
                <a:off x="6453037" y="1504337"/>
                <a:ext cx="540000" cy="540000"/>
              </a:xfrm>
              <a:prstGeom prst="ellipse">
                <a:avLst/>
              </a:prstGeom>
              <a:solidFill>
                <a:schemeClr val="accent1"/>
              </a:solidFill>
            </p:spPr>
            <p:txBody>
              <a:bodyPr wrap="none" lIns="108000" tIns="108000" rIns="108000" bIns="108000" rtlCol="0" anchor="ctr" anchorCtr="0">
                <a:noAutofit/>
              </a:bodyPr>
              <a:lstStyle>
                <a:defPPr>
                  <a:defRPr lang="zh-CN"/>
                </a:defPPr>
                <a:lvl1pPr algn="ctr">
                  <a:defRPr kumimoji="1" sz="2000" b="1">
                    <a:solidFill>
                      <a:srgbClr val="FFFFFF"/>
                    </a:solidFill>
                  </a:defRPr>
                </a:lvl1pPr>
              </a:lstStyle>
              <a:p>
                <a:r>
                  <a:rPr lang="en-US" altLang="zh-CN"/>
                  <a:t>03</a:t>
                </a:r>
                <a:endParaRPr lang="zh-CN" alt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6B88710-0B2C-517D-F175-A66D18062B59}"/>
                </a:ext>
              </a:extLst>
            </p:cNvPr>
            <p:cNvGrpSpPr/>
            <p:nvPr/>
          </p:nvGrpSpPr>
          <p:grpSpPr>
            <a:xfrm>
              <a:off x="660400" y="1144748"/>
              <a:ext cx="5034728" cy="787267"/>
              <a:chOff x="-106025" y="2679843"/>
              <a:chExt cx="11190196" cy="787267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65E68AE-1A10-EF98-8F3F-4535A579092C}"/>
                  </a:ext>
                </a:extLst>
              </p:cNvPr>
              <p:cNvSpPr/>
              <p:nvPr/>
            </p:nvSpPr>
            <p:spPr>
              <a:xfrm flipH="1">
                <a:off x="-106025" y="3172286"/>
                <a:ext cx="9504686" cy="294824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defTabSz="913765">
                  <a:lnSpc>
                    <a:spcPct val="120000"/>
                  </a:lnSpc>
                  <a:buSzPct val="25000"/>
                  <a:defRPr/>
                </a:pPr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提高工作效率的办公技巧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A89980-0522-F8CD-C04B-8E7E4883C41E}"/>
                  </a:ext>
                </a:extLst>
              </p:cNvPr>
              <p:cNvSpPr txBox="1"/>
              <p:nvPr/>
            </p:nvSpPr>
            <p:spPr>
              <a:xfrm>
                <a:off x="-106025" y="2679843"/>
                <a:ext cx="1119019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2400" b="1">
                    <a:solidFill>
                      <a:schemeClr val="tx1"/>
                    </a:solidFill>
                  </a:rPr>
                  <a:t>定义办公技巧</a:t>
                </a:r>
                <a:endParaRPr lang="en-US" altLang="zh-CN" sz="2800" b="1"/>
              </a:p>
            </p:txBody>
          </p:sp>
        </p:grpSp>
      </p:grpSp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办公技巧定义</a:t>
            </a:r>
          </a:p>
        </p:txBody>
      </p:sp>
    </p:spTree>
    <p:custDataLst>
      <p:tags r:id="rId2"/>
    </p:custDataLst>
    <p:extLst>
      <p:ext uri="{BB962C8B-B14F-4D97-AF65-F5344CB8AC3E}">
        <p14:creationId val="4001761991"/>
      </p:ext>
    </p:extLst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7" name="Block Arc 6">
            <a:extLst>
              <a:ext uri="{FF2B5EF4-FFF2-40B4-BE49-F238E27FC236}">
                <a16:creationId xmlns:a16="http://schemas.microsoft.com/office/drawing/2014/main" id="{E0BE5065-7C2C-DFDE-BB6C-32CBF372219B}"/>
              </a:ext>
            </a:extLst>
          </p:cNvPr>
          <p:cNvSpPr/>
          <p:nvPr/>
        </p:nvSpPr>
        <p:spPr>
          <a:xfrm flipH="1">
            <a:off x="943428" y="1370865"/>
            <a:ext cx="3158671" cy="3158671"/>
          </a:xfrm>
          <a:prstGeom prst="blockArc">
            <a:avLst>
              <a:gd name="adj1" fmla="val 15993410"/>
              <a:gd name="adj2" fmla="val 13253"/>
              <a:gd name="adj3" fmla="val 1786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0FA34A-F3E9-CB2D-7996-8E6053EA02EF}"/>
              </a:ext>
            </a:extLst>
          </p:cNvPr>
          <p:cNvGrpSpPr/>
          <p:nvPr/>
        </p:nvGrpSpPr>
        <p:grpSpPr>
          <a:xfrm>
            <a:off x="2714171" y="1474344"/>
            <a:ext cx="6763657" cy="1017459"/>
            <a:chOff x="-106025" y="2679843"/>
            <a:chExt cx="11190196" cy="101745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5110A56-ED65-7A08-32F2-88FF69D7CF9A}"/>
                </a:ext>
              </a:extLst>
            </p:cNvPr>
            <p:cNvSpPr/>
            <p:nvPr/>
          </p:nvSpPr>
          <p:spPr>
            <a:xfrm flipH="1">
              <a:off x="-106025" y="3402478"/>
              <a:ext cx="9504686" cy="294824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defTabSz="913765">
                <a:lnSpc>
                  <a:spcPct val="120000"/>
                </a:lnSpc>
                <a:buSzPct val="25000"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</a:rPr>
                <a:t>提高办公效率：掌握与应用技巧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559D6D-5279-F4CB-BC29-F8686F75E748}"/>
                </a:ext>
              </a:extLst>
            </p:cNvPr>
            <p:cNvSpPr txBox="1"/>
            <p:nvPr/>
          </p:nvSpPr>
          <p:spPr>
            <a:xfrm>
              <a:off x="-106025" y="2679843"/>
              <a:ext cx="1119019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>
                  <a:solidFill>
                    <a:schemeClr val="tx1"/>
                  </a:solidFill>
                </a:rPr>
                <a:t>技巧的重要角色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79EA29C8-3EC0-6373-9B05-7013458C3143}"/>
              </a:ext>
            </a:extLst>
          </p:cNvPr>
          <p:cNvSpPr/>
          <p:nvPr/>
        </p:nvSpPr>
        <p:spPr>
          <a:xfrm>
            <a:off x="8940597" y="0"/>
            <a:ext cx="2578303" cy="6858000"/>
          </a:xfrm>
          <a:prstGeom prst="rect">
            <a:avLst/>
          </a:prstGeom>
          <a:solidFill>
            <a:schemeClr val="tx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lIns="91440" tIns="93600" rIns="91440" bIns="45720" rtlCol="0" anchor="ctr"/>
          <a:lstStyle/>
          <a:p>
            <a:pPr algn="ctr"/>
            <a:endParaRPr kumimoji="1" lang="zh-CN" altLang="en-US" sz="1050">
              <a:solidFill>
                <a:schemeClr val="tx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D93E99A-4711-BB81-ADFB-0B8E34DC9626}"/>
              </a:ext>
            </a:extLst>
          </p:cNvPr>
          <p:cNvGrpSpPr/>
          <p:nvPr/>
        </p:nvGrpSpPr>
        <p:grpSpPr>
          <a:xfrm>
            <a:off x="2826471" y="3561649"/>
            <a:ext cx="4951000" cy="758290"/>
            <a:chOff x="3182071" y="3108322"/>
            <a:chExt cx="4951000" cy="75829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38196DF-5293-D41E-BB46-42EA6972A3EA}"/>
                </a:ext>
              </a:extLst>
            </p:cNvPr>
            <p:cNvSpPr/>
            <p:nvPr/>
          </p:nvSpPr>
          <p:spPr>
            <a:xfrm>
              <a:off x="3182071" y="3226247"/>
              <a:ext cx="226228" cy="275406"/>
            </a:xfrm>
            <a:custGeom>
              <a:gdLst>
                <a:gd name="connsiteX0" fmla="*/ 284197 w 438150"/>
                <a:gd name="connsiteY0" fmla="*/ 621 h 533400"/>
                <a:gd name="connsiteX1" fmla="*/ 286102 w 438150"/>
                <a:gd name="connsiteY1" fmla="*/ 621 h 533400"/>
                <a:gd name="connsiteX2" fmla="*/ 286102 w 438150"/>
                <a:gd name="connsiteY2" fmla="*/ 124446 h 533400"/>
                <a:gd name="connsiteX3" fmla="*/ 286102 w 438150"/>
                <a:gd name="connsiteY3" fmla="*/ 126351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502 w 438150"/>
                <a:gd name="connsiteY6" fmla="*/ 153021 h 533400"/>
                <a:gd name="connsiteX7" fmla="*/ 438502 w 438150"/>
                <a:gd name="connsiteY7" fmla="*/ 154926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4197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49907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724 w 438150"/>
                <a:gd name="connsiteY34" fmla="*/ 133971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lIns="91440" tIns="45720" rIns="216000" bIns="4572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sz="200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2B8E587-B8EE-36FB-7FD9-F3D4930DA526}"/>
                </a:ext>
              </a:extLst>
            </p:cNvPr>
            <p:cNvGrpSpPr/>
            <p:nvPr/>
          </p:nvGrpSpPr>
          <p:grpSpPr>
            <a:xfrm>
              <a:off x="3505667" y="3108322"/>
              <a:ext cx="4627404" cy="758290"/>
              <a:chOff x="3505667" y="3108322"/>
              <a:chExt cx="4627404" cy="758290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F283FBF-D5E6-F6F0-D73E-D27CEF80F489}"/>
                  </a:ext>
                </a:extLst>
              </p:cNvPr>
              <p:cNvSpPr/>
              <p:nvPr/>
            </p:nvSpPr>
            <p:spPr>
              <a:xfrm>
                <a:off x="3505667" y="3224412"/>
                <a:ext cx="4627404" cy="642200"/>
              </a:xfrm>
              <a:prstGeom prst="roundRect">
                <a:avLst>
                  <a:gd name="adj" fmla="val 0"/>
                </a:avLst>
              </a:prstGeom>
              <a:noFill/>
              <a:ln w="6055" cap="flat">
                <a:noFill/>
                <a:prstDash val="solid"/>
                <a:miter/>
              </a:ln>
            </p:spPr>
            <p:txBody>
              <a:bodyPr wrap="square" lIns="216000" tIns="108000" rIns="216000" bIns="108000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/>
                  <a:t>掌握基础办公技巧是提高工作效率的基础，包括文件管理、电子邮件使用和时间管理等方面的技能。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03C403F-FA85-A2AE-D9BF-EF3C44D7825C}"/>
                  </a:ext>
                </a:extLst>
              </p:cNvPr>
              <p:cNvSpPr/>
              <p:nvPr/>
            </p:nvSpPr>
            <p:spPr>
              <a:xfrm>
                <a:off x="3622541" y="3108322"/>
                <a:ext cx="1766642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kumimoji="1" lang="zh-CN" altLang="en-US" sz="1600" b="1">
                    <a:solidFill>
                      <a:schemeClr val="tx1"/>
                    </a:solidFill>
                  </a:rPr>
                  <a:t>办公技巧必要性</a:t>
                </a: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99F7EC-FF73-EF5B-D72A-3EEAC650E31B}"/>
              </a:ext>
            </a:extLst>
          </p:cNvPr>
          <p:cNvGrpSpPr/>
          <p:nvPr/>
        </p:nvGrpSpPr>
        <p:grpSpPr>
          <a:xfrm>
            <a:off x="2826471" y="4488041"/>
            <a:ext cx="4951000" cy="647490"/>
            <a:chOff x="3182071" y="3108322"/>
            <a:chExt cx="4951000" cy="64749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E8BBD62-CE4F-BCEC-FE15-F5D5C8A28D2C}"/>
                </a:ext>
              </a:extLst>
            </p:cNvPr>
            <p:cNvSpPr/>
            <p:nvPr/>
          </p:nvSpPr>
          <p:spPr>
            <a:xfrm>
              <a:off x="3182071" y="3226247"/>
              <a:ext cx="226228" cy="275406"/>
            </a:xfrm>
            <a:custGeom>
              <a:gdLst>
                <a:gd name="connsiteX0" fmla="*/ 284197 w 438150"/>
                <a:gd name="connsiteY0" fmla="*/ 621 h 533400"/>
                <a:gd name="connsiteX1" fmla="*/ 286102 w 438150"/>
                <a:gd name="connsiteY1" fmla="*/ 621 h 533400"/>
                <a:gd name="connsiteX2" fmla="*/ 286102 w 438150"/>
                <a:gd name="connsiteY2" fmla="*/ 124446 h 533400"/>
                <a:gd name="connsiteX3" fmla="*/ 286102 w 438150"/>
                <a:gd name="connsiteY3" fmla="*/ 126351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502 w 438150"/>
                <a:gd name="connsiteY6" fmla="*/ 153021 h 533400"/>
                <a:gd name="connsiteX7" fmla="*/ 438502 w 438150"/>
                <a:gd name="connsiteY7" fmla="*/ 154926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4197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49907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724 w 438150"/>
                <a:gd name="connsiteY34" fmla="*/ 133971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lIns="91440" tIns="45720" rIns="216000" bIns="4572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sz="2000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B6FA041-9A3B-8D78-AF78-2C81D71D84E4}"/>
                </a:ext>
              </a:extLst>
            </p:cNvPr>
            <p:cNvGrpSpPr/>
            <p:nvPr/>
          </p:nvGrpSpPr>
          <p:grpSpPr>
            <a:xfrm>
              <a:off x="3505667" y="3108322"/>
              <a:ext cx="4627404" cy="647490"/>
              <a:chOff x="3505667" y="3108322"/>
              <a:chExt cx="4627404" cy="647490"/>
            </a:xfrm>
          </p:grpSpPr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3160D6C6-2D11-37F1-E744-293A635848B5}"/>
                  </a:ext>
                </a:extLst>
              </p:cNvPr>
              <p:cNvSpPr/>
              <p:nvPr/>
            </p:nvSpPr>
            <p:spPr>
              <a:xfrm>
                <a:off x="3505667" y="3335211"/>
                <a:ext cx="4627404" cy="420601"/>
              </a:xfrm>
              <a:prstGeom prst="roundRect">
                <a:avLst>
                  <a:gd name="adj" fmla="val 0"/>
                </a:avLst>
              </a:prstGeom>
              <a:noFill/>
              <a:ln w="6055" cap="flat">
                <a:noFill/>
                <a:prstDash val="solid"/>
                <a:miter/>
              </a:ln>
            </p:spPr>
            <p:txBody>
              <a:bodyPr wrap="square" lIns="216000" tIns="108000" rIns="216000" bIns="108000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/>
                  <a:t>提高工作效率的高效工作方法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20A8FAB-1C7B-B2EE-ADFE-938C41F657A3}"/>
                  </a:ext>
                </a:extLst>
              </p:cNvPr>
              <p:cNvSpPr/>
              <p:nvPr/>
            </p:nvSpPr>
            <p:spPr>
              <a:xfrm>
                <a:off x="3622541" y="3108322"/>
                <a:ext cx="1766642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kumimoji="1" lang="zh-CN" altLang="en-US" sz="1600" b="1">
                    <a:solidFill>
                      <a:schemeClr val="tx1"/>
                    </a:solidFill>
                  </a:rPr>
                  <a:t>高效工作关键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D883042-6DDB-46FB-4153-CB43D0036B3C}"/>
              </a:ext>
            </a:extLst>
          </p:cNvPr>
          <p:cNvGrpSpPr/>
          <p:nvPr/>
        </p:nvGrpSpPr>
        <p:grpSpPr>
          <a:xfrm>
            <a:off x="2826471" y="5414433"/>
            <a:ext cx="4951000" cy="758290"/>
            <a:chOff x="3182071" y="3108322"/>
            <a:chExt cx="4951000" cy="758290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1B1C64B-EFB7-548D-63B7-4879F122A8F4}"/>
                </a:ext>
              </a:extLst>
            </p:cNvPr>
            <p:cNvSpPr/>
            <p:nvPr/>
          </p:nvSpPr>
          <p:spPr>
            <a:xfrm>
              <a:off x="3182071" y="3226247"/>
              <a:ext cx="226228" cy="275406"/>
            </a:xfrm>
            <a:custGeom>
              <a:gdLst>
                <a:gd name="connsiteX0" fmla="*/ 284197 w 438150"/>
                <a:gd name="connsiteY0" fmla="*/ 621 h 533400"/>
                <a:gd name="connsiteX1" fmla="*/ 286102 w 438150"/>
                <a:gd name="connsiteY1" fmla="*/ 621 h 533400"/>
                <a:gd name="connsiteX2" fmla="*/ 286102 w 438150"/>
                <a:gd name="connsiteY2" fmla="*/ 124446 h 533400"/>
                <a:gd name="connsiteX3" fmla="*/ 286102 w 438150"/>
                <a:gd name="connsiteY3" fmla="*/ 126351 h 533400"/>
                <a:gd name="connsiteX4" fmla="*/ 314677 w 438150"/>
                <a:gd name="connsiteY4" fmla="*/ 153021 h 533400"/>
                <a:gd name="connsiteX5" fmla="*/ 314677 w 438150"/>
                <a:gd name="connsiteY5" fmla="*/ 153021 h 533400"/>
                <a:gd name="connsiteX6" fmla="*/ 438502 w 438150"/>
                <a:gd name="connsiteY6" fmla="*/ 153021 h 533400"/>
                <a:gd name="connsiteX7" fmla="*/ 438502 w 438150"/>
                <a:gd name="connsiteY7" fmla="*/ 154926 h 533400"/>
                <a:gd name="connsiteX8" fmla="*/ 438502 w 438150"/>
                <a:gd name="connsiteY8" fmla="*/ 505446 h 533400"/>
                <a:gd name="connsiteX9" fmla="*/ 409927 w 438150"/>
                <a:gd name="connsiteY9" fmla="*/ 534021 h 533400"/>
                <a:gd name="connsiteX10" fmla="*/ 28927 w 438150"/>
                <a:gd name="connsiteY10" fmla="*/ 534021 h 533400"/>
                <a:gd name="connsiteX11" fmla="*/ 352 w 438150"/>
                <a:gd name="connsiteY11" fmla="*/ 505446 h 533400"/>
                <a:gd name="connsiteX12" fmla="*/ 352 w 438150"/>
                <a:gd name="connsiteY12" fmla="*/ 29196 h 533400"/>
                <a:gd name="connsiteX13" fmla="*/ 28927 w 438150"/>
                <a:gd name="connsiteY13" fmla="*/ 621 h 533400"/>
                <a:gd name="connsiteX14" fmla="*/ 284197 w 438150"/>
                <a:gd name="connsiteY14" fmla="*/ 621 h 533400"/>
                <a:gd name="connsiteX15" fmla="*/ 248002 w 438150"/>
                <a:gd name="connsiteY15" fmla="*/ 200646 h 533400"/>
                <a:gd name="connsiteX16" fmla="*/ 152752 w 438150"/>
                <a:gd name="connsiteY16" fmla="*/ 200646 h 533400"/>
                <a:gd name="connsiteX17" fmla="*/ 152752 w 438150"/>
                <a:gd name="connsiteY17" fmla="*/ 410196 h 533400"/>
                <a:gd name="connsiteX18" fmla="*/ 171802 w 438150"/>
                <a:gd name="connsiteY18" fmla="*/ 410196 h 533400"/>
                <a:gd name="connsiteX19" fmla="*/ 171802 w 438150"/>
                <a:gd name="connsiteY19" fmla="*/ 314946 h 533400"/>
                <a:gd name="connsiteX20" fmla="*/ 248002 w 438150"/>
                <a:gd name="connsiteY20" fmla="*/ 314946 h 533400"/>
                <a:gd name="connsiteX21" fmla="*/ 249907 w 438150"/>
                <a:gd name="connsiteY21" fmla="*/ 314946 h 533400"/>
                <a:gd name="connsiteX22" fmla="*/ 305152 w 438150"/>
                <a:gd name="connsiteY22" fmla="*/ 257796 h 533400"/>
                <a:gd name="connsiteX23" fmla="*/ 248002 w 438150"/>
                <a:gd name="connsiteY23" fmla="*/ 200646 h 533400"/>
                <a:gd name="connsiteX24" fmla="*/ 248002 w 438150"/>
                <a:gd name="connsiteY24" fmla="*/ 200646 h 533400"/>
                <a:gd name="connsiteX25" fmla="*/ 248002 w 438150"/>
                <a:gd name="connsiteY25" fmla="*/ 219696 h 533400"/>
                <a:gd name="connsiteX26" fmla="*/ 286102 w 438150"/>
                <a:gd name="connsiteY26" fmla="*/ 257796 h 533400"/>
                <a:gd name="connsiteX27" fmla="*/ 248002 w 438150"/>
                <a:gd name="connsiteY27" fmla="*/ 295896 h 533400"/>
                <a:gd name="connsiteX28" fmla="*/ 248002 w 438150"/>
                <a:gd name="connsiteY28" fmla="*/ 295896 h 533400"/>
                <a:gd name="connsiteX29" fmla="*/ 171802 w 438150"/>
                <a:gd name="connsiteY29" fmla="*/ 295896 h 533400"/>
                <a:gd name="connsiteX30" fmla="*/ 171802 w 438150"/>
                <a:gd name="connsiteY30" fmla="*/ 219696 h 533400"/>
                <a:gd name="connsiteX31" fmla="*/ 248002 w 438150"/>
                <a:gd name="connsiteY31" fmla="*/ 219696 h 533400"/>
                <a:gd name="connsiteX32" fmla="*/ 428977 w 438150"/>
                <a:gd name="connsiteY32" fmla="*/ 133971 h 533400"/>
                <a:gd name="connsiteX33" fmla="*/ 314677 w 438150"/>
                <a:gd name="connsiteY33" fmla="*/ 133971 h 533400"/>
                <a:gd name="connsiteX34" fmla="*/ 313724 w 438150"/>
                <a:gd name="connsiteY34" fmla="*/ 133971 h 533400"/>
                <a:gd name="connsiteX35" fmla="*/ 305152 w 438150"/>
                <a:gd name="connsiteY35" fmla="*/ 124446 h 533400"/>
                <a:gd name="connsiteX36" fmla="*/ 305152 w 438150"/>
                <a:gd name="connsiteY36" fmla="*/ 124446 h 533400"/>
                <a:gd name="connsiteX37" fmla="*/ 305152 w 438150"/>
                <a:gd name="connsiteY37" fmla="*/ 10146 h 533400"/>
                <a:gd name="connsiteX38" fmla="*/ 428977 w 438150"/>
                <a:gd name="connsiteY38" fmla="*/ 133971 h 533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38150" h="533400">
                  <a:moveTo>
                    <a:pt x="284197" y="621"/>
                  </a:moveTo>
                  <a:cubicBezTo>
                    <a:pt x="285149" y="621"/>
                    <a:pt x="286102" y="621"/>
                    <a:pt x="286102" y="621"/>
                  </a:cubicBezTo>
                  <a:lnTo>
                    <a:pt x="286102" y="124446"/>
                  </a:lnTo>
                  <a:lnTo>
                    <a:pt x="286102" y="126351"/>
                  </a:lnTo>
                  <a:cubicBezTo>
                    <a:pt x="287055" y="141591"/>
                    <a:pt x="299437" y="153021"/>
                    <a:pt x="314677" y="153021"/>
                  </a:cubicBezTo>
                  <a:lnTo>
                    <a:pt x="314677" y="153021"/>
                  </a:lnTo>
                  <a:lnTo>
                    <a:pt x="438502" y="153021"/>
                  </a:lnTo>
                  <a:cubicBezTo>
                    <a:pt x="438502" y="153974"/>
                    <a:pt x="438502" y="154926"/>
                    <a:pt x="438502" y="154926"/>
                  </a:cubicBezTo>
                  <a:lnTo>
                    <a:pt x="438502" y="505446"/>
                  </a:lnTo>
                  <a:cubicBezTo>
                    <a:pt x="438502" y="521639"/>
                    <a:pt x="426120" y="534021"/>
                    <a:pt x="409927" y="534021"/>
                  </a:cubicBezTo>
                  <a:lnTo>
                    <a:pt x="28927" y="534021"/>
                  </a:lnTo>
                  <a:cubicBezTo>
                    <a:pt x="12734" y="534021"/>
                    <a:pt x="352" y="521639"/>
                    <a:pt x="352" y="505446"/>
                  </a:cubicBezTo>
                  <a:lnTo>
                    <a:pt x="352" y="29196"/>
                  </a:lnTo>
                  <a:cubicBezTo>
                    <a:pt x="352" y="13004"/>
                    <a:pt x="12734" y="621"/>
                    <a:pt x="28927" y="621"/>
                  </a:cubicBezTo>
                  <a:lnTo>
                    <a:pt x="284197" y="621"/>
                  </a:lnTo>
                  <a:close/>
                  <a:moveTo>
                    <a:pt x="248002" y="200646"/>
                  </a:moveTo>
                  <a:lnTo>
                    <a:pt x="152752" y="200646"/>
                  </a:lnTo>
                  <a:lnTo>
                    <a:pt x="152752" y="410196"/>
                  </a:lnTo>
                  <a:lnTo>
                    <a:pt x="171802" y="410196"/>
                  </a:lnTo>
                  <a:lnTo>
                    <a:pt x="171802" y="314946"/>
                  </a:lnTo>
                  <a:lnTo>
                    <a:pt x="248002" y="314946"/>
                  </a:lnTo>
                  <a:lnTo>
                    <a:pt x="249907" y="314946"/>
                  </a:lnTo>
                  <a:cubicBezTo>
                    <a:pt x="280387" y="313994"/>
                    <a:pt x="305152" y="288276"/>
                    <a:pt x="305152" y="257796"/>
                  </a:cubicBezTo>
                  <a:cubicBezTo>
                    <a:pt x="305152" y="226364"/>
                    <a:pt x="279434" y="200646"/>
                    <a:pt x="248002" y="200646"/>
                  </a:cubicBezTo>
                  <a:lnTo>
                    <a:pt x="248002" y="200646"/>
                  </a:lnTo>
                  <a:close/>
                  <a:moveTo>
                    <a:pt x="248002" y="219696"/>
                  </a:moveTo>
                  <a:cubicBezTo>
                    <a:pt x="268957" y="219696"/>
                    <a:pt x="286102" y="236841"/>
                    <a:pt x="286102" y="257796"/>
                  </a:cubicBezTo>
                  <a:cubicBezTo>
                    <a:pt x="286102" y="278751"/>
                    <a:pt x="268957" y="295896"/>
                    <a:pt x="248002" y="295896"/>
                  </a:cubicBezTo>
                  <a:lnTo>
                    <a:pt x="248002" y="295896"/>
                  </a:lnTo>
                  <a:lnTo>
                    <a:pt x="171802" y="295896"/>
                  </a:lnTo>
                  <a:lnTo>
                    <a:pt x="171802" y="219696"/>
                  </a:lnTo>
                  <a:lnTo>
                    <a:pt x="248002" y="219696"/>
                  </a:lnTo>
                  <a:close/>
                  <a:moveTo>
                    <a:pt x="428977" y="133971"/>
                  </a:moveTo>
                  <a:lnTo>
                    <a:pt x="314677" y="133971"/>
                  </a:lnTo>
                  <a:lnTo>
                    <a:pt x="313724" y="133971"/>
                  </a:lnTo>
                  <a:cubicBezTo>
                    <a:pt x="308962" y="133019"/>
                    <a:pt x="305152" y="129209"/>
                    <a:pt x="305152" y="124446"/>
                  </a:cubicBezTo>
                  <a:lnTo>
                    <a:pt x="305152" y="124446"/>
                  </a:lnTo>
                  <a:lnTo>
                    <a:pt x="305152" y="10146"/>
                  </a:lnTo>
                  <a:lnTo>
                    <a:pt x="428977" y="13397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lIns="91440" tIns="45720" rIns="216000" bIns="45720"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 sz="200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4B0086C-36BF-943A-96F3-12C2A88362D8}"/>
                </a:ext>
              </a:extLst>
            </p:cNvPr>
            <p:cNvGrpSpPr/>
            <p:nvPr/>
          </p:nvGrpSpPr>
          <p:grpSpPr>
            <a:xfrm>
              <a:off x="3505667" y="3108322"/>
              <a:ext cx="4627404" cy="758290"/>
              <a:chOff x="3505667" y="3108322"/>
              <a:chExt cx="4627404" cy="758290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273F5660-F6C7-0045-F90B-7FB85D73BA51}"/>
                  </a:ext>
                </a:extLst>
              </p:cNvPr>
              <p:cNvSpPr/>
              <p:nvPr/>
            </p:nvSpPr>
            <p:spPr>
              <a:xfrm>
                <a:off x="3505667" y="3224412"/>
                <a:ext cx="4627404" cy="642200"/>
              </a:xfrm>
              <a:prstGeom prst="roundRect">
                <a:avLst>
                  <a:gd name="adj" fmla="val 0"/>
                </a:avLst>
              </a:prstGeom>
              <a:noFill/>
              <a:ln w="6055" cap="flat">
                <a:noFill/>
                <a:prstDash val="solid"/>
                <a:miter/>
              </a:ln>
            </p:spPr>
            <p:txBody>
              <a:bodyPr wrap="square" lIns="216000" tIns="108000" rIns="216000" bIns="108000" rtlCol="0" anchor="ctr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/>
                  <a:t>掌握办公技巧能够提高工作的准确性和质量，避免错误和疏漏，确保工作结果符合公司的要求和标准。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0E6A11C-6530-71A7-1644-821AA1B23ADB}"/>
                  </a:ext>
                </a:extLst>
              </p:cNvPr>
              <p:cNvSpPr/>
              <p:nvPr/>
            </p:nvSpPr>
            <p:spPr>
              <a:xfrm>
                <a:off x="3622541" y="3108322"/>
                <a:ext cx="1766642" cy="276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rtlCol="0" anchor="b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kumimoji="1" lang="zh-CN" altLang="en-US" sz="1600" b="1">
                    <a:solidFill>
                      <a:schemeClr val="tx1"/>
                    </a:solidFill>
                  </a:rPr>
                  <a:t>技巧影响工作质量</a:t>
                </a:r>
              </a:p>
            </p:txBody>
          </p:sp>
        </p:grpSp>
      </p:grpSp>
      <p:sp>
        <p:nvSpPr>
          <p:cNvPr id="31" name="Title 30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打造学习神器</a:t>
            </a:r>
          </a:p>
        </p:txBody>
      </p:sp>
    </p:spTree>
    <p:custDataLst>
      <p:tags r:id="rId2"/>
    </p:custDataLst>
    <p:extLst>
      <p:ext uri="{BB962C8B-B14F-4D97-AF65-F5344CB8AC3E}">
        <p14:creationId val="3850766451"/>
      </p:ext>
    </p:extLst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2CD873-6491-E94F-8B40-E64E8FABA4B8}"/>
              </a:ext>
            </a:extLst>
          </p:cNvPr>
          <p:cNvGrpSpPr/>
          <p:nvPr/>
        </p:nvGrpSpPr>
        <p:grpSpPr>
          <a:xfrm>
            <a:off x="1096827" y="1254882"/>
            <a:ext cx="9998872" cy="4760683"/>
            <a:chOff x="1096827" y="1254882"/>
            <a:chExt cx="9998872" cy="476068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BF5AE33-0802-BD32-FE46-622F6243F342}"/>
                </a:ext>
              </a:extLst>
            </p:cNvPr>
            <p:cNvSpPr/>
            <p:nvPr/>
          </p:nvSpPr>
          <p:spPr>
            <a:xfrm>
              <a:off x="5481638" y="2414588"/>
              <a:ext cx="1228725" cy="1228725"/>
            </a:xfrm>
            <a:prstGeom prst="ellipse">
              <a:avLst/>
            </a:prstGeom>
            <a:solidFill>
              <a:schemeClr val="accent6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accent6">
                  <a:alpha val="3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54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92FF2BC-2053-CEC9-51C1-B10E31AFB1DC}"/>
                </a:ext>
              </a:extLst>
            </p:cNvPr>
            <p:cNvSpPr/>
            <p:nvPr/>
          </p:nvSpPr>
          <p:spPr>
            <a:xfrm>
              <a:off x="3591541" y="3341217"/>
              <a:ext cx="1228725" cy="1228725"/>
            </a:xfrm>
            <a:prstGeom prst="ellipse">
              <a:avLst/>
            </a:prstGeom>
            <a:solidFill>
              <a:schemeClr val="accent5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accent5">
                  <a:alpha val="3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492D713-5290-6876-A7C7-8CA417F6CB7E}"/>
                </a:ext>
              </a:extLst>
            </p:cNvPr>
            <p:cNvSpPr/>
            <p:nvPr/>
          </p:nvSpPr>
          <p:spPr>
            <a:xfrm>
              <a:off x="7371734" y="3341217"/>
              <a:ext cx="1228725" cy="1228725"/>
            </a:xfrm>
            <a:prstGeom prst="ellipse">
              <a:avLst/>
            </a:prstGeom>
            <a:solidFill>
              <a:schemeClr val="accent1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accent1">
                  <a:alpha val="3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1600" b="1">
                <a:solidFill>
                  <a:srgbClr val="FFFFFF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C45E7A2-762B-0FD7-9A07-BA13F66ED092}"/>
                </a:ext>
              </a:extLst>
            </p:cNvPr>
            <p:cNvSpPr/>
            <p:nvPr/>
          </p:nvSpPr>
          <p:spPr>
            <a:xfrm>
              <a:off x="3989161" y="3093811"/>
              <a:ext cx="4213678" cy="2106839"/>
            </a:xfrm>
            <a:custGeom>
              <a:gdLst>
                <a:gd name="connsiteX0" fmla="*/ 2106839 w 4213678"/>
                <a:gd name="connsiteY0" fmla="*/ 0 h 2106839"/>
                <a:gd name="connsiteX1" fmla="*/ 4213678 w 4213678"/>
                <a:gd name="connsiteY1" fmla="*/ 2106839 h 2106839"/>
                <a:gd name="connsiteX2" fmla="*/ 0 w 4213678"/>
                <a:gd name="connsiteY2" fmla="*/ 2106839 h 2106839"/>
                <a:gd name="connsiteX3" fmla="*/ 2106839 w 4213678"/>
                <a:gd name="connsiteY3" fmla="*/ 0 h 210683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3678" h="2106839">
                  <a:moveTo>
                    <a:pt x="2106839" y="0"/>
                  </a:moveTo>
                  <a:cubicBezTo>
                    <a:pt x="3270414" y="0"/>
                    <a:pt x="4213678" y="943264"/>
                    <a:pt x="4213678" y="2106839"/>
                  </a:cubicBezTo>
                  <a:lnTo>
                    <a:pt x="0" y="2106839"/>
                  </a:lnTo>
                  <a:cubicBezTo>
                    <a:pt x="0" y="943264"/>
                    <a:pt x="943264" y="0"/>
                    <a:pt x="210683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>
              <a:outerShdw blurRad="254000" dist="127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354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280EC2-415D-FB2E-FAF2-36AA789F0E5D}"/>
                </a:ext>
              </a:extLst>
            </p:cNvPr>
            <p:cNvSpPr txBox="1"/>
            <p:nvPr/>
          </p:nvSpPr>
          <p:spPr>
            <a:xfrm>
              <a:off x="3757676" y="3595176"/>
              <a:ext cx="5854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i="1">
                  <a:solidFill>
                    <a:srgbClr val="FFFFFF"/>
                  </a:solidFill>
                </a:rPr>
                <a:t>01</a:t>
              </a:r>
              <a:endParaRPr lang="zh-CN" altLang="en-US" sz="2800" b="1" i="1">
                <a:solidFill>
                  <a:srgbClr val="FFFFFF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95B0207-3A2C-07DE-9113-6DCCFB4021BE}"/>
                </a:ext>
              </a:extLst>
            </p:cNvPr>
            <p:cNvSpPr txBox="1"/>
            <p:nvPr/>
          </p:nvSpPr>
          <p:spPr>
            <a:xfrm>
              <a:off x="5803291" y="2549249"/>
              <a:ext cx="5854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b="1" i="1">
                  <a:solidFill>
                    <a:srgbClr val="FFFFFF"/>
                  </a:solidFill>
                </a:rPr>
                <a:t>02</a:t>
              </a:r>
              <a:endParaRPr lang="zh-CN" altLang="en-US" sz="2800" b="1" i="1">
                <a:solidFill>
                  <a:srgbClr val="FFFFFF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632C6B-65FC-70AD-23DF-081A6F7F288A}"/>
                </a:ext>
              </a:extLst>
            </p:cNvPr>
            <p:cNvSpPr txBox="1"/>
            <p:nvPr/>
          </p:nvSpPr>
          <p:spPr>
            <a:xfrm>
              <a:off x="7801071" y="3595176"/>
              <a:ext cx="5854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i="1">
                  <a:solidFill>
                    <a:srgbClr val="FFFFFF"/>
                  </a:solidFill>
                </a:rPr>
                <a:t>03</a:t>
              </a:r>
              <a:endParaRPr lang="zh-CN" altLang="en-US" sz="2800" b="1" i="1">
                <a:solidFill>
                  <a:srgbClr val="FFFFFF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EB080A-9FCF-74FE-2EC4-B9EC25231047}"/>
                </a:ext>
              </a:extLst>
            </p:cNvPr>
            <p:cNvSpPr txBox="1"/>
            <p:nvPr/>
          </p:nvSpPr>
          <p:spPr>
            <a:xfrm>
              <a:off x="4298397" y="4099110"/>
              <a:ext cx="349632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R="0" lvl="0" indent="0" algn="ctr" defTabSz="913765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 kumimoji="0" sz="2400" b="1" i="0" u="none" strike="noStrike" cap="none" spc="0" normalizeH="0" baseline="0">
                  <a:solidFill>
                    <a:schemeClr val="tx1"/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2400"/>
                <a:t>提高效率的关键</a:t>
              </a:r>
              <a:endParaRPr lang="en-US" altLang="zh-C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2A6AA13-AFB0-B689-67C5-883B66D0B1A0}"/>
                </a:ext>
              </a:extLst>
            </p:cNvPr>
            <p:cNvSpPr txBox="1"/>
            <p:nvPr/>
          </p:nvSpPr>
          <p:spPr>
            <a:xfrm>
              <a:off x="1096827" y="3686899"/>
              <a:ext cx="2371770" cy="51642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algn="r">
                <a:lnSpc>
                  <a:spcPct val="120000"/>
                </a:lnSpc>
              </a:pPr>
              <a:r>
                <a:rPr lang="zh-CN" altLang="en-US" sz="1200"/>
                <a:t>掌握正确的办公技巧可以大幅度提高工作效率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388BB2C-7181-E69E-3DF9-0D6DD4C80FF9}"/>
                </a:ext>
              </a:extLst>
            </p:cNvPr>
            <p:cNvSpPr txBox="1"/>
            <p:nvPr/>
          </p:nvSpPr>
          <p:spPr>
            <a:xfrm>
              <a:off x="8723929" y="3699995"/>
              <a:ext cx="2371770" cy="51642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/>
                <a:t>合理运用技巧可以更快地完成任务，同时确保质量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F3763C-C92C-1FFD-9AD3-7F3A193CA397}"/>
                </a:ext>
              </a:extLst>
            </p:cNvPr>
            <p:cNvSpPr txBox="1"/>
            <p:nvPr/>
          </p:nvSpPr>
          <p:spPr>
            <a:xfrm>
              <a:off x="4910115" y="1615043"/>
              <a:ext cx="2371770" cy="51642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200"/>
                <a:t>正确的技巧应用可以避免常见错误和无效的重复工作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DAC84A3-9EDF-9A4F-5767-520565C27446}"/>
                </a:ext>
              </a:extLst>
            </p:cNvPr>
            <p:cNvSpPr txBox="1"/>
            <p:nvPr/>
          </p:nvSpPr>
          <p:spPr>
            <a:xfrm>
              <a:off x="3516052" y="5499142"/>
              <a:ext cx="5159896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 algn="ctr">
                <a:lnSpc>
                  <a:spcPct val="120000"/>
                </a:lnSpc>
              </a:pPr>
              <a:r>
                <a:rPr kumimoji="1" lang="zh-CN" altLang="en-US" sz="1200" err="1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了解技巧与效率之间的关系，帮助员工理解技巧的重要性，以提高工作效率。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EEB78B-F215-A96E-4F50-F9DFA107D51E}"/>
                </a:ext>
              </a:extLst>
            </p:cNvPr>
            <p:cNvSpPr txBox="1"/>
            <p:nvPr/>
          </p:nvSpPr>
          <p:spPr>
            <a:xfrm>
              <a:off x="1096827" y="3348345"/>
              <a:ext cx="2371770" cy="338554"/>
            </a:xfrm>
            <a:prstGeom prst="rect">
              <a:avLst/>
            </a:prstGeom>
            <a:noFill/>
          </p:spPr>
          <p:txBody>
            <a:bodyPr wrap="none" rtlCol="0" anchor="b" anchorCtr="0">
              <a:normAutofit/>
            </a:bodyPr>
            <a:lstStyle/>
            <a:p>
              <a:pPr algn="r">
                <a:lnSpc>
                  <a:spcPct val="100000"/>
                </a:lnSpc>
              </a:pPr>
              <a:r>
                <a:rPr lang="zh-CN" altLang="en-US" sz="1600" b="1">
                  <a:solidFill>
                    <a:schemeClr val="accent5"/>
                  </a:solidFill>
                  <a:effectLst/>
                </a:rPr>
                <a:t>提高工作效率</a:t>
              </a:r>
              <a:endParaRPr kumimoji="1" lang="en-US" altLang="zh-CN" sz="1600" b="1">
                <a:solidFill>
                  <a:schemeClr val="accent5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041B6F-D026-1F68-EC39-A0AD8A4C767F}"/>
                </a:ext>
              </a:extLst>
            </p:cNvPr>
            <p:cNvSpPr txBox="1"/>
            <p:nvPr/>
          </p:nvSpPr>
          <p:spPr>
            <a:xfrm>
              <a:off x="8723929" y="3348345"/>
              <a:ext cx="2371770" cy="338554"/>
            </a:xfrm>
            <a:prstGeom prst="rect">
              <a:avLst/>
            </a:prstGeom>
            <a:noFill/>
          </p:spPr>
          <p:txBody>
            <a:bodyPr wrap="none" rtlCol="0" anchor="b" anchorCtr="0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>
                  <a:solidFill>
                    <a:schemeClr val="accent1"/>
                  </a:solidFill>
                  <a:effectLst/>
                </a:rPr>
                <a:t>提升任务效率</a:t>
              </a:r>
              <a:endParaRPr kumimoji="1" lang="en-US" altLang="zh-CN" sz="1600" b="1">
                <a:solidFill>
                  <a:schemeClr val="accent1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B36CA4-747C-DDE0-759A-8E1BB8DBA498}"/>
                </a:ext>
              </a:extLst>
            </p:cNvPr>
            <p:cNvSpPr txBox="1"/>
            <p:nvPr/>
          </p:nvSpPr>
          <p:spPr>
            <a:xfrm>
              <a:off x="4910114" y="1254882"/>
              <a:ext cx="2371770" cy="338554"/>
            </a:xfrm>
            <a:prstGeom prst="rect">
              <a:avLst/>
            </a:prstGeom>
            <a:noFill/>
          </p:spPr>
          <p:txBody>
            <a:bodyPr wrap="none" rtlCol="0" anchor="b" anchorCtr="0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>
                  <a:solidFill>
                    <a:schemeClr val="accent6"/>
                  </a:solidFill>
                  <a:effectLst/>
                </a:rPr>
                <a:t>减少工作错误</a:t>
              </a:r>
              <a:endParaRPr kumimoji="1" lang="en-US" altLang="zh-CN" sz="1600" b="1">
                <a:solidFill>
                  <a:schemeClr val="accent6"/>
                </a:solidFill>
              </a:endParaRPr>
            </a:p>
          </p:txBody>
        </p:sp>
      </p:grpSp>
      <p:sp>
        <p:nvSpPr>
          <p:cNvPr id="20" name="Title 1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技巧与效率的关系</a:t>
            </a:r>
          </a:p>
        </p:txBody>
      </p:sp>
    </p:spTree>
    <p:custDataLst>
      <p:tags r:id="rId2"/>
    </p:custDataLst>
    <p:extLst>
      <p:ext uri="{BB962C8B-B14F-4D97-AF65-F5344CB8AC3E}">
        <p14:creationId val="435089723"/>
      </p:ext>
    </p:extLst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3" name="Group 2"/>
          <p:cNvGrpSpPr/>
          <p:nvPr/>
        </p:nvGrpSpPr>
        <p:grpSpPr>
          <a:xfrm>
            <a:off x="598076" y="1130300"/>
            <a:ext cx="8854753" cy="5098331"/>
            <a:chOff x="598076" y="1130300"/>
            <a:chExt cx="8854753" cy="5098331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F289DAF-8E43-9D70-69C4-1010FC398F16}"/>
                </a:ext>
              </a:extLst>
            </p:cNvPr>
            <p:cNvGrpSpPr/>
            <p:nvPr/>
          </p:nvGrpSpPr>
          <p:grpSpPr>
            <a:xfrm>
              <a:off x="3602183" y="1130300"/>
              <a:ext cx="2493817" cy="3601489"/>
              <a:chOff x="3456717" y="1913868"/>
              <a:chExt cx="2493817" cy="3601489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74E8AA6E-1C80-C639-994F-05FFD71BB5B8}"/>
                  </a:ext>
                </a:extLst>
              </p:cNvPr>
              <p:cNvSpPr/>
              <p:nvPr/>
            </p:nvSpPr>
            <p:spPr>
              <a:xfrm>
                <a:off x="3456717" y="1913868"/>
                <a:ext cx="2493817" cy="3601489"/>
              </a:xfrm>
              <a:prstGeom prst="roundRect">
                <a:avLst>
                  <a:gd name="adj" fmla="val 8000"/>
                </a:avLst>
              </a:prstGeom>
              <a:solidFill>
                <a:schemeClr val="tx2">
                  <a:alpha val="2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A804859-1B50-5C0C-3855-174BFA61AB66}"/>
                  </a:ext>
                </a:extLst>
              </p:cNvPr>
              <p:cNvSpPr/>
              <p:nvPr/>
            </p:nvSpPr>
            <p:spPr>
              <a:xfrm flipH="1">
                <a:off x="3976631" y="2312302"/>
                <a:ext cx="1453991" cy="1453991"/>
              </a:xfrm>
              <a:prstGeom prst="ellipse">
                <a:avLst/>
              </a:prstGeom>
              <a:blipFill rotWithShape="0">
                <a:blip r:embed="rId2"/>
                <a:stretch>
                  <a:fillRect l="-25050" r="-2505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D22EE837-40B1-258B-6091-F460B2CC605E}"/>
                  </a:ext>
                </a:extLst>
              </p:cNvPr>
              <p:cNvGrpSpPr/>
              <p:nvPr/>
            </p:nvGrpSpPr>
            <p:grpSpPr>
              <a:xfrm>
                <a:off x="3719030" y="4192328"/>
                <a:ext cx="1969192" cy="1064294"/>
                <a:chOff x="7001580" y="1906105"/>
                <a:chExt cx="1969192" cy="1064294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6CA39B8-2AA1-08C3-4076-6E4F03772CB7}"/>
                    </a:ext>
                  </a:extLst>
                </p:cNvPr>
                <p:cNvSpPr/>
                <p:nvPr/>
              </p:nvSpPr>
              <p:spPr>
                <a:xfrm>
                  <a:off x="7001580" y="1906105"/>
                  <a:ext cx="1969192" cy="42797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tIns="90000" bIns="9000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1" lang="zh-CN" altLang="en-US" sz="1600" b="1">
                      <a:solidFill>
                        <a:schemeClr val="accent1"/>
                      </a:solidFill>
                    </a:rPr>
                    <a:t>基础技巧的学习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DF26A2A5-0F19-A5BA-4018-02C46D8779FA}"/>
                    </a:ext>
                  </a:extLst>
                </p:cNvPr>
                <p:cNvSpPr/>
                <p:nvPr/>
              </p:nvSpPr>
              <p:spPr>
                <a:xfrm>
                  <a:off x="7001580" y="2328199"/>
                  <a:ext cx="1969192" cy="64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kumimoji="1" lang="zh-CN" altLang="en-US" sz="1200">
                      <a:solidFill>
                        <a:schemeClr val="tx1"/>
                      </a:solidFill>
                    </a:rPr>
                    <a:t>打造坚实工作基础：提升工作效率的关键</a:t>
                  </a:r>
                </a:p>
              </p:txBody>
            </p:sp>
          </p:grp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74DEC0E-9242-205C-CECC-008B695C1F5D}"/>
                </a:ext>
              </a:extLst>
            </p:cNvPr>
            <p:cNvSpPr/>
            <p:nvPr/>
          </p:nvSpPr>
          <p:spPr>
            <a:xfrm>
              <a:off x="598076" y="1253707"/>
              <a:ext cx="914578" cy="4350587"/>
            </a:xfrm>
            <a:prstGeom prst="rect">
              <a:avLst/>
            </a:prstGeom>
          </p:spPr>
          <p:txBody>
            <a:bodyPr vert="vert"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>
                  <a:solidFill>
                    <a:schemeClr val="tx1"/>
                  </a:solidFill>
                </a:rPr>
                <a:t>技巧的提升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040C883-EFEA-FA9E-7592-8EA76A161D4B}"/>
                </a:ext>
              </a:extLst>
            </p:cNvPr>
            <p:cNvSpPr txBox="1"/>
            <p:nvPr/>
          </p:nvSpPr>
          <p:spPr>
            <a:xfrm>
              <a:off x="1509203" y="1349918"/>
              <a:ext cx="387157" cy="4158164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200">
                  <a:solidFill>
                    <a:schemeClr val="tx2"/>
                  </a:solidFill>
                </a:rPr>
                <a:t>通过不断提升技巧，达到更高的工作效率。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0BA289D-4F78-90E6-491F-2F6DC67FD1A8}"/>
                </a:ext>
              </a:extLst>
            </p:cNvPr>
            <p:cNvGrpSpPr/>
            <p:nvPr/>
          </p:nvGrpSpPr>
          <p:grpSpPr>
            <a:xfrm>
              <a:off x="6959012" y="2627142"/>
              <a:ext cx="2493817" cy="3601489"/>
              <a:chOff x="3435926" y="1204961"/>
              <a:chExt cx="2493817" cy="3601489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0C613E6-5A5A-2CF6-BB4A-0485B044D70E}"/>
                  </a:ext>
                </a:extLst>
              </p:cNvPr>
              <p:cNvSpPr/>
              <p:nvPr/>
            </p:nvSpPr>
            <p:spPr>
              <a:xfrm>
                <a:off x="3435926" y="1204961"/>
                <a:ext cx="2493817" cy="3601489"/>
              </a:xfrm>
              <a:prstGeom prst="roundRect">
                <a:avLst>
                  <a:gd name="adj" fmla="val 8000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254000" dist="127000" dir="2700000" algn="tl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4D9F9D7-2B20-B565-3A05-A98E367E7424}"/>
                  </a:ext>
                </a:extLst>
              </p:cNvPr>
              <p:cNvSpPr/>
              <p:nvPr/>
            </p:nvSpPr>
            <p:spPr>
              <a:xfrm flipH="1">
                <a:off x="3955840" y="1508864"/>
                <a:ext cx="1453991" cy="1453991"/>
              </a:xfrm>
              <a:prstGeom prst="ellipse">
                <a:avLst/>
              </a:prstGeom>
              <a:blipFill rotWithShape="0">
                <a:blip r:embed="rId3"/>
                <a:stretch>
                  <a:fillRect l="-25050" r="-2505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C2E5493-7C12-778A-796E-D73FC73D52BC}"/>
                  </a:ext>
                </a:extLst>
              </p:cNvPr>
              <p:cNvGrpSpPr/>
              <p:nvPr/>
            </p:nvGrpSpPr>
            <p:grpSpPr>
              <a:xfrm>
                <a:off x="3698239" y="3388890"/>
                <a:ext cx="1969192" cy="1064294"/>
                <a:chOff x="7001580" y="1906105"/>
                <a:chExt cx="1969192" cy="1064294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A1C64A6E-A386-AEA1-DB33-4BA061A0EDC6}"/>
                    </a:ext>
                  </a:extLst>
                </p:cNvPr>
                <p:cNvSpPr/>
                <p:nvPr/>
              </p:nvSpPr>
              <p:spPr>
                <a:xfrm>
                  <a:off x="7001580" y="1906105"/>
                  <a:ext cx="1969192" cy="42797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tIns="90000" bIns="9000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kumimoji="1" lang="zh-CN" altLang="en-US" sz="1600" b="1">
                      <a:solidFill>
                        <a:schemeClr val="bg1"/>
                      </a:solidFill>
                    </a:rPr>
                    <a:t>高效工作的实现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151DAF15-DC58-67A8-87EF-623522B509B1}"/>
                    </a:ext>
                  </a:extLst>
                </p:cNvPr>
                <p:cNvSpPr/>
                <p:nvPr/>
              </p:nvSpPr>
              <p:spPr>
                <a:xfrm>
                  <a:off x="7001580" y="2328199"/>
                  <a:ext cx="1969192" cy="64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kumimoji="1" lang="zh-CN" altLang="en-US" sz="1200">
                      <a:solidFill>
                        <a:schemeClr val="bg1"/>
                      </a:solidFill>
                    </a:rPr>
                    <a:t>通过提升技巧，实现更高效率的工作流程</a:t>
                  </a:r>
                </a:p>
              </p:txBody>
            </p:sp>
          </p:grp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B21ABFA-85C6-7EDF-9B80-EB15A2B03FDA}"/>
                  </a:ext>
                </a:extLst>
              </p:cNvPr>
              <p:cNvSpPr/>
              <p:nvPr/>
            </p:nvSpPr>
            <p:spPr>
              <a:xfrm>
                <a:off x="4527318" y="1925551"/>
                <a:ext cx="501041" cy="593498"/>
              </a:xfrm>
              <a:custGeom>
                <a:gdLst>
                  <a:gd name="T0" fmla="*/ 0 w 8319"/>
                  <a:gd name="T1" fmla="*/ 2012 h 9856"/>
                  <a:gd name="T2" fmla="*/ 2423 w 8319"/>
                  <a:gd name="T3" fmla="*/ 640 h 9856"/>
                  <a:gd name="T4" fmla="*/ 7283 w 8319"/>
                  <a:gd name="T5" fmla="*/ 3556 h 9856"/>
                  <a:gd name="T6" fmla="*/ 7283 w 8319"/>
                  <a:gd name="T7" fmla="*/ 6300 h 9856"/>
                  <a:gd name="T8" fmla="*/ 2423 w 8319"/>
                  <a:gd name="T9" fmla="*/ 9216 h 9856"/>
                  <a:gd name="T10" fmla="*/ 0 w 8319"/>
                  <a:gd name="T11" fmla="*/ 7844 h 9856"/>
                  <a:gd name="T12" fmla="*/ 0 w 8319"/>
                  <a:gd name="T13" fmla="*/ 2012 h 985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19" h="9856">
                    <a:moveTo>
                      <a:pt x="0" y="2012"/>
                    </a:moveTo>
                    <a:cubicBezTo>
                      <a:pt x="0" y="768"/>
                      <a:pt x="1356" y="0"/>
                      <a:pt x="2423" y="640"/>
                    </a:cubicBezTo>
                    <a:lnTo>
                      <a:pt x="7283" y="3556"/>
                    </a:lnTo>
                    <a:cubicBezTo>
                      <a:pt x="8319" y="4178"/>
                      <a:pt x="8319" y="5679"/>
                      <a:pt x="7283" y="6300"/>
                    </a:cubicBezTo>
                    <a:lnTo>
                      <a:pt x="2423" y="9216"/>
                    </a:lnTo>
                    <a:cubicBezTo>
                      <a:pt x="1356" y="9856"/>
                      <a:pt x="0" y="9088"/>
                      <a:pt x="0" y="7844"/>
                    </a:cubicBezTo>
                    <a:lnTo>
                      <a:pt x="0" y="20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Title 3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提升技巧的意义</a:t>
            </a:r>
          </a:p>
        </p:txBody>
      </p:sp>
    </p:spTree>
    <p:custDataLst>
      <p:tags r:id="rId4"/>
    </p:custDataLst>
    <p:extLst>
      <p:ext uri="{BB962C8B-B14F-4D97-AF65-F5344CB8AC3E}">
        <p14:creationId val="3963760537"/>
      </p:ext>
    </p:extLst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5B1388B-3432-4E35-87DB-4E2A4473F68B}"/>
              </a:ext>
            </a:extLst>
          </p:cNvPr>
          <p:cNvGrpSpPr/>
          <p:nvPr/>
        </p:nvGrpSpPr>
        <p:grpSpPr>
          <a:xfrm>
            <a:off x="6622528" y="4951938"/>
            <a:ext cx="3450550" cy="1033956"/>
            <a:chOff x="6622528" y="4951938"/>
            <a:chExt cx="3450550" cy="103395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02912EC-8780-4B72-A493-0CBCB7A2DAF2}"/>
                </a:ext>
              </a:extLst>
            </p:cNvPr>
            <p:cNvSpPr txBox="1"/>
            <p:nvPr/>
          </p:nvSpPr>
          <p:spPr>
            <a:xfrm>
              <a:off x="7448469" y="5075049"/>
              <a:ext cx="2624609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</a:rPr>
                <a:t>提升工作质量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CB49B0B-09E9-4567-BCB8-B6CD25C649C5}"/>
                </a:ext>
              </a:extLst>
            </p:cNvPr>
            <p:cNvSpPr/>
            <p:nvPr/>
          </p:nvSpPr>
          <p:spPr>
            <a:xfrm flipH="1">
              <a:off x="7448465" y="5401119"/>
              <a:ext cx="2624609" cy="58477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</a:rPr>
                <a:t>技巧的实际效果可以提升工作质量，使工作更加准确和专业。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FD38D7-C386-46D7-806B-16E03FF51F55}"/>
                </a:ext>
              </a:extLst>
            </p:cNvPr>
            <p:cNvSpPr txBox="1"/>
            <p:nvPr/>
          </p:nvSpPr>
          <p:spPr>
            <a:xfrm>
              <a:off x="6622528" y="4951938"/>
              <a:ext cx="639919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3200" b="1" i="1">
                  <a:solidFill>
                    <a:schemeClr val="tx2"/>
                  </a:solidFill>
                </a:rPr>
                <a:t>03</a:t>
              </a:r>
              <a:endParaRPr lang="zh-CN" altLang="en-US" sz="3200" b="1" i="1">
                <a:solidFill>
                  <a:schemeClr val="tx2"/>
                </a:soli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1FBAFF6-7855-4C54-A60D-0D1A17FB54AE}"/>
              </a:ext>
            </a:extLst>
          </p:cNvPr>
          <p:cNvGrpSpPr/>
          <p:nvPr/>
        </p:nvGrpSpPr>
        <p:grpSpPr>
          <a:xfrm>
            <a:off x="6622529" y="2383462"/>
            <a:ext cx="3418893" cy="1033956"/>
            <a:chOff x="6622529" y="2570908"/>
            <a:chExt cx="3418893" cy="1033956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64B4DF-61E5-4976-8C41-7DFBDE76D4C5}"/>
                </a:ext>
              </a:extLst>
            </p:cNvPr>
            <p:cNvSpPr txBox="1"/>
            <p:nvPr/>
          </p:nvSpPr>
          <p:spPr>
            <a:xfrm>
              <a:off x="7416812" y="2694019"/>
              <a:ext cx="262461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</a:rPr>
                <a:t>提高工作效率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01C09C-AC6F-40FE-A3E3-962EE6C7452B}"/>
                </a:ext>
              </a:extLst>
            </p:cNvPr>
            <p:cNvSpPr/>
            <p:nvPr/>
          </p:nvSpPr>
          <p:spPr>
            <a:xfrm flipH="1">
              <a:off x="7416809" y="3020089"/>
              <a:ext cx="2624610" cy="58477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</a:rPr>
                <a:t>应用技巧：提升员工工作效率的方法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DF9266C-D98D-465F-A468-C4E46FB08001}"/>
                </a:ext>
              </a:extLst>
            </p:cNvPr>
            <p:cNvSpPr txBox="1"/>
            <p:nvPr/>
          </p:nvSpPr>
          <p:spPr>
            <a:xfrm>
              <a:off x="6622529" y="2570908"/>
              <a:ext cx="639919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3200" b="1" i="1">
                  <a:solidFill>
                    <a:schemeClr val="accent1"/>
                  </a:solidFill>
                </a:rPr>
                <a:t>01</a:t>
              </a:r>
              <a:endParaRPr lang="zh-CN" altLang="en-US" sz="3200" b="1" i="1">
                <a:solidFill>
                  <a:schemeClr val="accent1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388CDB9-E09B-49D4-9230-63AB3A54D736}"/>
              </a:ext>
            </a:extLst>
          </p:cNvPr>
          <p:cNvGrpSpPr/>
          <p:nvPr/>
        </p:nvGrpSpPr>
        <p:grpSpPr>
          <a:xfrm>
            <a:off x="6622529" y="3666010"/>
            <a:ext cx="3418893" cy="1037336"/>
            <a:chOff x="6622529" y="3759733"/>
            <a:chExt cx="3418893" cy="103733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5DEE68-88C1-4976-BD58-806CF10B0CB0}"/>
                </a:ext>
              </a:extLst>
            </p:cNvPr>
            <p:cNvSpPr txBox="1"/>
            <p:nvPr/>
          </p:nvSpPr>
          <p:spPr>
            <a:xfrm>
              <a:off x="7416812" y="3886224"/>
              <a:ext cx="2624610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b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</a:rPr>
                <a:t>减少错误率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6A63328-0E3C-4DC9-A36E-1E0249A7E43C}"/>
                </a:ext>
              </a:extLst>
            </p:cNvPr>
            <p:cNvSpPr/>
            <p:nvPr/>
          </p:nvSpPr>
          <p:spPr>
            <a:xfrm flipH="1">
              <a:off x="7416809" y="4212294"/>
              <a:ext cx="2624610" cy="584775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no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</a:rPr>
                <a:t>技巧的应用可以帮助员工避免常见错误，减少错误率。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EFED675-60E3-462D-89E9-0B9BB622DEC5}"/>
                </a:ext>
              </a:extLst>
            </p:cNvPr>
            <p:cNvSpPr txBox="1"/>
            <p:nvPr/>
          </p:nvSpPr>
          <p:spPr>
            <a:xfrm>
              <a:off x="6622529" y="3759733"/>
              <a:ext cx="639919" cy="584775"/>
            </a:xfrm>
            <a:prstGeom prst="rect">
              <a:avLst/>
            </a:prstGeom>
            <a:noFill/>
            <a:effectLst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3200" b="1" i="1">
                  <a:solidFill>
                    <a:schemeClr val="tx2"/>
                  </a:solidFill>
                </a:rPr>
                <a:t>02</a:t>
              </a:r>
              <a:endParaRPr lang="zh-CN" altLang="en-US" sz="3200" b="1" i="1">
                <a:solidFill>
                  <a:schemeClr val="tx2"/>
                </a:solidFill>
              </a:endParaRPr>
            </a:p>
          </p:txBody>
        </p:sp>
      </p:grp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9E85CA5-AEAF-4BFB-9A8A-2BB38F24D0C5}"/>
              </a:ext>
            </a:extLst>
          </p:cNvPr>
          <p:cNvSpPr/>
          <p:nvPr/>
        </p:nvSpPr>
        <p:spPr bwMode="auto">
          <a:xfrm>
            <a:off x="941246" y="2332639"/>
            <a:ext cx="3811603" cy="3743969"/>
          </a:xfrm>
          <a:custGeom>
            <a:gdLst>
              <a:gd name="T0" fmla="*/ 1254 w 1400"/>
              <a:gd name="T1" fmla="*/ 0 h 1375"/>
              <a:gd name="T2" fmla="*/ 146 w 1400"/>
              <a:gd name="T3" fmla="*/ 120 h 1375"/>
              <a:gd name="T4" fmla="*/ 0 w 1400"/>
              <a:gd name="T5" fmla="*/ 265 h 1375"/>
              <a:gd name="T6" fmla="*/ 0 w 1400"/>
              <a:gd name="T7" fmla="*/ 1122 h 1375"/>
              <a:gd name="T8" fmla="*/ 146 w 1400"/>
              <a:gd name="T9" fmla="*/ 1267 h 1375"/>
              <a:gd name="T10" fmla="*/ 1254 w 1400"/>
              <a:gd name="T11" fmla="*/ 1375 h 1375"/>
              <a:gd name="T12" fmla="*/ 1400 w 1400"/>
              <a:gd name="T13" fmla="*/ 1230 h 1375"/>
              <a:gd name="T14" fmla="*/ 1400 w 1400"/>
              <a:gd name="T15" fmla="*/ 145 h 1375"/>
              <a:gd name="T16" fmla="*/ 1254 w 1400"/>
              <a:gd name="T17" fmla="*/ 0 h 1375"/>
            </a:gdLst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00" h="1375">
                <a:moveTo>
                  <a:pt x="1254" y="0"/>
                </a:moveTo>
                <a:cubicBezTo>
                  <a:pt x="146" y="120"/>
                  <a:pt x="146" y="120"/>
                  <a:pt x="146" y="120"/>
                </a:cubicBezTo>
                <a:cubicBezTo>
                  <a:pt x="66" y="120"/>
                  <a:pt x="0" y="185"/>
                  <a:pt x="0" y="265"/>
                </a:cubicBezTo>
                <a:cubicBezTo>
                  <a:pt x="0" y="1122"/>
                  <a:pt x="0" y="1122"/>
                  <a:pt x="0" y="1122"/>
                </a:cubicBezTo>
                <a:cubicBezTo>
                  <a:pt x="0" y="1202"/>
                  <a:pt x="66" y="1267"/>
                  <a:pt x="146" y="1267"/>
                </a:cubicBezTo>
                <a:cubicBezTo>
                  <a:pt x="1254" y="1375"/>
                  <a:pt x="1254" y="1375"/>
                  <a:pt x="1254" y="1375"/>
                </a:cubicBezTo>
                <a:cubicBezTo>
                  <a:pt x="1334" y="1375"/>
                  <a:pt x="1400" y="1310"/>
                  <a:pt x="1400" y="1230"/>
                </a:cubicBezTo>
                <a:cubicBezTo>
                  <a:pt x="1400" y="145"/>
                  <a:pt x="1400" y="145"/>
                  <a:pt x="1400" y="145"/>
                </a:cubicBezTo>
                <a:cubicBezTo>
                  <a:pt x="1400" y="65"/>
                  <a:pt x="1334" y="0"/>
                  <a:pt x="1254" y="0"/>
                </a:cubicBezTo>
              </a:path>
            </a:pathLst>
          </a:custGeom>
          <a:blipFill rotWithShape="0">
            <a:blip r:embed="rId2"/>
            <a:stretch>
              <a:fillRect l="-61970" r="-61970"/>
            </a:stretch>
          </a:blipFill>
          <a:ln w="381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b="1">
              <a:solidFill>
                <a:schemeClr val="l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F8A0A0-9514-4087-9A17-4004558A3071}"/>
              </a:ext>
            </a:extLst>
          </p:cNvPr>
          <p:cNvSpPr/>
          <p:nvPr/>
        </p:nvSpPr>
        <p:spPr>
          <a:xfrm>
            <a:off x="660400" y="885439"/>
            <a:ext cx="10858500" cy="834825"/>
          </a:xfrm>
          <a:prstGeom prst="rect">
            <a:avLst/>
          </a:prstGeom>
        </p:spPr>
        <p:txBody>
          <a:bodyPr wrap="square" anchor="b" anchorCtr="0">
            <a:noAutofit/>
          </a:bodyPr>
          <a:lstStyle/>
          <a:p>
            <a:pPr algn="ctr">
              <a:lnSpc>
                <a:spcPct val="100000"/>
              </a:lnSpc>
              <a:buSzPct val="25000"/>
            </a:pPr>
            <a:r>
              <a:rPr lang="zh-CN" altLang="en-US" sz="2400" b="1">
                <a:solidFill>
                  <a:schemeClr val="tx1"/>
                </a:solidFill>
              </a:rPr>
              <a:t>技巧的实际效果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7699DA-5CB7-4535-8242-729391733204}"/>
              </a:ext>
            </a:extLst>
          </p:cNvPr>
          <p:cNvSpPr txBox="1"/>
          <p:nvPr/>
        </p:nvSpPr>
        <p:spPr>
          <a:xfrm>
            <a:off x="660400" y="1732964"/>
            <a:ext cx="10858500" cy="294824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200">
                <a:solidFill>
                  <a:schemeClr val="tx1"/>
                </a:solidFill>
              </a:rPr>
              <a:t>了解技巧的实际效果以及如何应用于工作中，提高工作效率。</a:t>
            </a:r>
          </a:p>
        </p:txBody>
      </p:sp>
      <p:sp>
        <p:nvSpPr>
          <p:cNvPr id="33" name="Title 3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从理论到实践</a:t>
            </a:r>
          </a:p>
        </p:txBody>
      </p:sp>
    </p:spTree>
    <p:custDataLst>
      <p:tags r:id="rId3"/>
    </p:custDataLst>
    <p:extLst>
      <p:ext uri="{BB962C8B-B14F-4D97-AF65-F5344CB8AC3E}">
        <p14:creationId val="1759034015"/>
      </p:ext>
    </p:extLst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altLang="zh-CN"/>
              <a:t>03.基础技巧解析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提升工作效率的基础技巧</a:t>
            </a:r>
            <a:endParaRPr lang="en-US" altLang="zh-CN"/>
          </a:p>
        </p:txBody>
      </p:sp>
    </p:spTree>
    <p:custDataLst>
      <p:tags r:id="rId2"/>
    </p:custDataLst>
    <p:extLst>
      <p:ext uri="{BB962C8B-B14F-4D97-AF65-F5344CB8AC3E}">
        <p14:creationId val="193840011"/>
      </p:ext>
    </p:extLst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E647FAA-E452-B025-7360-AD1458CE1D0C}"/>
              </a:ext>
            </a:extLst>
          </p:cNvPr>
          <p:cNvGrpSpPr/>
          <p:nvPr/>
        </p:nvGrpSpPr>
        <p:grpSpPr>
          <a:xfrm>
            <a:off x="660400" y="1130298"/>
            <a:ext cx="11034383" cy="3639213"/>
            <a:chOff x="660400" y="1130298"/>
            <a:chExt cx="11034383" cy="363921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9A3060-8198-A121-7A07-7BC677028721}"/>
                </a:ext>
              </a:extLst>
            </p:cNvPr>
            <p:cNvGrpSpPr/>
            <p:nvPr/>
          </p:nvGrpSpPr>
          <p:grpSpPr>
            <a:xfrm>
              <a:off x="756557" y="1130298"/>
              <a:ext cx="5512497" cy="1312747"/>
              <a:chOff x="764373" y="1850089"/>
              <a:chExt cx="5512497" cy="1312747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02552320-99E7-D84A-F582-F492C4C439C5}"/>
                  </a:ext>
                </a:extLst>
              </p:cNvPr>
              <p:cNvGrpSpPr/>
              <p:nvPr/>
            </p:nvGrpSpPr>
            <p:grpSpPr>
              <a:xfrm>
                <a:off x="1439391" y="1850089"/>
                <a:ext cx="4837479" cy="1312747"/>
                <a:chOff x="2587903" y="4362413"/>
                <a:chExt cx="6199737" cy="608568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6710F524-E01E-5A66-D8DF-82FA172C0211}"/>
                    </a:ext>
                  </a:extLst>
                </p:cNvPr>
                <p:cNvSpPr/>
                <p:nvPr/>
              </p:nvSpPr>
              <p:spPr>
                <a:xfrm>
                  <a:off x="2587903" y="4587868"/>
                  <a:ext cx="6199737" cy="38311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>
                      <a:solidFill>
                        <a:schemeClr val="tx1"/>
                      </a:solidFill>
                    </a:rPr>
                    <a:t>了解正确的文件管理方法可以帮助您组织和存储文件，提高工作效率。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70EBFD5-10EE-05C9-D455-BD7453FE7574}"/>
                    </a:ext>
                  </a:extLst>
                </p:cNvPr>
                <p:cNvSpPr/>
                <p:nvPr/>
              </p:nvSpPr>
              <p:spPr>
                <a:xfrm>
                  <a:off x="2587904" y="4362413"/>
                  <a:ext cx="6113837" cy="21872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b" anchorCtr="0">
                  <a:no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2400" b="1">
                      <a:solidFill>
                        <a:schemeClr val="tx1"/>
                      </a:solidFill>
                    </a:rPr>
                    <a:t>正确的文件管理</a:t>
                  </a:r>
                </a:p>
              </p:txBody>
            </p:sp>
          </p:grp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FAE5230-B0BE-008A-697E-D9BD73350928}"/>
                  </a:ext>
                </a:extLst>
              </p:cNvPr>
              <p:cNvSpPr/>
              <p:nvPr/>
            </p:nvSpPr>
            <p:spPr>
              <a:xfrm>
                <a:off x="1050123" y="1850091"/>
                <a:ext cx="190500" cy="377952"/>
              </a:xfrm>
              <a:custGeom>
                <a:gdLst>
                  <a:gd name="connsiteX0" fmla="*/ 190500 w 190500"/>
                  <a:gd name="connsiteY0" fmla="*/ 377952 h 377952"/>
                  <a:gd name="connsiteX1" fmla="*/ 190500 w 190500"/>
                  <a:gd name="connsiteY1" fmla="*/ 187452 h 377952"/>
                  <a:gd name="connsiteX2" fmla="*/ 81820 w 190500"/>
                  <a:gd name="connsiteY2" fmla="*/ 187452 h 377952"/>
                  <a:gd name="connsiteX3" fmla="*/ 190500 w 190500"/>
                  <a:gd name="connsiteY3" fmla="*/ 81725 h 377952"/>
                  <a:gd name="connsiteX4" fmla="*/ 190500 w 190500"/>
                  <a:gd name="connsiteY4" fmla="*/ 0 h 377952"/>
                  <a:gd name="connsiteX5" fmla="*/ 0 w 190500"/>
                  <a:gd name="connsiteY5" fmla="*/ 187452 h 377952"/>
                  <a:gd name="connsiteX6" fmla="*/ 0 w 190500"/>
                  <a:gd name="connsiteY6" fmla="*/ 187452 h 377952"/>
                  <a:gd name="connsiteX7" fmla="*/ 0 w 190500"/>
                  <a:gd name="connsiteY7" fmla="*/ 377952 h 377952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" h="377952">
                    <a:moveTo>
                      <a:pt x="190500" y="377952"/>
                    </a:moveTo>
                    <a:lnTo>
                      <a:pt x="190500" y="187452"/>
                    </a:lnTo>
                    <a:lnTo>
                      <a:pt x="81820" y="187452"/>
                    </a:lnTo>
                    <a:cubicBezTo>
                      <a:pt x="83469" y="128608"/>
                      <a:pt x="131633" y="81753"/>
                      <a:pt x="190500" y="81725"/>
                    </a:cubicBezTo>
                    <a:lnTo>
                      <a:pt x="190500" y="0"/>
                    </a:lnTo>
                    <a:cubicBezTo>
                      <a:pt x="86469" y="-13"/>
                      <a:pt x="1665" y="83434"/>
                      <a:pt x="0" y="187452"/>
                    </a:cubicBezTo>
                    <a:lnTo>
                      <a:pt x="0" y="187452"/>
                    </a:lnTo>
                    <a:lnTo>
                      <a:pt x="0" y="377952"/>
                    </a:lnTo>
                    <a:close/>
                  </a:path>
                </a:pathLst>
              </a:custGeom>
              <a:solidFill>
                <a:schemeClr val="accent1"/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11FD265-1C18-DE0D-CFF0-9E001C364AFF}"/>
                  </a:ext>
                </a:extLst>
              </p:cNvPr>
              <p:cNvSpPr/>
              <p:nvPr/>
            </p:nvSpPr>
            <p:spPr>
              <a:xfrm>
                <a:off x="764373" y="1850091"/>
                <a:ext cx="190500" cy="377952"/>
              </a:xfrm>
              <a:custGeom>
                <a:gdLst>
                  <a:gd name="connsiteX0" fmla="*/ 190500 w 190500"/>
                  <a:gd name="connsiteY0" fmla="*/ 377952 h 377952"/>
                  <a:gd name="connsiteX1" fmla="*/ 190500 w 190500"/>
                  <a:gd name="connsiteY1" fmla="*/ 187452 h 377952"/>
                  <a:gd name="connsiteX2" fmla="*/ 81820 w 190500"/>
                  <a:gd name="connsiteY2" fmla="*/ 187452 h 377952"/>
                  <a:gd name="connsiteX3" fmla="*/ 190500 w 190500"/>
                  <a:gd name="connsiteY3" fmla="*/ 81725 h 377952"/>
                  <a:gd name="connsiteX4" fmla="*/ 190500 w 190500"/>
                  <a:gd name="connsiteY4" fmla="*/ 0 h 377952"/>
                  <a:gd name="connsiteX5" fmla="*/ 0 w 190500"/>
                  <a:gd name="connsiteY5" fmla="*/ 187452 h 377952"/>
                  <a:gd name="connsiteX6" fmla="*/ 0 w 190500"/>
                  <a:gd name="connsiteY6" fmla="*/ 187452 h 377952"/>
                  <a:gd name="connsiteX7" fmla="*/ 0 w 190500"/>
                  <a:gd name="connsiteY7" fmla="*/ 377952 h 377952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0500" h="377952">
                    <a:moveTo>
                      <a:pt x="190500" y="377952"/>
                    </a:moveTo>
                    <a:lnTo>
                      <a:pt x="190500" y="187452"/>
                    </a:lnTo>
                    <a:lnTo>
                      <a:pt x="81820" y="187452"/>
                    </a:lnTo>
                    <a:cubicBezTo>
                      <a:pt x="83469" y="128608"/>
                      <a:pt x="131633" y="81753"/>
                      <a:pt x="190500" y="81725"/>
                    </a:cubicBezTo>
                    <a:lnTo>
                      <a:pt x="190500" y="0"/>
                    </a:lnTo>
                    <a:cubicBezTo>
                      <a:pt x="86469" y="-13"/>
                      <a:pt x="1665" y="83434"/>
                      <a:pt x="0" y="187452"/>
                    </a:cubicBezTo>
                    <a:lnTo>
                      <a:pt x="0" y="187452"/>
                    </a:lnTo>
                    <a:lnTo>
                      <a:pt x="0" y="377952"/>
                    </a:lnTo>
                    <a:close/>
                  </a:path>
                </a:pathLst>
              </a:custGeom>
              <a:solidFill>
                <a:schemeClr val="accent1"/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062842B-0B9C-13C2-8925-44D5051B04B1}"/>
                </a:ext>
              </a:extLst>
            </p:cNvPr>
            <p:cNvGrpSpPr/>
            <p:nvPr/>
          </p:nvGrpSpPr>
          <p:grpSpPr>
            <a:xfrm>
              <a:off x="4346925" y="3578033"/>
              <a:ext cx="3661333" cy="1191478"/>
              <a:chOff x="778034" y="4167311"/>
              <a:chExt cx="3661333" cy="1191478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2FF0B0A4-CA2C-CEF9-C6D6-D4FEAE7EA3A6}"/>
                  </a:ext>
                </a:extLst>
              </p:cNvPr>
              <p:cNvGrpSpPr/>
              <p:nvPr/>
            </p:nvGrpSpPr>
            <p:grpSpPr>
              <a:xfrm>
                <a:off x="778034" y="4167311"/>
                <a:ext cx="1922130" cy="540000"/>
                <a:chOff x="999357" y="4123882"/>
                <a:chExt cx="1922130" cy="5400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BEF8BC3-5C9D-85A5-0B95-79F351E17CAF}"/>
                    </a:ext>
                  </a:extLst>
                </p:cNvPr>
                <p:cNvSpPr/>
                <p:nvPr/>
              </p:nvSpPr>
              <p:spPr>
                <a:xfrm>
                  <a:off x="1582686" y="4130939"/>
                  <a:ext cx="1338801" cy="5258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>
                      <a:solidFill>
                        <a:schemeClr val="tx1"/>
                      </a:solidFill>
                    </a:rPr>
                    <a:t>有意义的文件命名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C129A3C-04D2-BDD9-65A7-092A5E7C3F54}"/>
                    </a:ext>
                  </a:extLst>
                </p:cNvPr>
                <p:cNvSpPr txBox="1"/>
                <p:nvPr/>
              </p:nvSpPr>
              <p:spPr>
                <a:xfrm>
                  <a:off x="999357" y="4123882"/>
                  <a:ext cx="540000" cy="540000"/>
                </a:xfrm>
                <a:prstGeom prst="ellipse">
                  <a:avLst/>
                </a:prstGeom>
                <a:solidFill>
                  <a:schemeClr val="tx2"/>
                </a:soli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sz="2000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/>
                    <a:t>02</a:t>
                  </a:r>
                  <a:endParaRPr lang="zh-CN" altLang="en-US"/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8C99797-531F-7705-1EBB-04469D2307C9}"/>
                  </a:ext>
                </a:extLst>
              </p:cNvPr>
              <p:cNvSpPr/>
              <p:nvPr/>
            </p:nvSpPr>
            <p:spPr>
              <a:xfrm>
                <a:off x="1361363" y="4716589"/>
                <a:ext cx="3078004" cy="642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</a:rPr>
                  <a:t>给文件命名时使用具体和描述性的词汇，以便快速理解文件内容和目的。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E61F0771-C2B1-1494-6B84-F79A06843495}"/>
                </a:ext>
              </a:extLst>
            </p:cNvPr>
            <p:cNvGrpSpPr/>
            <p:nvPr/>
          </p:nvGrpSpPr>
          <p:grpSpPr>
            <a:xfrm>
              <a:off x="660400" y="3578033"/>
              <a:ext cx="3661333" cy="1191478"/>
              <a:chOff x="778034" y="4167311"/>
              <a:chExt cx="3661333" cy="119147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513B506-297E-3FD9-75A5-ADD0F909ACEE}"/>
                  </a:ext>
                </a:extLst>
              </p:cNvPr>
              <p:cNvGrpSpPr/>
              <p:nvPr/>
            </p:nvGrpSpPr>
            <p:grpSpPr>
              <a:xfrm>
                <a:off x="778034" y="4167311"/>
                <a:ext cx="1922130" cy="540000"/>
                <a:chOff x="999357" y="4123882"/>
                <a:chExt cx="1922130" cy="540000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AD87CAA-DCA0-3C77-98AA-CD7699449811}"/>
                    </a:ext>
                  </a:extLst>
                </p:cNvPr>
                <p:cNvSpPr/>
                <p:nvPr/>
              </p:nvSpPr>
              <p:spPr>
                <a:xfrm>
                  <a:off x="1582686" y="4130939"/>
                  <a:ext cx="1338801" cy="5258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>
                      <a:solidFill>
                        <a:schemeClr val="tx1"/>
                      </a:solidFill>
                    </a:rPr>
                    <a:t>建立文件结构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1ADDD77-4B6F-067E-C015-1B68F21BF988}"/>
                    </a:ext>
                  </a:extLst>
                </p:cNvPr>
                <p:cNvSpPr txBox="1"/>
                <p:nvPr/>
              </p:nvSpPr>
              <p:spPr>
                <a:xfrm>
                  <a:off x="999357" y="4123882"/>
                  <a:ext cx="540000" cy="540000"/>
                </a:xfrm>
                <a:prstGeom prst="ellipse">
                  <a:avLst/>
                </a:prstGeom>
                <a:solidFill>
                  <a:schemeClr val="accent1"/>
                </a:soli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sz="2000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/>
                    <a:t>01</a:t>
                  </a:r>
                  <a:endParaRPr lang="zh-CN" altLang="en-US"/>
                </a:p>
              </p:txBody>
            </p:sp>
          </p:grp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49DFBB3-D2F5-5FE2-2778-120EF86CFC50}"/>
                  </a:ext>
                </a:extLst>
              </p:cNvPr>
              <p:cNvSpPr/>
              <p:nvPr/>
            </p:nvSpPr>
            <p:spPr>
              <a:xfrm>
                <a:off x="1361363" y="4716589"/>
                <a:ext cx="3078004" cy="642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</a:rPr>
                  <a:t>创建明确的文件夹和子文件夹层次结构，以便快速定位和访问所需文件。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28D94E2-09A8-3428-E73A-CAEBD44BCC18}"/>
                </a:ext>
              </a:extLst>
            </p:cNvPr>
            <p:cNvGrpSpPr/>
            <p:nvPr/>
          </p:nvGrpSpPr>
          <p:grpSpPr>
            <a:xfrm>
              <a:off x="8033450" y="3578033"/>
              <a:ext cx="3661333" cy="1191478"/>
              <a:chOff x="778034" y="4167311"/>
              <a:chExt cx="3661333" cy="119147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D3923EB7-FA78-6E02-A7D2-5453E897D991}"/>
                  </a:ext>
                </a:extLst>
              </p:cNvPr>
              <p:cNvGrpSpPr/>
              <p:nvPr/>
            </p:nvGrpSpPr>
            <p:grpSpPr>
              <a:xfrm>
                <a:off x="778034" y="4167311"/>
                <a:ext cx="1922130" cy="540000"/>
                <a:chOff x="999357" y="4123882"/>
                <a:chExt cx="1922130" cy="540000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6D0EC229-C7E1-C664-3207-3DF62F775DB7}"/>
                    </a:ext>
                  </a:extLst>
                </p:cNvPr>
                <p:cNvSpPr/>
                <p:nvPr/>
              </p:nvSpPr>
              <p:spPr>
                <a:xfrm>
                  <a:off x="1582686" y="4130939"/>
                  <a:ext cx="1338801" cy="52588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b" anchorCtr="0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>
                      <a:solidFill>
                        <a:schemeClr val="tx1"/>
                      </a:solidFill>
                    </a:rPr>
                    <a:t>文件整理归档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9C48DC44-8C08-16A9-E7C0-E8D42C423A48}"/>
                    </a:ext>
                  </a:extLst>
                </p:cNvPr>
                <p:cNvSpPr txBox="1"/>
                <p:nvPr/>
              </p:nvSpPr>
              <p:spPr>
                <a:xfrm>
                  <a:off x="999357" y="4123882"/>
                  <a:ext cx="540000" cy="540000"/>
                </a:xfrm>
                <a:prstGeom prst="ellipse">
                  <a:avLst/>
                </a:prstGeom>
                <a:solidFill>
                  <a:schemeClr val="accent1"/>
                </a:soli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sz="2000" b="1">
                      <a:solidFill>
                        <a:srgbClr val="FFFFFF"/>
                      </a:solidFill>
                    </a:defRPr>
                  </a:lvl1pPr>
                </a:lstStyle>
                <a:p>
                  <a:r>
                    <a:rPr lang="en-US" altLang="zh-CN"/>
                    <a:t>03</a:t>
                  </a:r>
                  <a:endParaRPr lang="zh-CN" altLang="en-US"/>
                </a:p>
              </p:txBody>
            </p:sp>
          </p:grp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9AC45463-64AD-2104-BD41-AFDDDF07F8D9}"/>
                  </a:ext>
                </a:extLst>
              </p:cNvPr>
              <p:cNvSpPr/>
              <p:nvPr/>
            </p:nvSpPr>
            <p:spPr>
              <a:xfrm>
                <a:off x="1361363" y="4716589"/>
                <a:ext cx="3078004" cy="642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</a:rPr>
                  <a:t>定期清理和归档不再需要的文件，以保持文件夹的整洁和可用性。</a:t>
                </a:r>
              </a:p>
            </p:txBody>
          </p:sp>
        </p:grpSp>
      </p:grpSp>
      <p:sp>
        <p:nvSpPr>
          <p:cNvPr id="37" name="Title 36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文件秩序之秘</a:t>
            </a:r>
          </a:p>
        </p:txBody>
      </p:sp>
    </p:spTree>
    <p:custDataLst>
      <p:tags r:id="rId2"/>
    </p:custDataLst>
    <p:extLst>
      <p:ext uri="{BB962C8B-B14F-4D97-AF65-F5344CB8AC3E}">
        <p14:creationId val="2782823620"/>
      </p:ext>
    </p:extLst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0" name="Group 9"/>
          <p:cNvGrpSpPr/>
          <p:nvPr/>
        </p:nvGrpSpPr>
        <p:grpSpPr>
          <a:xfrm>
            <a:off x="660398" y="1130300"/>
            <a:ext cx="10858502" cy="4371687"/>
            <a:chOff x="660398" y="1130300"/>
            <a:chExt cx="10858502" cy="437168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FCF34DE-B23B-DD8D-DF49-28846D1235B2}"/>
                </a:ext>
              </a:extLst>
            </p:cNvPr>
            <p:cNvGrpSpPr/>
            <p:nvPr/>
          </p:nvGrpSpPr>
          <p:grpSpPr>
            <a:xfrm>
              <a:off x="3538971" y="3022322"/>
              <a:ext cx="2222788" cy="2479665"/>
              <a:chOff x="3569854" y="3022322"/>
              <a:chExt cx="2222788" cy="2479665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A1709BF8-D9F5-A1E9-77E6-04BC37F5A0C5}"/>
                  </a:ext>
                </a:extLst>
              </p:cNvPr>
              <p:cNvSpPr/>
              <p:nvPr/>
            </p:nvSpPr>
            <p:spPr bwMode="auto">
              <a:xfrm flipV="1">
                <a:off x="3569854" y="3279199"/>
                <a:ext cx="2222788" cy="2222788"/>
              </a:xfrm>
              <a:custGeom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2ADEEEB2-50F1-4C1A-8BEA-C85BEBF8742F}"/>
                  </a:ext>
                </a:extLst>
              </p:cNvPr>
              <p:cNvGrpSpPr/>
              <p:nvPr/>
            </p:nvGrpSpPr>
            <p:grpSpPr>
              <a:xfrm>
                <a:off x="3780982" y="4009087"/>
                <a:ext cx="1800532" cy="834999"/>
                <a:chOff x="1369491" y="4391793"/>
                <a:chExt cx="1800532" cy="834999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729BB787-EB15-402E-9549-CA2066C40B22}"/>
                    </a:ext>
                  </a:extLst>
                </p:cNvPr>
                <p:cNvSpPr txBox="1"/>
                <p:nvPr/>
              </p:nvSpPr>
              <p:spPr>
                <a:xfrm>
                  <a:off x="1369491" y="4391793"/>
                  <a:ext cx="1800532" cy="340735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rtlCol="0" anchor="b" anchorCtr="0">
                  <a:norm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/>
                    <a:t>回复速度</a:t>
                  </a:r>
                  <a:endParaRPr lang="zh-CN" altLang="en-US" sz="1600" b="1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AA582128-A87D-418C-928D-BE831F1D6001}"/>
                    </a:ext>
                  </a:extLst>
                </p:cNvPr>
                <p:cNvSpPr/>
                <p:nvPr/>
              </p:nvSpPr>
              <p:spPr>
                <a:xfrm flipH="1">
                  <a:off x="1369491" y="4824501"/>
                  <a:ext cx="1800532" cy="402291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0" forceAA="0" compatLnSpc="1">
                  <a:no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tx1"/>
                      </a:solidFill>
                    </a:rPr>
                    <a:t>及时回复邮件，提高工作效率</a:t>
                  </a: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BFCCF9E-2BF0-4ACE-9D1C-35A923073F84}"/>
                  </a:ext>
                </a:extLst>
              </p:cNvPr>
              <p:cNvGrpSpPr/>
              <p:nvPr/>
            </p:nvGrpSpPr>
            <p:grpSpPr>
              <a:xfrm>
                <a:off x="4411247" y="3022322"/>
                <a:ext cx="540002" cy="540000"/>
                <a:chOff x="2980071" y="1714401"/>
                <a:chExt cx="540002" cy="540000"/>
              </a:xfrm>
            </p:grpSpPr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2C028670-BA2C-40D5-913E-A206F5AB35DC}"/>
                    </a:ext>
                  </a:extLst>
                </p:cNvPr>
                <p:cNvSpPr/>
                <p:nvPr/>
              </p:nvSpPr>
              <p:spPr>
                <a:xfrm>
                  <a:off x="2980071" y="1714401"/>
                  <a:ext cx="540002" cy="540000"/>
                </a:xfrm>
                <a:prstGeom prst="ellipse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D730E65B-A823-45A6-BE0C-02623B99957F}"/>
                    </a:ext>
                  </a:extLst>
                </p:cNvPr>
                <p:cNvSpPr/>
                <p:nvPr/>
              </p:nvSpPr>
              <p:spPr>
                <a:xfrm>
                  <a:off x="3132909" y="1896529"/>
                  <a:ext cx="234327" cy="175744"/>
                </a:xfrm>
                <a:custGeom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69832EE-8557-BD24-B884-FB8497C7C9CC}"/>
                </a:ext>
              </a:extLst>
            </p:cNvPr>
            <p:cNvGrpSpPr/>
            <p:nvPr/>
          </p:nvGrpSpPr>
          <p:grpSpPr>
            <a:xfrm>
              <a:off x="660400" y="3022322"/>
              <a:ext cx="2222788" cy="2479665"/>
              <a:chOff x="660400" y="3022322"/>
              <a:chExt cx="2222788" cy="2479665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31C8EB55-CF8B-3FAE-80E4-5C07FFEF3D34}"/>
                  </a:ext>
                </a:extLst>
              </p:cNvPr>
              <p:cNvSpPr/>
              <p:nvPr/>
            </p:nvSpPr>
            <p:spPr bwMode="auto">
              <a:xfrm>
                <a:off x="660400" y="3279199"/>
                <a:ext cx="2222788" cy="2222788"/>
              </a:xfrm>
              <a:custGeom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95CF8BD2-6263-4006-B3AA-6EF460ABDF5C}"/>
                  </a:ext>
                </a:extLst>
              </p:cNvPr>
              <p:cNvGrpSpPr/>
              <p:nvPr/>
            </p:nvGrpSpPr>
            <p:grpSpPr>
              <a:xfrm>
                <a:off x="871528" y="4009087"/>
                <a:ext cx="1800532" cy="834999"/>
                <a:chOff x="1369491" y="4391793"/>
                <a:chExt cx="1800532" cy="834999"/>
              </a:xfrm>
            </p:grpSpPr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26239BA-41EA-4A7F-90BA-EC089DFEC5B4}"/>
                    </a:ext>
                  </a:extLst>
                </p:cNvPr>
                <p:cNvSpPr txBox="1"/>
                <p:nvPr/>
              </p:nvSpPr>
              <p:spPr>
                <a:xfrm>
                  <a:off x="1369491" y="4391793"/>
                  <a:ext cx="1800532" cy="340735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rtlCol="0" anchor="b" anchorCtr="0">
                  <a:norm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/>
                    <a:t>分类管理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92F24781-2C23-44C7-8B30-996B305F2943}"/>
                    </a:ext>
                  </a:extLst>
                </p:cNvPr>
                <p:cNvSpPr/>
                <p:nvPr/>
              </p:nvSpPr>
              <p:spPr>
                <a:xfrm flipH="1">
                  <a:off x="1369491" y="4824501"/>
                  <a:ext cx="1800532" cy="402291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0" forceAA="0" compatLnSpc="1">
                  <a:no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tx1"/>
                      </a:solidFill>
                    </a:rPr>
                    <a:t>将邮件分门别类，减少查找时间</a:t>
                  </a:r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C5EA88A-A4CF-4573-85D4-1CBA64492407}"/>
                  </a:ext>
                </a:extLst>
              </p:cNvPr>
              <p:cNvGrpSpPr/>
              <p:nvPr/>
            </p:nvGrpSpPr>
            <p:grpSpPr>
              <a:xfrm>
                <a:off x="1501793" y="3022322"/>
                <a:ext cx="540002" cy="540000"/>
                <a:chOff x="4181030" y="2419251"/>
                <a:chExt cx="540002" cy="540000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3F095B91-5B97-486C-8DD7-D73DDC094066}"/>
                    </a:ext>
                  </a:extLst>
                </p:cNvPr>
                <p:cNvSpPr/>
                <p:nvPr/>
              </p:nvSpPr>
              <p:spPr>
                <a:xfrm>
                  <a:off x="4181030" y="2419251"/>
                  <a:ext cx="540002" cy="540000"/>
                </a:xfrm>
                <a:prstGeom prst="ellipse">
                  <a:avLst/>
                </a:prstGeom>
                <a:solidFill>
                  <a:schemeClr val="tx2">
                    <a:alpha val="7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F51B80D-0D2C-42EC-9F37-8491DFE4EDF2}"/>
                    </a:ext>
                  </a:extLst>
                </p:cNvPr>
                <p:cNvSpPr/>
                <p:nvPr/>
              </p:nvSpPr>
              <p:spPr>
                <a:xfrm>
                  <a:off x="4344146" y="2580446"/>
                  <a:ext cx="213771" cy="234327"/>
                </a:xfrm>
                <a:custGeom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5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5210582-D20C-91CE-6793-759E0D8F2B7D}"/>
                </a:ext>
              </a:extLst>
            </p:cNvPr>
            <p:cNvGrpSpPr/>
            <p:nvPr/>
          </p:nvGrpSpPr>
          <p:grpSpPr>
            <a:xfrm>
              <a:off x="9296112" y="3022322"/>
              <a:ext cx="2222788" cy="2479665"/>
              <a:chOff x="9296112" y="3022322"/>
              <a:chExt cx="2222788" cy="2479665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D774AE4-C229-35F8-AFFB-E4CF1C1C2B58}"/>
                  </a:ext>
                </a:extLst>
              </p:cNvPr>
              <p:cNvSpPr/>
              <p:nvPr/>
            </p:nvSpPr>
            <p:spPr bwMode="auto">
              <a:xfrm flipV="1">
                <a:off x="9296112" y="3279199"/>
                <a:ext cx="2222788" cy="2222788"/>
              </a:xfrm>
              <a:custGeom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9D589D38-CC80-4ED5-8692-47E53A2A3A11}"/>
                  </a:ext>
                </a:extLst>
              </p:cNvPr>
              <p:cNvGrpSpPr/>
              <p:nvPr/>
            </p:nvGrpSpPr>
            <p:grpSpPr>
              <a:xfrm>
                <a:off x="9507240" y="4009087"/>
                <a:ext cx="1800532" cy="834999"/>
                <a:chOff x="1369491" y="4391793"/>
                <a:chExt cx="1800532" cy="834999"/>
              </a:xfrm>
            </p:grpSpPr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8C3FA7DE-1819-4843-B2F7-C306623DA312}"/>
                    </a:ext>
                  </a:extLst>
                </p:cNvPr>
                <p:cNvSpPr txBox="1"/>
                <p:nvPr/>
              </p:nvSpPr>
              <p:spPr>
                <a:xfrm>
                  <a:off x="1369491" y="4391793"/>
                  <a:ext cx="1800532" cy="340735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rtlCol="0" anchor="b" anchorCtr="0">
                  <a:norm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/>
                    <a:t>清晰明了</a:t>
                  </a:r>
                  <a:endParaRPr lang="zh-CN" altLang="en-US" sz="1600" b="1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88D1B08D-D9D9-4C0B-86D9-2A9BAB904824}"/>
                    </a:ext>
                  </a:extLst>
                </p:cNvPr>
                <p:cNvSpPr/>
                <p:nvPr/>
              </p:nvSpPr>
              <p:spPr>
                <a:xfrm flipH="1">
                  <a:off x="1369491" y="4824501"/>
                  <a:ext cx="1800532" cy="402291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0" forceAA="0" compatLnSpc="1">
                  <a:no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tx1"/>
                      </a:solidFill>
                    </a:rPr>
                    <a:t>邮件内容清晰明了，避免产生歧义</a:t>
                  </a: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8B9A9BB2-70AA-4E09-8701-0FCF33441277}"/>
                  </a:ext>
                </a:extLst>
              </p:cNvPr>
              <p:cNvGrpSpPr/>
              <p:nvPr/>
            </p:nvGrpSpPr>
            <p:grpSpPr>
              <a:xfrm>
                <a:off x="10137505" y="3022322"/>
                <a:ext cx="540002" cy="540000"/>
                <a:chOff x="6325290" y="2419251"/>
                <a:chExt cx="540002" cy="540000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87D27626-E74C-4347-AF16-2BC528A7CE1F}"/>
                    </a:ext>
                  </a:extLst>
                </p:cNvPr>
                <p:cNvSpPr/>
                <p:nvPr/>
              </p:nvSpPr>
              <p:spPr>
                <a:xfrm>
                  <a:off x="6325290" y="2419251"/>
                  <a:ext cx="540002" cy="540000"/>
                </a:xfrm>
                <a:prstGeom prst="ellipse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DD68D99E-2984-482F-8B85-0519A659B1E1}"/>
                    </a:ext>
                  </a:extLst>
                </p:cNvPr>
                <p:cNvSpPr/>
                <p:nvPr/>
              </p:nvSpPr>
              <p:spPr>
                <a:xfrm>
                  <a:off x="6478128" y="2595889"/>
                  <a:ext cx="234327" cy="195080"/>
                </a:xfrm>
                <a:custGeom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4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EFB31ED-37AB-7694-FD23-5C347D2553A4}"/>
                </a:ext>
              </a:extLst>
            </p:cNvPr>
            <p:cNvGrpSpPr/>
            <p:nvPr/>
          </p:nvGrpSpPr>
          <p:grpSpPr>
            <a:xfrm>
              <a:off x="6417542" y="3022322"/>
              <a:ext cx="2222788" cy="2479665"/>
              <a:chOff x="6406573" y="3022322"/>
              <a:chExt cx="2222788" cy="2479665"/>
            </a:xfrm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C6DF36B-555B-5EE1-7842-AB5ABE639A0A}"/>
                  </a:ext>
                </a:extLst>
              </p:cNvPr>
              <p:cNvSpPr/>
              <p:nvPr/>
            </p:nvSpPr>
            <p:spPr bwMode="auto">
              <a:xfrm>
                <a:off x="6406573" y="3279199"/>
                <a:ext cx="2222788" cy="2222788"/>
              </a:xfrm>
              <a:custGeom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D6A779B9-2154-400C-A99A-6879EB7B5E12}"/>
                  </a:ext>
                </a:extLst>
              </p:cNvPr>
              <p:cNvGrpSpPr/>
              <p:nvPr/>
            </p:nvGrpSpPr>
            <p:grpSpPr>
              <a:xfrm>
                <a:off x="6617701" y="4009087"/>
                <a:ext cx="1800532" cy="834999"/>
                <a:chOff x="1369491" y="4391793"/>
                <a:chExt cx="1800532" cy="834999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8DEADC3-2B82-4228-8E78-F7EBB0582CD3}"/>
                    </a:ext>
                  </a:extLst>
                </p:cNvPr>
                <p:cNvSpPr txBox="1"/>
                <p:nvPr/>
              </p:nvSpPr>
              <p:spPr>
                <a:xfrm>
                  <a:off x="1369491" y="4391793"/>
                  <a:ext cx="1800532" cy="340735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rtlCol="0" anchor="b" anchorCtr="0">
                  <a:norm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/>
                    <a:t>简明扼要</a:t>
                  </a:r>
                  <a:endParaRPr lang="zh-CN" altLang="en-US" sz="1600" b="1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279A1DAF-662A-4401-866D-35F0AE3D7248}"/>
                    </a:ext>
                  </a:extLst>
                </p:cNvPr>
                <p:cNvSpPr/>
                <p:nvPr/>
              </p:nvSpPr>
              <p:spPr>
                <a:xfrm flipH="1">
                  <a:off x="1369491" y="4824501"/>
                  <a:ext cx="1800532" cy="402291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0" forceAA="0" compatLnSpc="1">
                  <a:no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tx1"/>
                      </a:solidFill>
                    </a:rPr>
                    <a:t>言简意赅地表达，减少沟通成本</a:t>
                  </a: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94373ECD-F29A-4B60-ABF4-07B71DA02868}"/>
                  </a:ext>
                </a:extLst>
              </p:cNvPr>
              <p:cNvGrpSpPr/>
              <p:nvPr/>
            </p:nvGrpSpPr>
            <p:grpSpPr>
              <a:xfrm>
                <a:off x="7247966" y="3022322"/>
                <a:ext cx="540002" cy="540000"/>
                <a:chOff x="7449566" y="2419251"/>
                <a:chExt cx="545860" cy="540000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E7ECADA5-FDBC-47B6-BA2D-8F0CF6FB48E0}"/>
                    </a:ext>
                  </a:extLst>
                </p:cNvPr>
                <p:cNvSpPr/>
                <p:nvPr/>
              </p:nvSpPr>
              <p:spPr>
                <a:xfrm>
                  <a:off x="7449566" y="2419251"/>
                  <a:ext cx="545860" cy="540000"/>
                </a:xfrm>
                <a:prstGeom prst="ellipse">
                  <a:avLst/>
                </a:prstGeom>
                <a:solidFill>
                  <a:schemeClr val="tx2">
                    <a:alpha val="7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4739C542-6BC5-4001-A3BC-8114A89D63C9}"/>
                    </a:ext>
                  </a:extLst>
                </p:cNvPr>
                <p:cNvSpPr/>
                <p:nvPr/>
              </p:nvSpPr>
              <p:spPr>
                <a:xfrm>
                  <a:off x="7602404" y="2578368"/>
                  <a:ext cx="234327" cy="213405"/>
                </a:xfrm>
                <a:custGeom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4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3252B87-6B96-4117-8081-1D71BD9C9ACF}"/>
                </a:ext>
              </a:extLst>
            </p:cNvPr>
            <p:cNvSpPr/>
            <p:nvPr/>
          </p:nvSpPr>
          <p:spPr>
            <a:xfrm>
              <a:off x="660400" y="1130300"/>
              <a:ext cx="10858500" cy="660125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>
                  <a:solidFill>
                    <a:schemeClr val="tx1"/>
                  </a:solidFill>
                </a:rPr>
                <a:t>高效的邮件处理技巧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11282C0-F365-4E36-A762-B930F307CF2C}"/>
                </a:ext>
              </a:extLst>
            </p:cNvPr>
            <p:cNvSpPr txBox="1"/>
            <p:nvPr/>
          </p:nvSpPr>
          <p:spPr>
            <a:xfrm>
              <a:off x="660398" y="1897656"/>
              <a:ext cx="10858501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200">
                  <a:solidFill>
                    <a:schemeClr val="tx1"/>
                  </a:solidFill>
                </a:rPr>
                <a:t>掌握这些技巧，让你的邮件处理更加快速和高效</a:t>
              </a:r>
            </a:p>
          </p:txBody>
        </p:sp>
      </p:grpSp>
      <p:sp>
        <p:nvSpPr>
          <p:cNvPr id="91" name="Title 90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高效的邮件处理</a:t>
            </a:r>
          </a:p>
        </p:txBody>
      </p:sp>
    </p:spTree>
    <p:custDataLst>
      <p:tags r:id="rId2"/>
    </p:custDataLst>
    <p:extLst>
      <p:ext uri="{BB962C8B-B14F-4D97-AF65-F5344CB8AC3E}">
        <p14:creationId val="4157998237"/>
      </p:ext>
    </p:extLst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Group 1"/>
          <p:cNvGrpSpPr/>
          <p:nvPr/>
        </p:nvGrpSpPr>
        <p:grpSpPr>
          <a:xfrm>
            <a:off x="892662" y="1796401"/>
            <a:ext cx="10285050" cy="4396583"/>
            <a:chOff x="892662" y="1796401"/>
            <a:chExt cx="10285050" cy="4396583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63783AC-BC8D-46DC-BA0C-1EA3CFABBDC5}"/>
                </a:ext>
              </a:extLst>
            </p:cNvPr>
            <p:cNvGrpSpPr/>
            <p:nvPr/>
          </p:nvGrpSpPr>
          <p:grpSpPr>
            <a:xfrm>
              <a:off x="4423035" y="4249977"/>
              <a:ext cx="3224304" cy="1943007"/>
              <a:chOff x="4376878" y="3828098"/>
              <a:chExt cx="3224304" cy="1943007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38C88AB-36F4-4AEE-870F-99480F4B032E}"/>
                  </a:ext>
                </a:extLst>
              </p:cNvPr>
              <p:cNvSpPr txBox="1"/>
              <p:nvPr/>
            </p:nvSpPr>
            <p:spPr>
              <a:xfrm>
                <a:off x="4376878" y="3828098"/>
                <a:ext cx="1433418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 marL="0" marR="0" lvl="0" indent="0" algn="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6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</a:rPr>
                  <a:t>02.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BD2D61B-EEE3-4DA8-B6AA-6483FF9522C6}"/>
                  </a:ext>
                </a:extLst>
              </p:cNvPr>
              <p:cNvSpPr/>
              <p:nvPr/>
            </p:nvSpPr>
            <p:spPr>
              <a:xfrm flipH="1">
                <a:off x="5810296" y="4811483"/>
                <a:ext cx="1790886" cy="959622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根据任务的时间要求和自身的工作习惯，制定合理的时间表，确保任务按时完成。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1A922D-0890-4070-A2F5-45400B17153D}"/>
                  </a:ext>
                </a:extLst>
              </p:cNvPr>
              <p:cNvSpPr txBox="1"/>
              <p:nvPr/>
            </p:nvSpPr>
            <p:spPr>
              <a:xfrm>
                <a:off x="5810296" y="4068462"/>
                <a:ext cx="1790886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/>
                  <a:t>制定时间表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786BD16-581F-4130-B5DA-95F1303A2C9E}"/>
                </a:ext>
              </a:extLst>
            </p:cNvPr>
            <p:cNvGrpSpPr/>
            <p:nvPr/>
          </p:nvGrpSpPr>
          <p:grpSpPr>
            <a:xfrm>
              <a:off x="892662" y="4249977"/>
              <a:ext cx="3224304" cy="1508850"/>
              <a:chOff x="785691" y="3828098"/>
              <a:chExt cx="3224304" cy="150885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91E273-4B83-4960-929B-E76FA6F79F34}"/>
                  </a:ext>
                </a:extLst>
              </p:cNvPr>
              <p:cNvSpPr txBox="1"/>
              <p:nvPr/>
            </p:nvSpPr>
            <p:spPr>
              <a:xfrm>
                <a:off x="785691" y="3828098"/>
                <a:ext cx="1433418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 marL="0" marR="0" lvl="0" indent="0" algn="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6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</a:rPr>
                  <a:t>01.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4C12CD9-B688-488F-AE98-9213740FD154}"/>
                  </a:ext>
                </a:extLst>
              </p:cNvPr>
              <p:cNvSpPr/>
              <p:nvPr/>
            </p:nvSpPr>
            <p:spPr>
              <a:xfrm flipH="1">
                <a:off x="2219109" y="4811483"/>
                <a:ext cx="1790886" cy="525465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工作安排：优先级和紧急程度的考量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291E3C-966D-4825-9B53-A23F2CA630D7}"/>
                  </a:ext>
                </a:extLst>
              </p:cNvPr>
              <p:cNvSpPr txBox="1"/>
              <p:nvPr/>
            </p:nvSpPr>
            <p:spPr>
              <a:xfrm>
                <a:off x="2219109" y="4068462"/>
                <a:ext cx="1790886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/>
                  <a:t>设定优先级</a:t>
                </a: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A8AAEEB-A322-48F9-AC00-9AC95335A2AD}"/>
                </a:ext>
              </a:extLst>
            </p:cNvPr>
            <p:cNvSpPr txBox="1"/>
            <p:nvPr/>
          </p:nvSpPr>
          <p:spPr>
            <a:xfrm>
              <a:off x="1001588" y="2082829"/>
              <a:ext cx="5584548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solidFill>
                    <a:schemeClr val="tx1"/>
                  </a:solidFill>
                </a:rPr>
                <a:t>规划提高效率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823B45C-F132-4442-91F1-63AB7FBACF08}"/>
                </a:ext>
              </a:extLst>
            </p:cNvPr>
            <p:cNvSpPr/>
            <p:nvPr/>
          </p:nvSpPr>
          <p:spPr>
            <a:xfrm flipH="1">
              <a:off x="1001588" y="2924756"/>
              <a:ext cx="5584548" cy="294824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/>
                <a:t>时间管理提升办公效率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A2312A5-A136-44A9-BABA-A588B051D027}"/>
                </a:ext>
              </a:extLst>
            </p:cNvPr>
            <p:cNvSpPr/>
            <p:nvPr/>
          </p:nvSpPr>
          <p:spPr>
            <a:xfrm>
              <a:off x="7284637" y="1796401"/>
              <a:ext cx="3893075" cy="1707026"/>
            </a:xfrm>
            <a:prstGeom prst="rect">
              <a:avLst/>
            </a:prstGeom>
            <a:blipFill rotWithShape="0">
              <a:blip r:embed="rId2"/>
              <a:stretch>
                <a:fillRect t="-26220" b="-26220"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97463DE-9F7D-4107-9B77-3A419DD85607}"/>
                </a:ext>
              </a:extLst>
            </p:cNvPr>
            <p:cNvGrpSpPr/>
            <p:nvPr/>
          </p:nvGrpSpPr>
          <p:grpSpPr>
            <a:xfrm>
              <a:off x="7953408" y="4249977"/>
              <a:ext cx="3224304" cy="1943007"/>
              <a:chOff x="7953407" y="3828098"/>
              <a:chExt cx="3224304" cy="1943007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F95D32-4F90-4E73-B6C2-2A7593D48B61}"/>
                  </a:ext>
                </a:extLst>
              </p:cNvPr>
              <p:cNvSpPr txBox="1"/>
              <p:nvPr/>
            </p:nvSpPr>
            <p:spPr>
              <a:xfrm>
                <a:off x="7953407" y="3828098"/>
                <a:ext cx="1433418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 marL="0" marR="0" lvl="0" indent="0" algn="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en-US" altLang="zh-CN" sz="6000" b="1" i="0" u="none" strike="noStrike" kern="1200" cap="none" spc="0" normalizeH="0" baseline="0" noProof="0">
                    <a:ln>
                      <a:noFill/>
                    </a:ln>
                    <a:solidFill>
                      <a:schemeClr val="accent1"/>
                    </a:solidFill>
                    <a:effectLst/>
                    <a:uLnTx/>
                    <a:uFillTx/>
                  </a:rPr>
                  <a:t>03.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88D307D-AEE4-4123-8924-A0390CE2DCB3}"/>
                  </a:ext>
                </a:extLst>
              </p:cNvPr>
              <p:cNvSpPr/>
              <p:nvPr/>
            </p:nvSpPr>
            <p:spPr>
              <a:xfrm flipH="1">
                <a:off x="9386825" y="4811483"/>
                <a:ext cx="1790886" cy="959622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识别并消除工作中的时间浪费因素，如社交媒体、长时间的会议等，提高工作效率。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776F712-1FEC-4D9C-9131-FCE1A6A7633B}"/>
                  </a:ext>
                </a:extLst>
              </p:cNvPr>
              <p:cNvSpPr txBox="1"/>
              <p:nvPr/>
            </p:nvSpPr>
            <p:spPr>
              <a:xfrm>
                <a:off x="9386825" y="4068462"/>
                <a:ext cx="1790886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/>
              </a:bodyPr>
              <a:lstStyle/>
              <a:p>
                <a:pPr>
                  <a:lnSpc>
                    <a:spcPct val="100000"/>
                  </a:lnSpc>
                  <a:buSzPct val="25000"/>
                </a:pPr>
                <a:r>
                  <a:rPr lang="zh-CN" altLang="en-US" sz="1600" b="1"/>
                  <a:t>避免时间浪费</a:t>
                </a:r>
              </a:p>
            </p:txBody>
          </p:sp>
        </p:grpSp>
      </p:grp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时间管理要点</a:t>
            </a:r>
          </a:p>
        </p:txBody>
      </p:sp>
    </p:spTree>
    <p:custDataLst>
      <p:tags r:id="rId3"/>
    </p:custDataLst>
    <p:extLst>
      <p:ext uri="{BB962C8B-B14F-4D97-AF65-F5344CB8AC3E}">
        <p14:creationId val="90316315"/>
      </p:ext>
    </p:extLst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Group 1"/>
          <p:cNvGrpSpPr/>
          <p:nvPr/>
        </p:nvGrpSpPr>
        <p:grpSpPr>
          <a:xfrm>
            <a:off x="660398" y="1130300"/>
            <a:ext cx="10858502" cy="4830829"/>
            <a:chOff x="660398" y="1130300"/>
            <a:chExt cx="10858502" cy="483082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B255097-4CF6-7513-A2EA-B0C0DF8C75DF}"/>
                </a:ext>
              </a:extLst>
            </p:cNvPr>
            <p:cNvGrpSpPr/>
            <p:nvPr/>
          </p:nvGrpSpPr>
          <p:grpSpPr>
            <a:xfrm>
              <a:off x="4758603" y="3022322"/>
              <a:ext cx="2671539" cy="2938807"/>
              <a:chOff x="4779385" y="3022322"/>
              <a:chExt cx="2671539" cy="2938807"/>
            </a:xfrm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362D8D58-6BCD-BF46-7F72-357D2E7F332A}"/>
                  </a:ext>
                </a:extLst>
              </p:cNvPr>
              <p:cNvSpPr/>
              <p:nvPr/>
            </p:nvSpPr>
            <p:spPr bwMode="auto">
              <a:xfrm flipV="1">
                <a:off x="4779385" y="3289590"/>
                <a:ext cx="2671539" cy="2671539"/>
              </a:xfrm>
              <a:custGeom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29BB787-EB15-402E-9549-CA2066C40B22}"/>
                  </a:ext>
                </a:extLst>
              </p:cNvPr>
              <p:cNvSpPr txBox="1"/>
              <p:nvPr/>
            </p:nvSpPr>
            <p:spPr>
              <a:xfrm>
                <a:off x="5214888" y="4009087"/>
                <a:ext cx="1800532" cy="340735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b" anchorCtr="0">
                <a:norm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1600" b="1"/>
                  <a:t>避免多任务并行</a:t>
                </a:r>
                <a:endParaRPr lang="zh-CN" altLang="en-US" sz="1600" b="1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A582128-A87D-418C-928D-BE831F1D6001}"/>
                  </a:ext>
                </a:extLst>
              </p:cNvPr>
              <p:cNvSpPr/>
              <p:nvPr/>
            </p:nvSpPr>
            <p:spPr>
              <a:xfrm flipH="1">
                <a:off x="5214888" y="4441795"/>
                <a:ext cx="1800532" cy="402291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t" anchorCtr="0" forceAA="0" compatLnSpc="1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solidFill>
                      <a:schemeClr val="tx1"/>
                    </a:solidFill>
                  </a:rPr>
                  <a:t>专注于一项任务，提高工作效率和准确性。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C028670-BA2C-40D5-913E-A206F5AB35DC}"/>
                  </a:ext>
                </a:extLst>
              </p:cNvPr>
              <p:cNvSpPr/>
              <p:nvPr/>
            </p:nvSpPr>
            <p:spPr>
              <a:xfrm>
                <a:off x="5845153" y="3022322"/>
                <a:ext cx="540002" cy="540000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D730E65B-A823-45A6-BE0C-02623B99957F}"/>
                  </a:ext>
                </a:extLst>
              </p:cNvPr>
              <p:cNvSpPr/>
              <p:nvPr/>
            </p:nvSpPr>
            <p:spPr>
              <a:xfrm>
                <a:off x="5997991" y="3204450"/>
                <a:ext cx="234327" cy="175744"/>
              </a:xfrm>
              <a:custGeom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1B26492-93A0-69DC-12E0-725E74023260}"/>
                </a:ext>
              </a:extLst>
            </p:cNvPr>
            <p:cNvGrpSpPr/>
            <p:nvPr/>
          </p:nvGrpSpPr>
          <p:grpSpPr>
            <a:xfrm>
              <a:off x="986703" y="3069081"/>
              <a:ext cx="2671539" cy="2845288"/>
              <a:chOff x="986703" y="3022322"/>
              <a:chExt cx="2671539" cy="2845288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B3D2784-E402-CFC2-8F83-BCDCAE0BB8C8}"/>
                  </a:ext>
                </a:extLst>
              </p:cNvPr>
              <p:cNvSpPr/>
              <p:nvPr/>
            </p:nvSpPr>
            <p:spPr bwMode="auto">
              <a:xfrm>
                <a:off x="986703" y="3196071"/>
                <a:ext cx="2671539" cy="2671539"/>
              </a:xfrm>
              <a:custGeom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95CF8BD2-6263-4006-B3AA-6EF460ABDF5C}"/>
                  </a:ext>
                </a:extLst>
              </p:cNvPr>
              <p:cNvGrpSpPr/>
              <p:nvPr/>
            </p:nvGrpSpPr>
            <p:grpSpPr>
              <a:xfrm>
                <a:off x="1422206" y="4009087"/>
                <a:ext cx="1800532" cy="834999"/>
                <a:chOff x="1369491" y="4391793"/>
                <a:chExt cx="1800532" cy="834999"/>
              </a:xfrm>
            </p:grpSpPr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26239BA-41EA-4A7F-90BA-EC089DFEC5B4}"/>
                    </a:ext>
                  </a:extLst>
                </p:cNvPr>
                <p:cNvSpPr txBox="1"/>
                <p:nvPr/>
              </p:nvSpPr>
              <p:spPr>
                <a:xfrm>
                  <a:off x="1369491" y="4391793"/>
                  <a:ext cx="1800532" cy="340735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rtlCol="0" anchor="b" anchorCtr="0">
                  <a:norm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/>
                    <a:t>制定优先任务清单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92F24781-2C23-44C7-8B30-996B305F2943}"/>
                    </a:ext>
                  </a:extLst>
                </p:cNvPr>
                <p:cNvSpPr/>
                <p:nvPr/>
              </p:nvSpPr>
              <p:spPr>
                <a:xfrm flipH="1">
                  <a:off x="1369491" y="4824501"/>
                  <a:ext cx="1800532" cy="402291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0" forceAA="0" compatLnSpc="1">
                  <a:no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tx1"/>
                      </a:solidFill>
                    </a:rPr>
                    <a:t>根据重要性和紧急性，安排工作任务的优先级。</a:t>
                  </a:r>
                </a:p>
              </p:txBody>
            </p:sp>
          </p:grp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C5EA88A-A4CF-4573-85D4-1CBA64492407}"/>
                  </a:ext>
                </a:extLst>
              </p:cNvPr>
              <p:cNvGrpSpPr/>
              <p:nvPr/>
            </p:nvGrpSpPr>
            <p:grpSpPr>
              <a:xfrm>
                <a:off x="2052471" y="3022322"/>
                <a:ext cx="540002" cy="540000"/>
                <a:chOff x="4181030" y="2419251"/>
                <a:chExt cx="540002" cy="540000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3F095B91-5B97-486C-8DD7-D73DDC094066}"/>
                    </a:ext>
                  </a:extLst>
                </p:cNvPr>
                <p:cNvSpPr/>
                <p:nvPr/>
              </p:nvSpPr>
              <p:spPr>
                <a:xfrm>
                  <a:off x="4181030" y="2419251"/>
                  <a:ext cx="540002" cy="540000"/>
                </a:xfrm>
                <a:prstGeom prst="ellipse">
                  <a:avLst/>
                </a:prstGeom>
                <a:solidFill>
                  <a:schemeClr val="tx2">
                    <a:alpha val="7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F51B80D-0D2C-42EC-9F37-8491DFE4EDF2}"/>
                    </a:ext>
                  </a:extLst>
                </p:cNvPr>
                <p:cNvSpPr/>
                <p:nvPr/>
              </p:nvSpPr>
              <p:spPr>
                <a:xfrm>
                  <a:off x="4344146" y="2580446"/>
                  <a:ext cx="213771" cy="234327"/>
                </a:xfrm>
                <a:custGeom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5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913EBB9-9484-1478-F1AB-A35E15A216D0}"/>
                </a:ext>
              </a:extLst>
            </p:cNvPr>
            <p:cNvGrpSpPr/>
            <p:nvPr/>
          </p:nvGrpSpPr>
          <p:grpSpPr>
            <a:xfrm>
              <a:off x="8530503" y="3037908"/>
              <a:ext cx="2671539" cy="2907634"/>
              <a:chOff x="8530503" y="3022322"/>
              <a:chExt cx="2671539" cy="2907634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7761268-4B9D-228A-15B4-C673ED60880D}"/>
                  </a:ext>
                </a:extLst>
              </p:cNvPr>
              <p:cNvSpPr/>
              <p:nvPr/>
            </p:nvSpPr>
            <p:spPr bwMode="auto">
              <a:xfrm>
                <a:off x="8530503" y="3258417"/>
                <a:ext cx="2671539" cy="2671539"/>
              </a:xfrm>
              <a:custGeom>
                <a:gdLst>
                  <a:gd name="T0" fmla="*/ 283 w 566"/>
                  <a:gd name="T1" fmla="*/ 566 h 566"/>
                  <a:gd name="T2" fmla="*/ 0 w 566"/>
                  <a:gd name="T3" fmla="*/ 383 h 566"/>
                  <a:gd name="T4" fmla="*/ 97 w 566"/>
                  <a:gd name="T5" fmla="*/ 136 h 566"/>
                  <a:gd name="T6" fmla="*/ 283 w 566"/>
                  <a:gd name="T7" fmla="*/ 0 h 566"/>
                  <a:gd name="T8" fmla="*/ 469 w 566"/>
                  <a:gd name="T9" fmla="*/ 136 h 566"/>
                  <a:gd name="T10" fmla="*/ 566 w 566"/>
                  <a:gd name="T11" fmla="*/ 383 h 566"/>
                  <a:gd name="T12" fmla="*/ 283 w 566"/>
                  <a:gd name="T13" fmla="*/ 566 h 566"/>
                </a:gdLst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66" h="566">
                    <a:moveTo>
                      <a:pt x="283" y="566"/>
                    </a:moveTo>
                    <a:cubicBezTo>
                      <a:pt x="93" y="566"/>
                      <a:pt x="0" y="506"/>
                      <a:pt x="0" y="383"/>
                    </a:cubicBezTo>
                    <a:cubicBezTo>
                      <a:pt x="0" y="314"/>
                      <a:pt x="37" y="219"/>
                      <a:pt x="97" y="136"/>
                    </a:cubicBezTo>
                    <a:cubicBezTo>
                      <a:pt x="158" y="51"/>
                      <a:pt x="228" y="0"/>
                      <a:pt x="283" y="0"/>
                    </a:cubicBezTo>
                    <a:cubicBezTo>
                      <a:pt x="338" y="0"/>
                      <a:pt x="408" y="51"/>
                      <a:pt x="469" y="136"/>
                    </a:cubicBezTo>
                    <a:cubicBezTo>
                      <a:pt x="529" y="219"/>
                      <a:pt x="566" y="314"/>
                      <a:pt x="566" y="383"/>
                    </a:cubicBezTo>
                    <a:cubicBezTo>
                      <a:pt x="566" y="506"/>
                      <a:pt x="473" y="566"/>
                      <a:pt x="283" y="566"/>
                    </a:cubicBezTo>
                    <a:close/>
                  </a:path>
                </a:pathLst>
              </a:cu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60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D6A779B9-2154-400C-A99A-6879EB7B5E12}"/>
                  </a:ext>
                </a:extLst>
              </p:cNvPr>
              <p:cNvGrpSpPr/>
              <p:nvPr/>
            </p:nvGrpSpPr>
            <p:grpSpPr>
              <a:xfrm>
                <a:off x="8966006" y="4009087"/>
                <a:ext cx="1800532" cy="834999"/>
                <a:chOff x="1369491" y="4391793"/>
                <a:chExt cx="1800532" cy="834999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8DEADC3-2B82-4228-8E78-F7EBB0582CD3}"/>
                    </a:ext>
                  </a:extLst>
                </p:cNvPr>
                <p:cNvSpPr txBox="1"/>
                <p:nvPr/>
              </p:nvSpPr>
              <p:spPr>
                <a:xfrm>
                  <a:off x="1369491" y="4391793"/>
                  <a:ext cx="1800532" cy="340735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rtlCol="0" anchor="b" anchorCtr="0">
                  <a:norm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/>
                    <a:t>工具技术利用</a:t>
                  </a:r>
                  <a:endParaRPr lang="zh-CN" altLang="en-US" sz="1600" b="1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279A1DAF-662A-4401-866D-35F0AE3D7248}"/>
                    </a:ext>
                  </a:extLst>
                </p:cNvPr>
                <p:cNvSpPr/>
                <p:nvPr/>
              </p:nvSpPr>
              <p:spPr>
                <a:xfrm flipH="1">
                  <a:off x="1369491" y="4824501"/>
                  <a:ext cx="1800532" cy="402291"/>
                </a:xfrm>
                <a:prstGeom prst="rect">
                  <a:avLst/>
                </a:prstGeom>
                <a:noFill/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0000" tIns="46800" rIns="90000" bIns="46800" numCol="1" spcCol="0" rtlCol="0" fromWordArt="0" anchor="t" anchorCtr="0" forceAA="0" compatLnSpc="1">
                  <a:no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tx1"/>
                      </a:solidFill>
                    </a:rPr>
                    <a:t>使用适当的工具和技术来提高工作效率和质量。</a:t>
                  </a: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94373ECD-F29A-4B60-ABF4-07B71DA02868}"/>
                  </a:ext>
                </a:extLst>
              </p:cNvPr>
              <p:cNvGrpSpPr/>
              <p:nvPr/>
            </p:nvGrpSpPr>
            <p:grpSpPr>
              <a:xfrm>
                <a:off x="9596271" y="3022322"/>
                <a:ext cx="540002" cy="540000"/>
                <a:chOff x="7449566" y="2419251"/>
                <a:chExt cx="545860" cy="540000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E7ECADA5-FDBC-47B6-BA2D-8F0CF6FB48E0}"/>
                    </a:ext>
                  </a:extLst>
                </p:cNvPr>
                <p:cNvSpPr/>
                <p:nvPr/>
              </p:nvSpPr>
              <p:spPr>
                <a:xfrm>
                  <a:off x="7449566" y="2419251"/>
                  <a:ext cx="545860" cy="540000"/>
                </a:xfrm>
                <a:prstGeom prst="ellipse">
                  <a:avLst/>
                </a:prstGeom>
                <a:solidFill>
                  <a:schemeClr val="tx2">
                    <a:alpha val="7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 cap="flat" cmpd="sng" algn="ctr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14" name="Freeform: Shape 13">
                  <a:extLst>
                    <a:ext uri="{FF2B5EF4-FFF2-40B4-BE49-F238E27FC236}">
                      <a16:creationId xmlns:a16="http://schemas.microsoft.com/office/drawing/2014/main" id="{4739C542-6BC5-4001-A3BC-8114A89D63C9}"/>
                    </a:ext>
                  </a:extLst>
                </p:cNvPr>
                <p:cNvSpPr/>
                <p:nvPr/>
              </p:nvSpPr>
              <p:spPr>
                <a:xfrm>
                  <a:off x="7602404" y="2578368"/>
                  <a:ext cx="234327" cy="213405"/>
                </a:xfrm>
                <a:custGeom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4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3252B87-6B96-4117-8081-1D71BD9C9ACF}"/>
                </a:ext>
              </a:extLst>
            </p:cNvPr>
            <p:cNvSpPr/>
            <p:nvPr/>
          </p:nvSpPr>
          <p:spPr>
            <a:xfrm>
              <a:off x="660400" y="1130300"/>
              <a:ext cx="10858500" cy="660125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>
                  <a:solidFill>
                    <a:schemeClr val="tx1"/>
                  </a:solidFill>
                </a:rPr>
                <a:t>培养良好的时间管理习惯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11282C0-F365-4E36-A762-B930F307CF2C}"/>
                </a:ext>
              </a:extLst>
            </p:cNvPr>
            <p:cNvSpPr txBox="1"/>
            <p:nvPr/>
          </p:nvSpPr>
          <p:spPr>
            <a:xfrm>
              <a:off x="660398" y="1897656"/>
              <a:ext cx="10858501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200">
                  <a:solidFill>
                    <a:schemeClr val="tx1"/>
                  </a:solidFill>
                </a:rPr>
                <a:t>合理安排工作时间，避免拖延，提高工作效率。</a:t>
              </a:r>
            </a:p>
          </p:txBody>
        </p:sp>
      </p:grpSp>
      <p:sp>
        <p:nvSpPr>
          <p:cNvPr id="91" name="Title 90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提高效率的技巧</a:t>
            </a:r>
          </a:p>
        </p:txBody>
      </p:sp>
    </p:spTree>
    <p:custDataLst>
      <p:tags r:id="rId2"/>
    </p:custDataLst>
    <p:extLst>
      <p:ext uri="{BB962C8B-B14F-4D97-AF65-F5344CB8AC3E}">
        <p14:creationId val="2485223699"/>
      </p:ext>
    </p:extLst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14" name="Group 13"/>
          <p:cNvGrpSpPr/>
          <p:nvPr/>
        </p:nvGrpSpPr>
        <p:grpSpPr>
          <a:xfrm>
            <a:off x="853077" y="1196933"/>
            <a:ext cx="8217280" cy="4171940"/>
            <a:chOff x="853077" y="1196933"/>
            <a:chExt cx="8217280" cy="417194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D4F4E1E-4D68-47E8-AE7C-DD473A7EEA47}"/>
                </a:ext>
              </a:extLst>
            </p:cNvPr>
            <p:cNvSpPr txBox="1"/>
            <p:nvPr/>
          </p:nvSpPr>
          <p:spPr>
            <a:xfrm>
              <a:off x="853077" y="1196933"/>
              <a:ext cx="524292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solidFill>
                    <a:schemeClr val="tx1"/>
                  </a:solidFill>
                </a:rPr>
                <a:t>基础技巧实用性分析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8892424-E52D-4069-BFD1-B279389B0570}"/>
                </a:ext>
              </a:extLst>
            </p:cNvPr>
            <p:cNvSpPr txBox="1"/>
            <p:nvPr/>
          </p:nvSpPr>
          <p:spPr>
            <a:xfrm>
              <a:off x="869246" y="2900862"/>
              <a:ext cx="5226754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/>
                <a:t>了解基础办公技巧如何提升工作效率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BED6FA2-031B-4F64-8084-B37487A3F35D}"/>
                </a:ext>
              </a:extLst>
            </p:cNvPr>
            <p:cNvGrpSpPr/>
            <p:nvPr/>
          </p:nvGrpSpPr>
          <p:grpSpPr>
            <a:xfrm>
              <a:off x="983870" y="4673939"/>
              <a:ext cx="444222" cy="444220"/>
              <a:chOff x="3866383" y="2794007"/>
              <a:chExt cx="444222" cy="444220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45A68E2-6EEB-4650-9C5C-5DE51957213E}"/>
                  </a:ext>
                </a:extLst>
              </p:cNvPr>
              <p:cNvSpPr/>
              <p:nvPr/>
            </p:nvSpPr>
            <p:spPr>
              <a:xfrm>
                <a:off x="3866383" y="2794007"/>
                <a:ext cx="444222" cy="444220"/>
              </a:xfrm>
              <a:prstGeom prst="roundRect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EF5E1694-F42C-46FC-81A2-117DDFCB0185}"/>
                  </a:ext>
                </a:extLst>
              </p:cNvPr>
              <p:cNvSpPr/>
              <p:nvPr/>
            </p:nvSpPr>
            <p:spPr bwMode="auto">
              <a:xfrm>
                <a:off x="3985714" y="2939032"/>
                <a:ext cx="205561" cy="154170"/>
              </a:xfrm>
              <a:custGeom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3042AE7-ED8E-461A-9C1B-EF8C644F1255}"/>
                </a:ext>
              </a:extLst>
            </p:cNvPr>
            <p:cNvSpPr txBox="1"/>
            <p:nvPr/>
          </p:nvSpPr>
          <p:spPr>
            <a:xfrm>
              <a:off x="1547422" y="4673939"/>
              <a:ext cx="3419727" cy="400110"/>
            </a:xfrm>
            <a:prstGeom prst="rect">
              <a:avLst/>
            </a:prstGeom>
            <a:noFill/>
          </p:spPr>
          <p:txBody>
            <a:bodyPr wrap="none" anchor="b">
              <a:normAutofit/>
            </a:bodyPr>
            <a:lstStyle>
              <a:defPPr>
                <a:defRPr lang="zh-CN"/>
              </a:defPPr>
              <a:lvl1pPr marR="0" lvl="0" indent="0" defTabSz="913765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 kumimoji="0" sz="20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/>
                <a:t>基础技巧的必要性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09E1DC-F849-46D8-BAD4-DCF1CF229D32}"/>
                </a:ext>
              </a:extLst>
            </p:cNvPr>
            <p:cNvSpPr txBox="1"/>
            <p:nvPr/>
          </p:nvSpPr>
          <p:spPr>
            <a:xfrm>
              <a:off x="1547425" y="5074049"/>
              <a:ext cx="3419728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/>
                <a:t>为什么需要学习基础办公技巧？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D4BC46A-D35D-43E4-BD2C-7FD470D80328}"/>
                </a:ext>
              </a:extLst>
            </p:cNvPr>
            <p:cNvSpPr txBox="1"/>
            <p:nvPr/>
          </p:nvSpPr>
          <p:spPr>
            <a:xfrm>
              <a:off x="5650626" y="4673939"/>
              <a:ext cx="3419727" cy="400110"/>
            </a:xfrm>
            <a:prstGeom prst="rect">
              <a:avLst/>
            </a:prstGeom>
            <a:noFill/>
          </p:spPr>
          <p:txBody>
            <a:bodyPr wrap="none" anchor="b">
              <a:normAutofit/>
            </a:bodyPr>
            <a:lstStyle>
              <a:defPPr>
                <a:defRPr lang="zh-CN"/>
              </a:defPPr>
              <a:lvl1pPr marR="0" lvl="0" indent="0" defTabSz="913765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 kumimoji="0" sz="20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/>
                <a:t>高效工作的关键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C7FEFA2-513F-423C-B37C-4BBBA0EC99B5}"/>
                </a:ext>
              </a:extLst>
            </p:cNvPr>
            <p:cNvSpPr txBox="1"/>
            <p:nvPr/>
          </p:nvSpPr>
          <p:spPr>
            <a:xfrm>
              <a:off x="5650629" y="5074049"/>
              <a:ext cx="3419728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/>
                <a:t>基础技巧对高效工作的影响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D58D6D4-2540-4CC5-9352-DAF04FA63C1C}"/>
                </a:ext>
              </a:extLst>
            </p:cNvPr>
            <p:cNvGrpSpPr/>
            <p:nvPr/>
          </p:nvGrpSpPr>
          <p:grpSpPr>
            <a:xfrm>
              <a:off x="5086486" y="4689329"/>
              <a:ext cx="444222" cy="444220"/>
              <a:chOff x="7078395" y="2794007"/>
              <a:chExt cx="444222" cy="444220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04F274B9-781C-49E9-8E17-A4AE5A946D17}"/>
                  </a:ext>
                </a:extLst>
              </p:cNvPr>
              <p:cNvSpPr/>
              <p:nvPr/>
            </p:nvSpPr>
            <p:spPr>
              <a:xfrm>
                <a:off x="7078395" y="2794007"/>
                <a:ext cx="444222" cy="444220"/>
              </a:xfrm>
              <a:prstGeom prst="roundRect">
                <a:avLst/>
              </a:pr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E194DE4-64CC-4C0E-9AAA-711950C1567C}"/>
                  </a:ext>
                </a:extLst>
              </p:cNvPr>
              <p:cNvSpPr/>
              <p:nvPr/>
            </p:nvSpPr>
            <p:spPr bwMode="auto">
              <a:xfrm>
                <a:off x="7206741" y="2913337"/>
                <a:ext cx="187529" cy="205561"/>
              </a:xfrm>
              <a:custGeom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3A7731C-19F7-4EB1-BA71-B0C5B99D2DE4}"/>
                </a:ext>
              </a:extLst>
            </p:cNvPr>
            <p:cNvCxnSpPr/>
            <p:nvPr/>
          </p:nvCxnSpPr>
          <p:spPr>
            <a:xfrm>
              <a:off x="992263" y="2667099"/>
              <a:ext cx="555159" cy="0"/>
            </a:xfrm>
            <a:prstGeom prst="line">
              <a:avLst/>
            </a:prstGeom>
            <a:ln w="5080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技巧的实用性分析</a:t>
            </a:r>
          </a:p>
        </p:txBody>
      </p:sp>
    </p:spTree>
    <p:custDataLst>
      <p:tags r:id="rId2"/>
    </p:custDataLst>
    <p:extLst>
      <p:ext uri="{BB962C8B-B14F-4D97-AF65-F5344CB8AC3E}">
        <p14:creationId val="1948475200"/>
      </p:ext>
    </p:extLst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altLang="zh-CN"/>
              <a:t>04.技巧提升效率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提升工作效率的办公技巧</a:t>
            </a:r>
            <a:endParaRPr lang="en-US" altLang="zh-CN"/>
          </a:p>
        </p:txBody>
      </p:sp>
    </p:spTree>
    <p:custDataLst>
      <p:tags r:id="rId2"/>
    </p:custDataLst>
    <p:extLst>
      <p:ext uri="{BB962C8B-B14F-4D97-AF65-F5344CB8AC3E}">
        <p14:creationId val="1342724671"/>
      </p:ext>
    </p:extLst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Group 1"/>
          <p:cNvGrpSpPr/>
          <p:nvPr/>
        </p:nvGrpSpPr>
        <p:grpSpPr>
          <a:xfrm>
            <a:off x="865881" y="2601058"/>
            <a:ext cx="10201188" cy="2381318"/>
            <a:chOff x="865881" y="2601058"/>
            <a:chExt cx="10201188" cy="238131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EFB45B7-E572-47EA-A796-E342BDFE90A3}"/>
                </a:ext>
              </a:extLst>
            </p:cNvPr>
            <p:cNvSpPr txBox="1"/>
            <p:nvPr/>
          </p:nvSpPr>
          <p:spPr>
            <a:xfrm>
              <a:off x="865881" y="2703340"/>
              <a:ext cx="2724961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solidFill>
                    <a:schemeClr val="tx1"/>
                  </a:solidFill>
                </a:rPr>
                <a:t>提升工作效率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0531222-E6DF-46A3-A127-7CBF523C3175}"/>
                </a:ext>
              </a:extLst>
            </p:cNvPr>
            <p:cNvSpPr txBox="1"/>
            <p:nvPr/>
          </p:nvSpPr>
          <p:spPr>
            <a:xfrm>
              <a:off x="865882" y="3942810"/>
              <a:ext cx="2628880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</a:rPr>
                <a:t>本章节将为您详细讲解如何通过办公技巧，提高工作效率。</a:t>
              </a: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1388F800-561E-448D-B406-26A7748A547B}"/>
                </a:ext>
              </a:extLst>
            </p:cNvPr>
            <p:cNvGrpSpPr/>
            <p:nvPr/>
          </p:nvGrpSpPr>
          <p:grpSpPr>
            <a:xfrm>
              <a:off x="3924300" y="2601058"/>
              <a:ext cx="3494283" cy="842175"/>
              <a:chOff x="3924300" y="3655158"/>
              <a:chExt cx="3494283" cy="842175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7524A8B4-20CC-402C-A3E9-18845E1EF1A2}"/>
                  </a:ext>
                </a:extLst>
              </p:cNvPr>
              <p:cNvSpPr/>
              <p:nvPr/>
            </p:nvSpPr>
            <p:spPr>
              <a:xfrm>
                <a:off x="3924300" y="3685599"/>
                <a:ext cx="711200" cy="7112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sz="3200" b="1">
                    <a:solidFill>
                      <a:schemeClr val="tx1"/>
                    </a:solidFill>
                  </a:rPr>
                  <a:t>1</a:t>
                </a:r>
                <a:endParaRPr lang="zh-CN" altLang="en-US" sz="3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30BC9C9-4035-45CC-9939-B5D4EAB0CAA5}"/>
                  </a:ext>
                </a:extLst>
              </p:cNvPr>
              <p:cNvSpPr txBox="1"/>
              <p:nvPr/>
            </p:nvSpPr>
            <p:spPr>
              <a:xfrm>
                <a:off x="4756522" y="3655158"/>
                <a:ext cx="966418" cy="307777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文件管理方法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0D1F132-D99D-4C6A-B06D-75215F23FC3D}"/>
                  </a:ext>
                </a:extLst>
              </p:cNvPr>
              <p:cNvSpPr txBox="1"/>
              <p:nvPr/>
            </p:nvSpPr>
            <p:spPr>
              <a:xfrm>
                <a:off x="4789703" y="3980910"/>
                <a:ext cx="2628880" cy="516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如何规范文件命名、分类和存储，避免文档丢失或混乱。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089B788-93D1-40CB-AF14-22DE4E801838}"/>
                </a:ext>
              </a:extLst>
            </p:cNvPr>
            <p:cNvGrpSpPr/>
            <p:nvPr/>
          </p:nvGrpSpPr>
          <p:grpSpPr>
            <a:xfrm>
              <a:off x="7572786" y="2601058"/>
              <a:ext cx="3494283" cy="842175"/>
              <a:chOff x="7572786" y="3655158"/>
              <a:chExt cx="3494283" cy="842175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63E685A-92A6-40D8-93B3-7DB43F2F93CB}"/>
                  </a:ext>
                </a:extLst>
              </p:cNvPr>
              <p:cNvSpPr/>
              <p:nvPr/>
            </p:nvSpPr>
            <p:spPr>
              <a:xfrm>
                <a:off x="7572786" y="3685599"/>
                <a:ext cx="711200" cy="7112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sz="3200" b="1">
                    <a:solidFill>
                      <a:schemeClr val="tx1"/>
                    </a:solidFill>
                  </a:rPr>
                  <a:t>2</a:t>
                </a:r>
                <a:endParaRPr lang="zh-CN" altLang="en-US" sz="3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B16A24A-34A2-403D-92B2-AA00686398D3}"/>
                  </a:ext>
                </a:extLst>
              </p:cNvPr>
              <p:cNvSpPr txBox="1"/>
              <p:nvPr/>
            </p:nvSpPr>
            <p:spPr>
              <a:xfrm>
                <a:off x="8405008" y="3655158"/>
                <a:ext cx="966418" cy="307777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有效使用邮件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1E1B475-6B6B-40CA-9314-3E463CF41A3A}"/>
                  </a:ext>
                </a:extLst>
              </p:cNvPr>
              <p:cNvSpPr txBox="1"/>
              <p:nvPr/>
            </p:nvSpPr>
            <p:spPr>
              <a:xfrm>
                <a:off x="8438189" y="3980910"/>
                <a:ext cx="2628880" cy="516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如何快速撰写、回复邮件，避免邮件沉积和浪费时间。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E173721-EDF6-4C9C-A180-846660FC403F}"/>
                </a:ext>
              </a:extLst>
            </p:cNvPr>
            <p:cNvGrpSpPr/>
            <p:nvPr/>
          </p:nvGrpSpPr>
          <p:grpSpPr>
            <a:xfrm>
              <a:off x="3924300" y="4140201"/>
              <a:ext cx="3494283" cy="842175"/>
              <a:chOff x="3924300" y="3655158"/>
              <a:chExt cx="3494283" cy="842175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A3C96CA-A8D6-447F-B66E-AC576D7D05C8}"/>
                  </a:ext>
                </a:extLst>
              </p:cNvPr>
              <p:cNvSpPr/>
              <p:nvPr/>
            </p:nvSpPr>
            <p:spPr>
              <a:xfrm>
                <a:off x="3924300" y="3685599"/>
                <a:ext cx="711200" cy="711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sz="3200" b="1"/>
                  <a:t>3</a:t>
                </a:r>
                <a:endParaRPr lang="zh-CN" altLang="en-US" sz="3200" b="1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E69064E-4E90-4EE1-BCAD-86C8ADEEE33D}"/>
                  </a:ext>
                </a:extLst>
              </p:cNvPr>
              <p:cNvSpPr txBox="1"/>
              <p:nvPr/>
            </p:nvSpPr>
            <p:spPr>
              <a:xfrm>
                <a:off x="4756522" y="3655158"/>
                <a:ext cx="966418" cy="307777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时间管理的重要性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8A3951B-6B21-4AE4-B0CD-DA703317C256}"/>
                  </a:ext>
                </a:extLst>
              </p:cNvPr>
              <p:cNvSpPr txBox="1"/>
              <p:nvPr/>
            </p:nvSpPr>
            <p:spPr>
              <a:xfrm>
                <a:off x="4789703" y="3980910"/>
                <a:ext cx="2628880" cy="516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如何利用时间管理工具、制定优先级，提高时间利用率。</a:t>
                </a: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0844501-D08F-4A29-A8D2-AB911DF4F7EE}"/>
                </a:ext>
              </a:extLst>
            </p:cNvPr>
            <p:cNvGrpSpPr/>
            <p:nvPr/>
          </p:nvGrpSpPr>
          <p:grpSpPr>
            <a:xfrm>
              <a:off x="7572786" y="4140201"/>
              <a:ext cx="3494283" cy="842175"/>
              <a:chOff x="7572786" y="3655158"/>
              <a:chExt cx="3494283" cy="842175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DC5E00D-E763-49EF-BD40-12A95FA26D75}"/>
                  </a:ext>
                </a:extLst>
              </p:cNvPr>
              <p:cNvSpPr/>
              <p:nvPr/>
            </p:nvSpPr>
            <p:spPr>
              <a:xfrm>
                <a:off x="7572786" y="3685599"/>
                <a:ext cx="711200" cy="7112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zh-CN" sz="3200" b="1">
                    <a:solidFill>
                      <a:schemeClr val="tx1"/>
                    </a:solidFill>
                  </a:rPr>
                  <a:t>4</a:t>
                </a:r>
                <a:endParaRPr lang="zh-CN" altLang="en-US" sz="32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8A81B85-C369-41E9-8EF8-D9FF7306BD2F}"/>
                  </a:ext>
                </a:extLst>
              </p:cNvPr>
              <p:cNvSpPr txBox="1"/>
              <p:nvPr/>
            </p:nvSpPr>
            <p:spPr>
              <a:xfrm>
                <a:off x="8405008" y="3655158"/>
                <a:ext cx="966418" cy="307777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0" lang="zh-CN" altLang="en-US" sz="1600" b="1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成功案例分享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857A222-9610-457A-9CAE-FFFE6A594A14}"/>
                  </a:ext>
                </a:extLst>
              </p:cNvPr>
              <p:cNvSpPr txBox="1"/>
              <p:nvPr/>
            </p:nvSpPr>
            <p:spPr>
              <a:xfrm>
                <a:off x="8438189" y="3980910"/>
                <a:ext cx="2628880" cy="516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与您分享他人如何通过提高效率，取得成功的经验和方法。</a:t>
                </a:r>
              </a:p>
            </p:txBody>
          </p:sp>
        </p:grpSp>
      </p:grpSp>
      <p:sp>
        <p:nvSpPr>
          <p:cNvPr id="56" name="Title 5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技巧与效率提升</a:t>
            </a:r>
          </a:p>
        </p:txBody>
      </p:sp>
    </p:spTree>
    <p:custDataLst>
      <p:tags r:id="rId2"/>
    </p:custDataLst>
    <p:extLst>
      <p:ext uri="{BB962C8B-B14F-4D97-AF65-F5344CB8AC3E}">
        <p14:creationId val="3674065811"/>
      </p:ext>
    </p:extLst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Group 1"/>
          <p:cNvGrpSpPr/>
          <p:nvPr/>
        </p:nvGrpSpPr>
        <p:grpSpPr>
          <a:xfrm>
            <a:off x="1116247" y="1353859"/>
            <a:ext cx="8805273" cy="4091304"/>
            <a:chOff x="1116247" y="1353859"/>
            <a:chExt cx="8805273" cy="4091304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04E09DF-488F-4EF1-9F8A-BFE8B0FFC89F}"/>
                </a:ext>
              </a:extLst>
            </p:cNvPr>
            <p:cNvSpPr txBox="1"/>
            <p:nvPr/>
          </p:nvSpPr>
          <p:spPr>
            <a:xfrm>
              <a:off x="1116247" y="1353859"/>
              <a:ext cx="838321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b" anchorCtr="0">
              <a:spAutoFit/>
            </a:bodyPr>
            <a:lstStyle/>
            <a:p>
              <a:pPr>
                <a:lnSpc>
                  <a:spcPct val="100000"/>
                </a:lnSpc>
                <a:buSzPct val="25000"/>
              </a:pPr>
              <a:r>
                <a:rPr lang="zh-CN" altLang="en-US" sz="2400" b="1">
                  <a:solidFill>
                    <a:schemeClr val="tx1"/>
                  </a:solidFill>
                </a:rPr>
                <a:t>提高工作效率的关键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42C5F79-AC87-472E-ADF5-851B0F07C18E}"/>
                </a:ext>
              </a:extLst>
            </p:cNvPr>
            <p:cNvSpPr txBox="1"/>
            <p:nvPr/>
          </p:nvSpPr>
          <p:spPr>
            <a:xfrm>
              <a:off x="1130544" y="1843966"/>
              <a:ext cx="2171491" cy="5164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/>
                <a:t>通过掌握保质保量的技能，提高工作效率和准确性。</a:t>
              </a:r>
              <a:endParaRPr lang="zh-CN" altLang="en-US" sz="100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E63FEB6-2AF4-4E6E-BF12-549F56DAA065}"/>
                </a:ext>
              </a:extLst>
            </p:cNvPr>
            <p:cNvGrpSpPr/>
            <p:nvPr/>
          </p:nvGrpSpPr>
          <p:grpSpPr>
            <a:xfrm>
              <a:off x="2366793" y="2461273"/>
              <a:ext cx="3362888" cy="1130415"/>
              <a:chOff x="2073408" y="2905787"/>
              <a:chExt cx="3362888" cy="1130415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D703E4F-F760-4A9B-A945-27F9B6B35CD9}"/>
                  </a:ext>
                </a:extLst>
              </p:cNvPr>
              <p:cNvSpPr txBox="1"/>
              <p:nvPr/>
            </p:nvSpPr>
            <p:spPr>
              <a:xfrm>
                <a:off x="2892280" y="3012943"/>
                <a:ext cx="1081515" cy="338554"/>
              </a:xfrm>
              <a:prstGeom prst="roundRect">
                <a:avLst>
                  <a:gd name="adj" fmla="val 0"/>
                </a:avLst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3765">
                  <a:defRPr sz="20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1600">
                    <a:solidFill>
                      <a:schemeClr val="tx1"/>
                    </a:solidFill>
                  </a:rPr>
                  <a:t>有效沟通</a:t>
                </a:r>
              </a:p>
            </p:txBody>
          </p: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3A9B167F-533C-4F52-9BA2-BE97DFE84047}"/>
                  </a:ext>
                </a:extLst>
              </p:cNvPr>
              <p:cNvGrpSpPr/>
              <p:nvPr/>
            </p:nvGrpSpPr>
            <p:grpSpPr>
              <a:xfrm>
                <a:off x="2136908" y="2905787"/>
                <a:ext cx="614552" cy="614552"/>
                <a:chOff x="1090728" y="2887805"/>
                <a:chExt cx="961292" cy="961292"/>
              </a:xfrm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B5A93FD4-D343-4430-9D2A-F8440789853D}"/>
                    </a:ext>
                  </a:extLst>
                </p:cNvPr>
                <p:cNvSpPr/>
                <p:nvPr/>
              </p:nvSpPr>
              <p:spPr>
                <a:xfrm>
                  <a:off x="1090728" y="2887805"/>
                  <a:ext cx="961292" cy="96129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A76471D6-6978-4A44-8D8F-D5C4D397857B}"/>
                    </a:ext>
                  </a:extLst>
                </p:cNvPr>
                <p:cNvSpPr/>
                <p:nvPr/>
              </p:nvSpPr>
              <p:spPr bwMode="auto">
                <a:xfrm>
                  <a:off x="1389349" y="3115073"/>
                  <a:ext cx="379483" cy="505975"/>
                </a:xfrm>
                <a:custGeom>
                  <a:gdLst>
                    <a:gd name="connsiteX0" fmla="*/ 296523 w 400050"/>
                    <a:gd name="connsiteY0" fmla="*/ 621 h 533400"/>
                    <a:gd name="connsiteX1" fmla="*/ 296523 w 400050"/>
                    <a:gd name="connsiteY1" fmla="*/ 38721 h 533400"/>
                    <a:gd name="connsiteX2" fmla="*/ 401298 w 400050"/>
                    <a:gd name="connsiteY2" fmla="*/ 38721 h 533400"/>
                    <a:gd name="connsiteX3" fmla="*/ 401298 w 400050"/>
                    <a:gd name="connsiteY3" fmla="*/ 534021 h 533400"/>
                    <a:gd name="connsiteX4" fmla="*/ 1248 w 400050"/>
                    <a:gd name="connsiteY4" fmla="*/ 534021 h 533400"/>
                    <a:gd name="connsiteX5" fmla="*/ 1248 w 400050"/>
                    <a:gd name="connsiteY5" fmla="*/ 38721 h 533400"/>
                    <a:gd name="connsiteX6" fmla="*/ 106023 w 400050"/>
                    <a:gd name="connsiteY6" fmla="*/ 38721 h 533400"/>
                    <a:gd name="connsiteX7" fmla="*/ 106023 w 400050"/>
                    <a:gd name="connsiteY7" fmla="*/ 621 h 533400"/>
                    <a:gd name="connsiteX8" fmla="*/ 296523 w 400050"/>
                    <a:gd name="connsiteY8" fmla="*/ 621 h 533400"/>
                    <a:gd name="connsiteX9" fmla="*/ 106023 w 400050"/>
                    <a:gd name="connsiteY9" fmla="*/ 57771 h 533400"/>
                    <a:gd name="connsiteX10" fmla="*/ 20298 w 400050"/>
                    <a:gd name="connsiteY10" fmla="*/ 57771 h 533400"/>
                    <a:gd name="connsiteX11" fmla="*/ 20298 w 400050"/>
                    <a:gd name="connsiteY11" fmla="*/ 514971 h 533400"/>
                    <a:gd name="connsiteX12" fmla="*/ 382248 w 400050"/>
                    <a:gd name="connsiteY12" fmla="*/ 514971 h 533400"/>
                    <a:gd name="connsiteX13" fmla="*/ 382248 w 400050"/>
                    <a:gd name="connsiteY13" fmla="*/ 57771 h 533400"/>
                    <a:gd name="connsiteX14" fmla="*/ 296523 w 400050"/>
                    <a:gd name="connsiteY14" fmla="*/ 57771 h 533400"/>
                    <a:gd name="connsiteX15" fmla="*/ 296523 w 400050"/>
                    <a:gd name="connsiteY15" fmla="*/ 95871 h 533400"/>
                    <a:gd name="connsiteX16" fmla="*/ 106023 w 400050"/>
                    <a:gd name="connsiteY16" fmla="*/ 95871 h 533400"/>
                    <a:gd name="connsiteX17" fmla="*/ 106023 w 400050"/>
                    <a:gd name="connsiteY17" fmla="*/ 57771 h 533400"/>
                    <a:gd name="connsiteX18" fmla="*/ 201273 w 400050"/>
                    <a:gd name="connsiteY18" fmla="*/ 343521 h 533400"/>
                    <a:gd name="connsiteX19" fmla="*/ 201273 w 400050"/>
                    <a:gd name="connsiteY19" fmla="*/ 362571 h 533400"/>
                    <a:gd name="connsiteX20" fmla="*/ 86973 w 400050"/>
                    <a:gd name="connsiteY20" fmla="*/ 362571 h 533400"/>
                    <a:gd name="connsiteX21" fmla="*/ 86973 w 400050"/>
                    <a:gd name="connsiteY21" fmla="*/ 343521 h 533400"/>
                    <a:gd name="connsiteX22" fmla="*/ 201273 w 400050"/>
                    <a:gd name="connsiteY22" fmla="*/ 343521 h 533400"/>
                    <a:gd name="connsiteX23" fmla="*/ 315573 w 400050"/>
                    <a:gd name="connsiteY23" fmla="*/ 267321 h 533400"/>
                    <a:gd name="connsiteX24" fmla="*/ 315573 w 400050"/>
                    <a:gd name="connsiteY24" fmla="*/ 286371 h 533400"/>
                    <a:gd name="connsiteX25" fmla="*/ 86973 w 400050"/>
                    <a:gd name="connsiteY25" fmla="*/ 286371 h 533400"/>
                    <a:gd name="connsiteX26" fmla="*/ 86973 w 400050"/>
                    <a:gd name="connsiteY26" fmla="*/ 267321 h 533400"/>
                    <a:gd name="connsiteX27" fmla="*/ 315573 w 400050"/>
                    <a:gd name="connsiteY27" fmla="*/ 267321 h 533400"/>
                    <a:gd name="connsiteX28" fmla="*/ 315573 w 400050"/>
                    <a:gd name="connsiteY28" fmla="*/ 191121 h 533400"/>
                    <a:gd name="connsiteX29" fmla="*/ 315573 w 400050"/>
                    <a:gd name="connsiteY29" fmla="*/ 210171 h 533400"/>
                    <a:gd name="connsiteX30" fmla="*/ 86973 w 400050"/>
                    <a:gd name="connsiteY30" fmla="*/ 210171 h 533400"/>
                    <a:gd name="connsiteX31" fmla="*/ 86973 w 400050"/>
                    <a:gd name="connsiteY31" fmla="*/ 191121 h 533400"/>
                    <a:gd name="connsiteX32" fmla="*/ 315573 w 400050"/>
                    <a:gd name="connsiteY32" fmla="*/ 191121 h 533400"/>
                    <a:gd name="connsiteX33" fmla="*/ 277473 w 400050"/>
                    <a:gd name="connsiteY33" fmla="*/ 19671 h 533400"/>
                    <a:gd name="connsiteX34" fmla="*/ 125073 w 400050"/>
                    <a:gd name="connsiteY34" fmla="*/ 19671 h 533400"/>
                    <a:gd name="connsiteX35" fmla="*/ 125073 w 400050"/>
                    <a:gd name="connsiteY35" fmla="*/ 76821 h 533400"/>
                    <a:gd name="connsiteX36" fmla="*/ 277473 w 400050"/>
                    <a:gd name="connsiteY36" fmla="*/ 76821 h 533400"/>
                    <a:gd name="connsiteX37" fmla="*/ 277473 w 400050"/>
                    <a:gd name="connsiteY37" fmla="*/ 19671 h 53340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400050" h="533400">
                      <a:moveTo>
                        <a:pt x="296523" y="621"/>
                      </a:moveTo>
                      <a:lnTo>
                        <a:pt x="296523" y="38721"/>
                      </a:lnTo>
                      <a:lnTo>
                        <a:pt x="401298" y="38721"/>
                      </a:lnTo>
                      <a:lnTo>
                        <a:pt x="401298" y="534021"/>
                      </a:lnTo>
                      <a:lnTo>
                        <a:pt x="1248" y="534021"/>
                      </a:lnTo>
                      <a:lnTo>
                        <a:pt x="1248" y="38721"/>
                      </a:lnTo>
                      <a:lnTo>
                        <a:pt x="106023" y="38721"/>
                      </a:lnTo>
                      <a:lnTo>
                        <a:pt x="106023" y="621"/>
                      </a:lnTo>
                      <a:lnTo>
                        <a:pt x="296523" y="621"/>
                      </a:lnTo>
                      <a:close/>
                      <a:moveTo>
                        <a:pt x="106023" y="57771"/>
                      </a:moveTo>
                      <a:lnTo>
                        <a:pt x="20298" y="57771"/>
                      </a:lnTo>
                      <a:lnTo>
                        <a:pt x="20298" y="514971"/>
                      </a:lnTo>
                      <a:lnTo>
                        <a:pt x="382248" y="514971"/>
                      </a:lnTo>
                      <a:lnTo>
                        <a:pt x="382248" y="57771"/>
                      </a:lnTo>
                      <a:lnTo>
                        <a:pt x="296523" y="57771"/>
                      </a:lnTo>
                      <a:lnTo>
                        <a:pt x="296523" y="95871"/>
                      </a:lnTo>
                      <a:lnTo>
                        <a:pt x="106023" y="95871"/>
                      </a:lnTo>
                      <a:lnTo>
                        <a:pt x="106023" y="57771"/>
                      </a:lnTo>
                      <a:close/>
                      <a:moveTo>
                        <a:pt x="201273" y="343521"/>
                      </a:moveTo>
                      <a:lnTo>
                        <a:pt x="201273" y="362571"/>
                      </a:lnTo>
                      <a:lnTo>
                        <a:pt x="86973" y="362571"/>
                      </a:lnTo>
                      <a:lnTo>
                        <a:pt x="86973" y="343521"/>
                      </a:lnTo>
                      <a:lnTo>
                        <a:pt x="201273" y="343521"/>
                      </a:lnTo>
                      <a:close/>
                      <a:moveTo>
                        <a:pt x="315573" y="267321"/>
                      </a:moveTo>
                      <a:lnTo>
                        <a:pt x="315573" y="286371"/>
                      </a:lnTo>
                      <a:lnTo>
                        <a:pt x="86973" y="286371"/>
                      </a:lnTo>
                      <a:lnTo>
                        <a:pt x="86973" y="267321"/>
                      </a:lnTo>
                      <a:lnTo>
                        <a:pt x="315573" y="267321"/>
                      </a:lnTo>
                      <a:close/>
                      <a:moveTo>
                        <a:pt x="315573" y="191121"/>
                      </a:moveTo>
                      <a:lnTo>
                        <a:pt x="315573" y="210171"/>
                      </a:lnTo>
                      <a:lnTo>
                        <a:pt x="86973" y="210171"/>
                      </a:lnTo>
                      <a:lnTo>
                        <a:pt x="86973" y="191121"/>
                      </a:lnTo>
                      <a:lnTo>
                        <a:pt x="315573" y="191121"/>
                      </a:lnTo>
                      <a:close/>
                      <a:moveTo>
                        <a:pt x="277473" y="19671"/>
                      </a:moveTo>
                      <a:lnTo>
                        <a:pt x="125073" y="19671"/>
                      </a:lnTo>
                      <a:lnTo>
                        <a:pt x="125073" y="76821"/>
                      </a:lnTo>
                      <a:lnTo>
                        <a:pt x="277473" y="76821"/>
                      </a:lnTo>
                      <a:lnTo>
                        <a:pt x="277473" y="19671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A5F7B63-5C85-440A-BFE8-308920F21CDC}"/>
                  </a:ext>
                </a:extLst>
              </p:cNvPr>
              <p:cNvSpPr txBox="1"/>
              <p:nvPr/>
            </p:nvSpPr>
            <p:spPr>
              <a:xfrm>
                <a:off x="2073408" y="3741378"/>
                <a:ext cx="3362888" cy="2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改善沟通技巧，避免信息误解和重复工作</a:t>
                </a: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493E5DC-6604-4FA1-9E7D-20E3021629BA}"/>
                  </a:ext>
                </a:extLst>
              </p:cNvPr>
              <p:cNvCxnSpPr/>
              <p:nvPr/>
            </p:nvCxnSpPr>
            <p:spPr>
              <a:xfrm>
                <a:off x="2175008" y="3732930"/>
                <a:ext cx="3073397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8D79412-9C4E-418D-9D25-86A60E5AA7D2}"/>
                </a:ext>
              </a:extLst>
            </p:cNvPr>
            <p:cNvGrpSpPr/>
            <p:nvPr/>
          </p:nvGrpSpPr>
          <p:grpSpPr>
            <a:xfrm>
              <a:off x="6540852" y="2461273"/>
              <a:ext cx="3362888" cy="1130415"/>
              <a:chOff x="2073408" y="2905787"/>
              <a:chExt cx="3362888" cy="1130415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BF27D6F-2405-485B-B8E1-D209885DD059}"/>
                  </a:ext>
                </a:extLst>
              </p:cNvPr>
              <p:cNvSpPr txBox="1"/>
              <p:nvPr/>
            </p:nvSpPr>
            <p:spPr>
              <a:xfrm>
                <a:off x="2892280" y="3012943"/>
                <a:ext cx="1081515" cy="338554"/>
              </a:xfrm>
              <a:prstGeom prst="roundRect">
                <a:avLst>
                  <a:gd name="adj" fmla="val 0"/>
                </a:avLst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3765">
                  <a:defRPr sz="20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1600">
                    <a:solidFill>
                      <a:schemeClr val="tx1"/>
                    </a:solidFill>
                  </a:rPr>
                  <a:t>任务管理</a:t>
                </a: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792384F-8DD8-437A-8DC9-17DBBB9BF731}"/>
                  </a:ext>
                </a:extLst>
              </p:cNvPr>
              <p:cNvSpPr/>
              <p:nvPr/>
            </p:nvSpPr>
            <p:spPr>
              <a:xfrm>
                <a:off x="2136908" y="2905787"/>
                <a:ext cx="614552" cy="6145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6E8ECA2-3402-4564-92CF-098C247D311F}"/>
                  </a:ext>
                </a:extLst>
              </p:cNvPr>
              <p:cNvSpPr txBox="1"/>
              <p:nvPr/>
            </p:nvSpPr>
            <p:spPr>
              <a:xfrm>
                <a:off x="2073408" y="3741378"/>
                <a:ext cx="3362888" cy="2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合理安排和跟踪任务，提高工作效率</a:t>
                </a:r>
              </a:p>
            </p:txBody>
          </p: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CCD0CB9-D540-4AB8-84FF-3520B951679D}"/>
                  </a:ext>
                </a:extLst>
              </p:cNvPr>
              <p:cNvCxnSpPr/>
              <p:nvPr/>
            </p:nvCxnSpPr>
            <p:spPr>
              <a:xfrm>
                <a:off x="2175008" y="3732930"/>
                <a:ext cx="3073397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2EBF5566-0121-4859-A873-3B6D155484C8}"/>
                </a:ext>
              </a:extLst>
            </p:cNvPr>
            <p:cNvGrpSpPr/>
            <p:nvPr/>
          </p:nvGrpSpPr>
          <p:grpSpPr>
            <a:xfrm>
              <a:off x="2384573" y="4314748"/>
              <a:ext cx="3362888" cy="1130415"/>
              <a:chOff x="2073408" y="2905787"/>
              <a:chExt cx="3362888" cy="1130415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25F81547-221E-4783-87E0-629C6B65A556}"/>
                  </a:ext>
                </a:extLst>
              </p:cNvPr>
              <p:cNvSpPr txBox="1"/>
              <p:nvPr/>
            </p:nvSpPr>
            <p:spPr>
              <a:xfrm>
                <a:off x="2892280" y="3012943"/>
                <a:ext cx="1081515" cy="338554"/>
              </a:xfrm>
              <a:prstGeom prst="roundRect">
                <a:avLst>
                  <a:gd name="adj" fmla="val 0"/>
                </a:avLst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3765">
                  <a:defRPr sz="20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1600">
                    <a:solidFill>
                      <a:schemeClr val="tx1"/>
                    </a:solidFill>
                  </a:rPr>
                  <a:t>优化会议</a:t>
                </a: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AF1DAB42-3D88-4A19-A56A-6F15753DDEE6}"/>
                  </a:ext>
                </a:extLst>
              </p:cNvPr>
              <p:cNvSpPr/>
              <p:nvPr/>
            </p:nvSpPr>
            <p:spPr>
              <a:xfrm>
                <a:off x="2136908" y="2905787"/>
                <a:ext cx="614552" cy="61455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AA0C465-EFD4-4637-B425-442AB7A76719}"/>
                  </a:ext>
                </a:extLst>
              </p:cNvPr>
              <p:cNvSpPr txBox="1"/>
              <p:nvPr/>
            </p:nvSpPr>
            <p:spPr>
              <a:xfrm>
                <a:off x="2073408" y="3741378"/>
                <a:ext cx="3362888" cy="2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提高会议效率，减少浪费时间</a:t>
                </a:r>
              </a:p>
            </p:txBody>
          </p: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39BD1AC-1AE4-40F1-804D-C3C249D1DD8B}"/>
                  </a:ext>
                </a:extLst>
              </p:cNvPr>
              <p:cNvCxnSpPr/>
              <p:nvPr/>
            </p:nvCxnSpPr>
            <p:spPr>
              <a:xfrm>
                <a:off x="2175008" y="3732930"/>
                <a:ext cx="3073397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CA40E33F-D30E-4C60-9BF5-6E2E4019FF37}"/>
                </a:ext>
              </a:extLst>
            </p:cNvPr>
            <p:cNvGrpSpPr/>
            <p:nvPr/>
          </p:nvGrpSpPr>
          <p:grpSpPr>
            <a:xfrm>
              <a:off x="6558632" y="4314748"/>
              <a:ext cx="3362888" cy="1130415"/>
              <a:chOff x="2073408" y="2905787"/>
              <a:chExt cx="3362888" cy="1130415"/>
            </a:xfrm>
          </p:grpSpPr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C8EC2956-F760-4D92-944B-6C206C7D8333}"/>
                  </a:ext>
                </a:extLst>
              </p:cNvPr>
              <p:cNvSpPr txBox="1"/>
              <p:nvPr/>
            </p:nvSpPr>
            <p:spPr>
              <a:xfrm>
                <a:off x="2892280" y="3012943"/>
                <a:ext cx="1081515" cy="338554"/>
              </a:xfrm>
              <a:prstGeom prst="roundRect">
                <a:avLst>
                  <a:gd name="adj" fmla="val 0"/>
                </a:avLst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3765">
                  <a:defRPr sz="2000" b="1">
                    <a:solidFill>
                      <a:schemeClr val="bg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1600">
                    <a:solidFill>
                      <a:schemeClr val="tx1"/>
                    </a:solidFill>
                  </a:rPr>
                  <a:t>团队合作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DE17CA95-EB70-46C9-B302-9561A956BF8E}"/>
                  </a:ext>
                </a:extLst>
              </p:cNvPr>
              <p:cNvSpPr/>
              <p:nvPr/>
            </p:nvSpPr>
            <p:spPr>
              <a:xfrm>
                <a:off x="2136908" y="2905787"/>
                <a:ext cx="614552" cy="61455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8C6BB30F-36F6-4F05-B6A9-DD80230C0675}"/>
                  </a:ext>
                </a:extLst>
              </p:cNvPr>
              <p:cNvSpPr txBox="1"/>
              <p:nvPr/>
            </p:nvSpPr>
            <p:spPr>
              <a:xfrm>
                <a:off x="2073408" y="3741378"/>
                <a:ext cx="3362888" cy="2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>
                    <a:ln>
                      <a:noFill/>
                    </a:ln>
                    <a:effectLst/>
                    <a:uLnTx/>
                    <a:uFillTx/>
                  </a:rPr>
                  <a:t>培养良好合作关系，提高工作效率</a:t>
                </a:r>
              </a:p>
            </p:txBody>
          </p: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8FC14821-D14A-42C2-815D-1BAAD6356F7D}"/>
                  </a:ext>
                </a:extLst>
              </p:cNvPr>
              <p:cNvCxnSpPr/>
              <p:nvPr/>
            </p:nvCxnSpPr>
            <p:spPr>
              <a:xfrm>
                <a:off x="2175008" y="3732930"/>
                <a:ext cx="3073397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B0B5286-C277-4CD0-B6FB-65CAE07E06DB}"/>
                </a:ext>
              </a:extLst>
            </p:cNvPr>
            <p:cNvSpPr/>
            <p:nvPr/>
          </p:nvSpPr>
          <p:spPr bwMode="auto">
            <a:xfrm>
              <a:off x="2644501" y="4472859"/>
              <a:ext cx="248113" cy="302051"/>
            </a:xfrm>
            <a:custGeom>
              <a:gdLst>
                <a:gd name="connsiteX0" fmla="*/ 171450 w 438150"/>
                <a:gd name="connsiteY0" fmla="*/ 219075 h 533400"/>
                <a:gd name="connsiteX1" fmla="*/ 171450 w 438150"/>
                <a:gd name="connsiteY1" fmla="*/ 295275 h 533400"/>
                <a:gd name="connsiteX2" fmla="*/ 247650 w 438150"/>
                <a:gd name="connsiteY2" fmla="*/ 295275 h 533400"/>
                <a:gd name="connsiteX3" fmla="*/ 285750 w 438150"/>
                <a:gd name="connsiteY3" fmla="*/ 257175 h 533400"/>
                <a:gd name="connsiteX4" fmla="*/ 247650 w 438150"/>
                <a:gd name="connsiteY4" fmla="*/ 219075 h 533400"/>
                <a:gd name="connsiteX5" fmla="*/ 152400 w 438150"/>
                <a:gd name="connsiteY5" fmla="*/ 200025 h 533400"/>
                <a:gd name="connsiteX6" fmla="*/ 247650 w 438150"/>
                <a:gd name="connsiteY6" fmla="*/ 200025 h 533400"/>
                <a:gd name="connsiteX7" fmla="*/ 304800 w 438150"/>
                <a:gd name="connsiteY7" fmla="*/ 257175 h 533400"/>
                <a:gd name="connsiteX8" fmla="*/ 247650 w 438150"/>
                <a:gd name="connsiteY8" fmla="*/ 314325 h 533400"/>
                <a:gd name="connsiteX9" fmla="*/ 171450 w 438150"/>
                <a:gd name="connsiteY9" fmla="*/ 314325 h 533400"/>
                <a:gd name="connsiteX10" fmla="*/ 171450 w 438150"/>
                <a:gd name="connsiteY10" fmla="*/ 409575 h 533400"/>
                <a:gd name="connsiteX11" fmla="*/ 152400 w 438150"/>
                <a:gd name="connsiteY11" fmla="*/ 409575 h 533400"/>
                <a:gd name="connsiteX12" fmla="*/ 304800 w 438150"/>
                <a:gd name="connsiteY12" fmla="*/ 32480 h 533400"/>
                <a:gd name="connsiteX13" fmla="*/ 304800 w 438150"/>
                <a:gd name="connsiteY13" fmla="*/ 133350 h 533400"/>
                <a:gd name="connsiteX14" fmla="*/ 405574 w 438150"/>
                <a:gd name="connsiteY14" fmla="*/ 133350 h 533400"/>
                <a:gd name="connsiteX15" fmla="*/ 19050 w 438150"/>
                <a:gd name="connsiteY15" fmla="*/ 19050 h 533400"/>
                <a:gd name="connsiteX16" fmla="*/ 19050 w 438150"/>
                <a:gd name="connsiteY16" fmla="*/ 514350 h 533400"/>
                <a:gd name="connsiteX17" fmla="*/ 419100 w 438150"/>
                <a:gd name="connsiteY17" fmla="*/ 514350 h 533400"/>
                <a:gd name="connsiteX18" fmla="*/ 419100 w 438150"/>
                <a:gd name="connsiteY18" fmla="*/ 152400 h 533400"/>
                <a:gd name="connsiteX19" fmla="*/ 285750 w 438150"/>
                <a:gd name="connsiteY19" fmla="*/ 152400 h 533400"/>
                <a:gd name="connsiteX20" fmla="*/ 285750 w 438150"/>
                <a:gd name="connsiteY20" fmla="*/ 19050 h 533400"/>
                <a:gd name="connsiteX21" fmla="*/ 0 w 438150"/>
                <a:gd name="connsiteY21" fmla="*/ 0 h 533400"/>
                <a:gd name="connsiteX22" fmla="*/ 299180 w 438150"/>
                <a:gd name="connsiteY22" fmla="*/ 0 h 533400"/>
                <a:gd name="connsiteX23" fmla="*/ 438150 w 438150"/>
                <a:gd name="connsiteY23" fmla="*/ 138970 h 533400"/>
                <a:gd name="connsiteX24" fmla="*/ 438150 w 438150"/>
                <a:gd name="connsiteY24" fmla="*/ 533400 h 533400"/>
                <a:gd name="connsiteX25" fmla="*/ 0 w 438150"/>
                <a:gd name="connsiteY25" fmla="*/ 533400 h 533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38150" h="533400">
                  <a:moveTo>
                    <a:pt x="171450" y="219075"/>
                  </a:moveTo>
                  <a:lnTo>
                    <a:pt x="171450" y="295275"/>
                  </a:lnTo>
                  <a:lnTo>
                    <a:pt x="247650" y="295275"/>
                  </a:lnTo>
                  <a:cubicBezTo>
                    <a:pt x="268700" y="295275"/>
                    <a:pt x="285750" y="278225"/>
                    <a:pt x="285750" y="257175"/>
                  </a:cubicBezTo>
                  <a:cubicBezTo>
                    <a:pt x="285750" y="236125"/>
                    <a:pt x="268700" y="219075"/>
                    <a:pt x="247650" y="219075"/>
                  </a:cubicBezTo>
                  <a:close/>
                  <a:moveTo>
                    <a:pt x="152400" y="200025"/>
                  </a:moveTo>
                  <a:lnTo>
                    <a:pt x="247650" y="200025"/>
                  </a:lnTo>
                  <a:cubicBezTo>
                    <a:pt x="279178" y="200025"/>
                    <a:pt x="304800" y="225647"/>
                    <a:pt x="304800" y="257175"/>
                  </a:cubicBezTo>
                  <a:cubicBezTo>
                    <a:pt x="304800" y="288703"/>
                    <a:pt x="279178" y="314325"/>
                    <a:pt x="247650" y="314325"/>
                  </a:cubicBezTo>
                  <a:lnTo>
                    <a:pt x="171450" y="314325"/>
                  </a:lnTo>
                  <a:lnTo>
                    <a:pt x="171450" y="409575"/>
                  </a:lnTo>
                  <a:lnTo>
                    <a:pt x="152400" y="409575"/>
                  </a:lnTo>
                  <a:close/>
                  <a:moveTo>
                    <a:pt x="304800" y="32480"/>
                  </a:moveTo>
                  <a:lnTo>
                    <a:pt x="304800" y="133350"/>
                  </a:lnTo>
                  <a:lnTo>
                    <a:pt x="405574" y="133350"/>
                  </a:lnTo>
                  <a:close/>
                  <a:moveTo>
                    <a:pt x="19050" y="19050"/>
                  </a:moveTo>
                  <a:lnTo>
                    <a:pt x="19050" y="514350"/>
                  </a:lnTo>
                  <a:lnTo>
                    <a:pt x="419100" y="514350"/>
                  </a:lnTo>
                  <a:lnTo>
                    <a:pt x="419100" y="152400"/>
                  </a:lnTo>
                  <a:lnTo>
                    <a:pt x="285750" y="152400"/>
                  </a:lnTo>
                  <a:lnTo>
                    <a:pt x="285750" y="19050"/>
                  </a:lnTo>
                  <a:close/>
                  <a:moveTo>
                    <a:pt x="0" y="0"/>
                  </a:moveTo>
                  <a:lnTo>
                    <a:pt x="299180" y="0"/>
                  </a:lnTo>
                  <a:lnTo>
                    <a:pt x="438150" y="138970"/>
                  </a:lnTo>
                  <a:lnTo>
                    <a:pt x="43815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A37D5D4-187B-497E-B693-7AB354409E33}"/>
                </a:ext>
              </a:extLst>
            </p:cNvPr>
            <p:cNvSpPr/>
            <p:nvPr/>
          </p:nvSpPr>
          <p:spPr bwMode="auto">
            <a:xfrm>
              <a:off x="6777043" y="2626169"/>
              <a:ext cx="269169" cy="295051"/>
            </a:xfrm>
            <a:custGeom>
              <a:gdLst>
                <a:gd name="connsiteX0" fmla="*/ 248770 w 495300"/>
                <a:gd name="connsiteY0" fmla="*/ 621 h 542925"/>
                <a:gd name="connsiteX1" fmla="*/ 496420 w 495300"/>
                <a:gd name="connsiteY1" fmla="*/ 248271 h 542925"/>
                <a:gd name="connsiteX2" fmla="*/ 323827 w 495300"/>
                <a:gd name="connsiteY2" fmla="*/ 484396 h 542925"/>
                <a:gd name="connsiteX3" fmla="*/ 346973 w 495300"/>
                <a:gd name="connsiteY3" fmla="*/ 524496 h 542925"/>
                <a:gd name="connsiteX4" fmla="*/ 420220 w 495300"/>
                <a:gd name="connsiteY4" fmla="*/ 524496 h 542925"/>
                <a:gd name="connsiteX5" fmla="*/ 420220 w 495300"/>
                <a:gd name="connsiteY5" fmla="*/ 543546 h 542925"/>
                <a:gd name="connsiteX6" fmla="*/ 77320 w 495300"/>
                <a:gd name="connsiteY6" fmla="*/ 543546 h 542925"/>
                <a:gd name="connsiteX7" fmla="*/ 77320 w 495300"/>
                <a:gd name="connsiteY7" fmla="*/ 524496 h 542925"/>
                <a:gd name="connsiteX8" fmla="*/ 150567 w 495300"/>
                <a:gd name="connsiteY8" fmla="*/ 524496 h 542925"/>
                <a:gd name="connsiteX9" fmla="*/ 173713 w 495300"/>
                <a:gd name="connsiteY9" fmla="*/ 484396 h 542925"/>
                <a:gd name="connsiteX10" fmla="*/ 1120 w 495300"/>
                <a:gd name="connsiteY10" fmla="*/ 252367 h 542925"/>
                <a:gd name="connsiteX11" fmla="*/ 1120 w 495300"/>
                <a:gd name="connsiteY11" fmla="*/ 248271 h 542925"/>
                <a:gd name="connsiteX12" fmla="*/ 248770 w 495300"/>
                <a:gd name="connsiteY12" fmla="*/ 621 h 542925"/>
                <a:gd name="connsiteX13" fmla="*/ 304777 w 495300"/>
                <a:gd name="connsiteY13" fmla="*/ 489539 h 542925"/>
                <a:gd name="connsiteX14" fmla="*/ 248770 w 495300"/>
                <a:gd name="connsiteY14" fmla="*/ 495921 h 542925"/>
                <a:gd name="connsiteX15" fmla="*/ 192763 w 495300"/>
                <a:gd name="connsiteY15" fmla="*/ 489539 h 542925"/>
                <a:gd name="connsiteX16" fmla="*/ 172570 w 495300"/>
                <a:gd name="connsiteY16" fmla="*/ 524496 h 542925"/>
                <a:gd name="connsiteX17" fmla="*/ 324970 w 495300"/>
                <a:gd name="connsiteY17" fmla="*/ 524496 h 542925"/>
                <a:gd name="connsiteX18" fmla="*/ 304777 w 495300"/>
                <a:gd name="connsiteY18" fmla="*/ 489539 h 542925"/>
                <a:gd name="connsiteX19" fmla="*/ 248770 w 495300"/>
                <a:gd name="connsiteY19" fmla="*/ 19671 h 542925"/>
                <a:gd name="connsiteX20" fmla="*/ 20170 w 495300"/>
                <a:gd name="connsiteY20" fmla="*/ 248271 h 542925"/>
                <a:gd name="connsiteX21" fmla="*/ 248770 w 495300"/>
                <a:gd name="connsiteY21" fmla="*/ 476871 h 542925"/>
                <a:gd name="connsiteX22" fmla="*/ 477370 w 495300"/>
                <a:gd name="connsiteY22" fmla="*/ 248271 h 542925"/>
                <a:gd name="connsiteX23" fmla="*/ 248770 w 495300"/>
                <a:gd name="connsiteY23" fmla="*/ 19671 h 542925"/>
                <a:gd name="connsiteX24" fmla="*/ 248770 w 495300"/>
                <a:gd name="connsiteY24" fmla="*/ 133971 h 542925"/>
                <a:gd name="connsiteX25" fmla="*/ 363070 w 495300"/>
                <a:gd name="connsiteY25" fmla="*/ 248271 h 542925"/>
                <a:gd name="connsiteX26" fmla="*/ 248770 w 495300"/>
                <a:gd name="connsiteY26" fmla="*/ 362571 h 542925"/>
                <a:gd name="connsiteX27" fmla="*/ 134470 w 495300"/>
                <a:gd name="connsiteY27" fmla="*/ 248271 h 542925"/>
                <a:gd name="connsiteX28" fmla="*/ 248770 w 495300"/>
                <a:gd name="connsiteY28" fmla="*/ 133971 h 542925"/>
                <a:gd name="connsiteX29" fmla="*/ 248770 w 495300"/>
                <a:gd name="connsiteY29" fmla="*/ 153021 h 542925"/>
                <a:gd name="connsiteX30" fmla="*/ 153520 w 495300"/>
                <a:gd name="connsiteY30" fmla="*/ 248271 h 542925"/>
                <a:gd name="connsiteX31" fmla="*/ 248770 w 495300"/>
                <a:gd name="connsiteY31" fmla="*/ 343521 h 542925"/>
                <a:gd name="connsiteX32" fmla="*/ 344020 w 495300"/>
                <a:gd name="connsiteY32" fmla="*/ 248271 h 542925"/>
                <a:gd name="connsiteX33" fmla="*/ 248770 w 495300"/>
                <a:gd name="connsiteY33" fmla="*/ 153021 h 542925"/>
                <a:gd name="connsiteX34" fmla="*/ 367833 w 495300"/>
                <a:gd name="connsiteY34" fmla="*/ 114921 h 542925"/>
                <a:gd name="connsiteX35" fmla="*/ 382120 w 495300"/>
                <a:gd name="connsiteY35" fmla="*/ 129209 h 542925"/>
                <a:gd name="connsiteX36" fmla="*/ 367833 w 495300"/>
                <a:gd name="connsiteY36" fmla="*/ 143496 h 542925"/>
                <a:gd name="connsiteX37" fmla="*/ 353545 w 495300"/>
                <a:gd name="connsiteY37" fmla="*/ 129209 h 542925"/>
                <a:gd name="connsiteX38" fmla="*/ 367833 w 495300"/>
                <a:gd name="connsiteY38" fmla="*/ 114921 h 54292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95300" h="542925">
                  <a:moveTo>
                    <a:pt x="248770" y="621"/>
                  </a:moveTo>
                  <a:cubicBezTo>
                    <a:pt x="385549" y="621"/>
                    <a:pt x="496420" y="111492"/>
                    <a:pt x="496420" y="248271"/>
                  </a:cubicBezTo>
                  <a:cubicBezTo>
                    <a:pt x="496420" y="358856"/>
                    <a:pt x="423935" y="452582"/>
                    <a:pt x="323827" y="484396"/>
                  </a:cubicBezTo>
                  <a:lnTo>
                    <a:pt x="346973" y="524496"/>
                  </a:lnTo>
                  <a:lnTo>
                    <a:pt x="420220" y="524496"/>
                  </a:lnTo>
                  <a:lnTo>
                    <a:pt x="420220" y="543546"/>
                  </a:lnTo>
                  <a:lnTo>
                    <a:pt x="77320" y="543546"/>
                  </a:lnTo>
                  <a:lnTo>
                    <a:pt x="77320" y="524496"/>
                  </a:lnTo>
                  <a:lnTo>
                    <a:pt x="150567" y="524496"/>
                  </a:lnTo>
                  <a:lnTo>
                    <a:pt x="173713" y="484396"/>
                  </a:lnTo>
                  <a:cubicBezTo>
                    <a:pt x="74843" y="452963"/>
                    <a:pt x="2930" y="361237"/>
                    <a:pt x="1120" y="252367"/>
                  </a:cubicBezTo>
                  <a:lnTo>
                    <a:pt x="1120" y="248271"/>
                  </a:lnTo>
                  <a:cubicBezTo>
                    <a:pt x="1120" y="111492"/>
                    <a:pt x="111991" y="621"/>
                    <a:pt x="248770" y="621"/>
                  </a:cubicBezTo>
                  <a:close/>
                  <a:moveTo>
                    <a:pt x="304777" y="489539"/>
                  </a:moveTo>
                  <a:cubicBezTo>
                    <a:pt x="286775" y="493730"/>
                    <a:pt x="268010" y="495921"/>
                    <a:pt x="248770" y="495921"/>
                  </a:cubicBezTo>
                  <a:cubicBezTo>
                    <a:pt x="229530" y="495921"/>
                    <a:pt x="210765" y="493730"/>
                    <a:pt x="192763" y="489539"/>
                  </a:cubicBezTo>
                  <a:lnTo>
                    <a:pt x="172570" y="524496"/>
                  </a:lnTo>
                  <a:lnTo>
                    <a:pt x="324970" y="524496"/>
                  </a:lnTo>
                  <a:lnTo>
                    <a:pt x="304777" y="489539"/>
                  </a:lnTo>
                  <a:close/>
                  <a:moveTo>
                    <a:pt x="248770" y="19671"/>
                  </a:moveTo>
                  <a:cubicBezTo>
                    <a:pt x="122564" y="19671"/>
                    <a:pt x="20170" y="122065"/>
                    <a:pt x="20170" y="248271"/>
                  </a:cubicBezTo>
                  <a:cubicBezTo>
                    <a:pt x="20170" y="374477"/>
                    <a:pt x="122564" y="476871"/>
                    <a:pt x="248770" y="476871"/>
                  </a:cubicBezTo>
                  <a:cubicBezTo>
                    <a:pt x="374976" y="476871"/>
                    <a:pt x="477370" y="374477"/>
                    <a:pt x="477370" y="248271"/>
                  </a:cubicBezTo>
                  <a:cubicBezTo>
                    <a:pt x="477370" y="122065"/>
                    <a:pt x="374976" y="19671"/>
                    <a:pt x="248770" y="19671"/>
                  </a:cubicBezTo>
                  <a:close/>
                  <a:moveTo>
                    <a:pt x="248770" y="133971"/>
                  </a:moveTo>
                  <a:cubicBezTo>
                    <a:pt x="311921" y="133971"/>
                    <a:pt x="363070" y="185120"/>
                    <a:pt x="363070" y="248271"/>
                  </a:cubicBezTo>
                  <a:cubicBezTo>
                    <a:pt x="363070" y="311422"/>
                    <a:pt x="311921" y="362571"/>
                    <a:pt x="248770" y="362571"/>
                  </a:cubicBezTo>
                  <a:cubicBezTo>
                    <a:pt x="185619" y="362571"/>
                    <a:pt x="134470" y="311422"/>
                    <a:pt x="134470" y="248271"/>
                  </a:cubicBezTo>
                  <a:cubicBezTo>
                    <a:pt x="134470" y="185120"/>
                    <a:pt x="185619" y="133971"/>
                    <a:pt x="248770" y="133971"/>
                  </a:cubicBezTo>
                  <a:close/>
                  <a:moveTo>
                    <a:pt x="248770" y="153021"/>
                  </a:moveTo>
                  <a:cubicBezTo>
                    <a:pt x="196192" y="153021"/>
                    <a:pt x="153520" y="195693"/>
                    <a:pt x="153520" y="248271"/>
                  </a:cubicBezTo>
                  <a:cubicBezTo>
                    <a:pt x="153520" y="300849"/>
                    <a:pt x="196192" y="343521"/>
                    <a:pt x="248770" y="343521"/>
                  </a:cubicBezTo>
                  <a:cubicBezTo>
                    <a:pt x="301348" y="343521"/>
                    <a:pt x="344020" y="300849"/>
                    <a:pt x="344020" y="248271"/>
                  </a:cubicBezTo>
                  <a:cubicBezTo>
                    <a:pt x="344020" y="195693"/>
                    <a:pt x="301348" y="153021"/>
                    <a:pt x="248770" y="153021"/>
                  </a:cubicBezTo>
                  <a:close/>
                  <a:moveTo>
                    <a:pt x="367833" y="114921"/>
                  </a:moveTo>
                  <a:cubicBezTo>
                    <a:pt x="375738" y="114921"/>
                    <a:pt x="382120" y="121303"/>
                    <a:pt x="382120" y="129209"/>
                  </a:cubicBezTo>
                  <a:cubicBezTo>
                    <a:pt x="382120" y="137114"/>
                    <a:pt x="375738" y="143496"/>
                    <a:pt x="367833" y="143496"/>
                  </a:cubicBezTo>
                  <a:cubicBezTo>
                    <a:pt x="359927" y="143496"/>
                    <a:pt x="353545" y="137114"/>
                    <a:pt x="353545" y="129209"/>
                  </a:cubicBezTo>
                  <a:cubicBezTo>
                    <a:pt x="353545" y="121303"/>
                    <a:pt x="359927" y="114921"/>
                    <a:pt x="367833" y="11492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CA80A6D-D1A5-4E82-BFBD-7E898DDBA13B}"/>
                </a:ext>
              </a:extLst>
            </p:cNvPr>
            <p:cNvSpPr/>
            <p:nvPr/>
          </p:nvSpPr>
          <p:spPr bwMode="auto">
            <a:xfrm>
              <a:off x="6788739" y="4456595"/>
              <a:ext cx="281338" cy="302051"/>
            </a:xfrm>
            <a:custGeom>
              <a:gdLst>
                <a:gd name="connsiteX0" fmla="*/ 372973 w 496823"/>
                <a:gd name="connsiteY0" fmla="*/ 621 h 533400"/>
                <a:gd name="connsiteX1" fmla="*/ 372973 w 496823"/>
                <a:gd name="connsiteY1" fmla="*/ 19671 h 533400"/>
                <a:gd name="connsiteX2" fmla="*/ 344398 w 496823"/>
                <a:gd name="connsiteY2" fmla="*/ 19671 h 533400"/>
                <a:gd name="connsiteX3" fmla="*/ 344398 w 496823"/>
                <a:gd name="connsiteY3" fmla="*/ 141877 h 533400"/>
                <a:gd name="connsiteX4" fmla="*/ 497560 w 496823"/>
                <a:gd name="connsiteY4" fmla="*/ 486301 h 533400"/>
                <a:gd name="connsiteX5" fmla="*/ 479558 w 496823"/>
                <a:gd name="connsiteY5" fmla="*/ 534021 h 533400"/>
                <a:gd name="connsiteX6" fmla="*/ 18738 w 496823"/>
                <a:gd name="connsiteY6" fmla="*/ 534021 h 533400"/>
                <a:gd name="connsiteX7" fmla="*/ 736 w 496823"/>
                <a:gd name="connsiteY7" fmla="*/ 486301 h 533400"/>
                <a:gd name="connsiteX8" fmla="*/ 153898 w 496823"/>
                <a:gd name="connsiteY8" fmla="*/ 141877 h 533400"/>
                <a:gd name="connsiteX9" fmla="*/ 153898 w 496823"/>
                <a:gd name="connsiteY9" fmla="*/ 19671 h 533400"/>
                <a:gd name="connsiteX10" fmla="*/ 125323 w 496823"/>
                <a:gd name="connsiteY10" fmla="*/ 19671 h 533400"/>
                <a:gd name="connsiteX11" fmla="*/ 125323 w 496823"/>
                <a:gd name="connsiteY11" fmla="*/ 621 h 533400"/>
                <a:gd name="connsiteX12" fmla="*/ 372973 w 496823"/>
                <a:gd name="connsiteY12" fmla="*/ 621 h 533400"/>
                <a:gd name="connsiteX13" fmla="*/ 257530 w 496823"/>
                <a:gd name="connsiteY13" fmla="*/ 416006 h 533400"/>
                <a:gd name="connsiteX14" fmla="*/ 254672 w 496823"/>
                <a:gd name="connsiteY14" fmla="*/ 418007 h 533400"/>
                <a:gd name="connsiteX15" fmla="*/ 53504 w 496823"/>
                <a:gd name="connsiteY15" fmla="*/ 414578 h 533400"/>
                <a:gd name="connsiteX16" fmla="*/ 21310 w 496823"/>
                <a:gd name="connsiteY16" fmla="*/ 486967 h 533400"/>
                <a:gd name="connsiteX17" fmla="*/ 31883 w 496823"/>
                <a:gd name="connsiteY17" fmla="*/ 515066 h 533400"/>
                <a:gd name="connsiteX18" fmla="*/ 466413 w 496823"/>
                <a:gd name="connsiteY18" fmla="*/ 515066 h 533400"/>
                <a:gd name="connsiteX19" fmla="*/ 476986 w 496823"/>
                <a:gd name="connsiteY19" fmla="*/ 486967 h 533400"/>
                <a:gd name="connsiteX20" fmla="*/ 441267 w 496823"/>
                <a:gd name="connsiteY20" fmla="*/ 406672 h 533400"/>
                <a:gd name="connsiteX21" fmla="*/ 257530 w 496823"/>
                <a:gd name="connsiteY21" fmla="*/ 416006 h 533400"/>
                <a:gd name="connsiteX22" fmla="*/ 325348 w 496823"/>
                <a:gd name="connsiteY22" fmla="*/ 19671 h 533400"/>
                <a:gd name="connsiteX23" fmla="*/ 172948 w 496823"/>
                <a:gd name="connsiteY23" fmla="*/ 19671 h 533400"/>
                <a:gd name="connsiteX24" fmla="*/ 172948 w 496823"/>
                <a:gd name="connsiteY24" fmla="*/ 145877 h 533400"/>
                <a:gd name="connsiteX25" fmla="*/ 61315 w 496823"/>
                <a:gd name="connsiteY25" fmla="*/ 396956 h 533400"/>
                <a:gd name="connsiteX26" fmla="*/ 240957 w 496823"/>
                <a:gd name="connsiteY26" fmla="*/ 404291 h 533400"/>
                <a:gd name="connsiteX27" fmla="*/ 243719 w 496823"/>
                <a:gd name="connsiteY27" fmla="*/ 402385 h 533400"/>
                <a:gd name="connsiteX28" fmla="*/ 430313 w 496823"/>
                <a:gd name="connsiteY28" fmla="*/ 381716 h 533400"/>
                <a:gd name="connsiteX29" fmla="*/ 325348 w 496823"/>
                <a:gd name="connsiteY29" fmla="*/ 145877 h 533400"/>
                <a:gd name="connsiteX30" fmla="*/ 325348 w 496823"/>
                <a:gd name="connsiteY30" fmla="*/ 19671 h 533400"/>
                <a:gd name="connsiteX31" fmla="*/ 311060 w 496823"/>
                <a:gd name="connsiteY31" fmla="*/ 248271 h 533400"/>
                <a:gd name="connsiteX32" fmla="*/ 353923 w 496823"/>
                <a:gd name="connsiteY32" fmla="*/ 291134 h 533400"/>
                <a:gd name="connsiteX33" fmla="*/ 311060 w 496823"/>
                <a:gd name="connsiteY33" fmla="*/ 333996 h 533400"/>
                <a:gd name="connsiteX34" fmla="*/ 268198 w 496823"/>
                <a:gd name="connsiteY34" fmla="*/ 291134 h 533400"/>
                <a:gd name="connsiteX35" fmla="*/ 311060 w 496823"/>
                <a:gd name="connsiteY35" fmla="*/ 248271 h 533400"/>
                <a:gd name="connsiteX36" fmla="*/ 311060 w 496823"/>
                <a:gd name="connsiteY36" fmla="*/ 267321 h 533400"/>
                <a:gd name="connsiteX37" fmla="*/ 287248 w 496823"/>
                <a:gd name="connsiteY37" fmla="*/ 291134 h 533400"/>
                <a:gd name="connsiteX38" fmla="*/ 311060 w 496823"/>
                <a:gd name="connsiteY38" fmla="*/ 314946 h 533400"/>
                <a:gd name="connsiteX39" fmla="*/ 334873 w 496823"/>
                <a:gd name="connsiteY39" fmla="*/ 291134 h 533400"/>
                <a:gd name="connsiteX40" fmla="*/ 311060 w 496823"/>
                <a:gd name="connsiteY40" fmla="*/ 267321 h 53340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96823" h="533400">
                  <a:moveTo>
                    <a:pt x="372973" y="621"/>
                  </a:moveTo>
                  <a:lnTo>
                    <a:pt x="372973" y="19671"/>
                  </a:lnTo>
                  <a:lnTo>
                    <a:pt x="344398" y="19671"/>
                  </a:lnTo>
                  <a:lnTo>
                    <a:pt x="344398" y="141877"/>
                  </a:lnTo>
                  <a:lnTo>
                    <a:pt x="497560" y="486301"/>
                  </a:lnTo>
                  <a:lnTo>
                    <a:pt x="479558" y="534021"/>
                  </a:lnTo>
                  <a:lnTo>
                    <a:pt x="18738" y="534021"/>
                  </a:lnTo>
                  <a:lnTo>
                    <a:pt x="736" y="486301"/>
                  </a:lnTo>
                  <a:lnTo>
                    <a:pt x="153898" y="141877"/>
                  </a:lnTo>
                  <a:lnTo>
                    <a:pt x="153898" y="19671"/>
                  </a:lnTo>
                  <a:lnTo>
                    <a:pt x="125323" y="19671"/>
                  </a:lnTo>
                  <a:lnTo>
                    <a:pt x="125323" y="621"/>
                  </a:lnTo>
                  <a:lnTo>
                    <a:pt x="372973" y="621"/>
                  </a:lnTo>
                  <a:close/>
                  <a:moveTo>
                    <a:pt x="257530" y="416006"/>
                  </a:moveTo>
                  <a:lnTo>
                    <a:pt x="254672" y="418007"/>
                  </a:lnTo>
                  <a:cubicBezTo>
                    <a:pt x="199142" y="457345"/>
                    <a:pt x="120656" y="455535"/>
                    <a:pt x="53504" y="414578"/>
                  </a:cubicBezTo>
                  <a:lnTo>
                    <a:pt x="21310" y="486967"/>
                  </a:lnTo>
                  <a:lnTo>
                    <a:pt x="31883" y="515066"/>
                  </a:lnTo>
                  <a:lnTo>
                    <a:pt x="466413" y="515066"/>
                  </a:lnTo>
                  <a:lnTo>
                    <a:pt x="476986" y="486967"/>
                  </a:lnTo>
                  <a:lnTo>
                    <a:pt x="441267" y="406672"/>
                  </a:lnTo>
                  <a:cubicBezTo>
                    <a:pt x="379926" y="379144"/>
                    <a:pt x="307060" y="382669"/>
                    <a:pt x="257530" y="416006"/>
                  </a:cubicBezTo>
                  <a:close/>
                  <a:moveTo>
                    <a:pt x="325348" y="19671"/>
                  </a:moveTo>
                  <a:lnTo>
                    <a:pt x="172948" y="19671"/>
                  </a:lnTo>
                  <a:lnTo>
                    <a:pt x="172948" y="145877"/>
                  </a:lnTo>
                  <a:lnTo>
                    <a:pt x="61315" y="396956"/>
                  </a:lnTo>
                  <a:cubicBezTo>
                    <a:pt x="121608" y="434771"/>
                    <a:pt x="191522" y="437342"/>
                    <a:pt x="240957" y="404291"/>
                  </a:cubicBezTo>
                  <a:lnTo>
                    <a:pt x="243719" y="402385"/>
                  </a:lnTo>
                  <a:cubicBezTo>
                    <a:pt x="294106" y="366762"/>
                    <a:pt x="366115" y="359618"/>
                    <a:pt x="430313" y="381716"/>
                  </a:cubicBezTo>
                  <a:lnTo>
                    <a:pt x="325348" y="145877"/>
                  </a:lnTo>
                  <a:lnTo>
                    <a:pt x="325348" y="19671"/>
                  </a:lnTo>
                  <a:close/>
                  <a:moveTo>
                    <a:pt x="311060" y="248271"/>
                  </a:moveTo>
                  <a:cubicBezTo>
                    <a:pt x="334778" y="248271"/>
                    <a:pt x="353923" y="267416"/>
                    <a:pt x="353923" y="291134"/>
                  </a:cubicBezTo>
                  <a:cubicBezTo>
                    <a:pt x="353923" y="314851"/>
                    <a:pt x="334778" y="333996"/>
                    <a:pt x="311060" y="333996"/>
                  </a:cubicBezTo>
                  <a:cubicBezTo>
                    <a:pt x="287343" y="333996"/>
                    <a:pt x="268198" y="314851"/>
                    <a:pt x="268198" y="291134"/>
                  </a:cubicBezTo>
                  <a:cubicBezTo>
                    <a:pt x="268198" y="267416"/>
                    <a:pt x="287343" y="248271"/>
                    <a:pt x="311060" y="248271"/>
                  </a:cubicBezTo>
                  <a:close/>
                  <a:moveTo>
                    <a:pt x="311060" y="267321"/>
                  </a:moveTo>
                  <a:cubicBezTo>
                    <a:pt x="297916" y="267321"/>
                    <a:pt x="287248" y="277989"/>
                    <a:pt x="287248" y="291134"/>
                  </a:cubicBezTo>
                  <a:cubicBezTo>
                    <a:pt x="287248" y="304278"/>
                    <a:pt x="297916" y="314946"/>
                    <a:pt x="311060" y="314946"/>
                  </a:cubicBezTo>
                  <a:cubicBezTo>
                    <a:pt x="324205" y="314946"/>
                    <a:pt x="334873" y="304278"/>
                    <a:pt x="334873" y="291134"/>
                  </a:cubicBezTo>
                  <a:cubicBezTo>
                    <a:pt x="334873" y="277989"/>
                    <a:pt x="324205" y="267321"/>
                    <a:pt x="311060" y="2673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6" name="Title 9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保质保量的技能</a:t>
            </a:r>
          </a:p>
        </p:txBody>
      </p:sp>
    </p:spTree>
    <p:custDataLst>
      <p:tags r:id="rId2"/>
    </p:custDataLst>
    <p:extLst>
      <p:ext uri="{BB962C8B-B14F-4D97-AF65-F5344CB8AC3E}">
        <p14:creationId val="2897338601"/>
      </p:ext>
    </p:extLst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Group 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111E2C30-DCB9-4ACA-BE2C-5F63922E1EE0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1130300"/>
            <a:ext cx="12192000" cy="5003800"/>
            <a:chOff x="0" y="1130300"/>
            <a:chExt cx="12192000" cy="50038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674AADB-8882-4C58-A8A0-A5A80E5C573D}"/>
                </a:ext>
              </a:extLst>
            </p:cNvPr>
            <p:cNvGrpSpPr/>
            <p:nvPr/>
          </p:nvGrpSpPr>
          <p:grpSpPr>
            <a:xfrm>
              <a:off x="1079028" y="1130300"/>
              <a:ext cx="10021243" cy="1151173"/>
              <a:chOff x="660401" y="4826974"/>
              <a:chExt cx="10858500" cy="1151173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526A6D4-3938-483E-AE04-387A4D4F50AE}"/>
                  </a:ext>
                </a:extLst>
              </p:cNvPr>
              <p:cNvSpPr txBox="1"/>
              <p:nvPr/>
            </p:nvSpPr>
            <p:spPr>
              <a:xfrm>
                <a:off x="660401" y="5244598"/>
                <a:ext cx="10858499" cy="7335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buSzPct val="25000"/>
                </a:pPr>
                <a:r>
                  <a:rPr lang="zh-CN" altLang="en-US" sz="1200"/>
                  <a:t>分享成功案例，帮助员工了解如何通过优化工作流程提升办公效率。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912A863-473E-4A90-BEE6-44BFAF3EC2FB}"/>
                  </a:ext>
                </a:extLst>
              </p:cNvPr>
              <p:cNvSpPr/>
              <p:nvPr/>
            </p:nvSpPr>
            <p:spPr>
              <a:xfrm>
                <a:off x="660402" y="4826974"/>
                <a:ext cx="10858499" cy="417624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lang="zh-CN" altLang="en-US" sz="2400" b="1"/>
                  <a:t>优化工作流程</a:t>
                </a:r>
                <a:endParaRPr lang="id-ID" altLang="zh-CN" b="1">
                  <a:solidFill>
                    <a:schemeClr val="accent1"/>
                  </a:solidFill>
                </a:endParaRPr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2042791-E0A1-49B5-814A-6C180FA22D46}"/>
                </a:ext>
              </a:extLst>
            </p:cNvPr>
            <p:cNvSpPr/>
            <p:nvPr/>
          </p:nvSpPr>
          <p:spPr>
            <a:xfrm>
              <a:off x="0" y="4390931"/>
              <a:ext cx="12192000" cy="615635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>
                <a:solidFill>
                  <a:schemeClr val="bg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3B1D864-F701-42CB-8EE6-83C61F488A9C}"/>
                </a:ext>
              </a:extLst>
            </p:cNvPr>
            <p:cNvGrpSpPr/>
            <p:nvPr/>
          </p:nvGrpSpPr>
          <p:grpSpPr>
            <a:xfrm>
              <a:off x="660400" y="2504603"/>
              <a:ext cx="3369248" cy="3629497"/>
              <a:chOff x="660400" y="2504603"/>
              <a:chExt cx="3431766" cy="3629497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9F1B890-4C23-48E6-8E95-6A35FEBDEFCC}"/>
                  </a:ext>
                </a:extLst>
              </p:cNvPr>
              <p:cNvSpPr/>
              <p:nvPr/>
            </p:nvSpPr>
            <p:spPr>
              <a:xfrm>
                <a:off x="660400" y="2504603"/>
                <a:ext cx="3431766" cy="1886328"/>
              </a:xfrm>
              <a:prstGeom prst="rect">
                <a:avLst/>
              </a:prstGeom>
              <a:blipFill rotWithShape="0">
                <a:blip r:embed="rId2"/>
                <a:stretch>
                  <a:fillRect t="-10570" b="-1057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6639E96-A565-47B6-907E-4462AE385314}"/>
                  </a:ext>
                </a:extLst>
              </p:cNvPr>
              <p:cNvGrpSpPr/>
              <p:nvPr/>
            </p:nvGrpSpPr>
            <p:grpSpPr>
              <a:xfrm>
                <a:off x="660400" y="4468004"/>
                <a:ext cx="3431766" cy="1666096"/>
                <a:chOff x="743997" y="4468004"/>
                <a:chExt cx="3264572" cy="1666096"/>
              </a:xfrm>
            </p:grpSpPr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21D2456-A6A6-43F5-AD86-0A010D24A2F0}"/>
                    </a:ext>
                  </a:extLst>
                </p:cNvPr>
                <p:cNvSpPr txBox="1"/>
                <p:nvPr/>
              </p:nvSpPr>
              <p:spPr>
                <a:xfrm>
                  <a:off x="743997" y="4468004"/>
                  <a:ext cx="3264572" cy="461488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>
                      <a:solidFill>
                        <a:schemeClr val="bg1"/>
                      </a:solidFill>
                    </a:rPr>
                    <a:t>自动化工作流程</a:t>
                  </a:r>
                  <a:endParaRPr lang="id-ID" sz="16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F8E07573-A8E5-42F7-B445-E2E8E3B47ABD}"/>
                    </a:ext>
                  </a:extLst>
                </p:cNvPr>
                <p:cNvSpPr/>
                <p:nvPr/>
              </p:nvSpPr>
              <p:spPr bwMode="auto">
                <a:xfrm>
                  <a:off x="743997" y="5006565"/>
                  <a:ext cx="3264572" cy="11275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/>
                    <a:t>提升办公效率：自动化工具的应用</a:t>
                  </a: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CA8488D-F70E-428E-A0F3-3284C9A99641}"/>
                </a:ext>
              </a:extLst>
            </p:cNvPr>
            <p:cNvGrpSpPr/>
            <p:nvPr/>
          </p:nvGrpSpPr>
          <p:grpSpPr>
            <a:xfrm>
              <a:off x="4405027" y="2504603"/>
              <a:ext cx="3369248" cy="3629497"/>
              <a:chOff x="660400" y="2504603"/>
              <a:chExt cx="3431766" cy="3629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798C1E5-D1E3-4471-A06E-6879789FBA3E}"/>
                  </a:ext>
                </a:extLst>
              </p:cNvPr>
              <p:cNvSpPr/>
              <p:nvPr/>
            </p:nvSpPr>
            <p:spPr>
              <a:xfrm>
                <a:off x="660400" y="2504603"/>
                <a:ext cx="3431766" cy="1886328"/>
              </a:xfrm>
              <a:prstGeom prst="rect">
                <a:avLst/>
              </a:prstGeom>
              <a:blipFill rotWithShape="0">
                <a:blip r:embed="rId3"/>
                <a:stretch>
                  <a:fillRect t="-10570" b="-1057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54B1FEB-B821-4079-BE89-DF5F260CCC02}"/>
                  </a:ext>
                </a:extLst>
              </p:cNvPr>
              <p:cNvGrpSpPr/>
              <p:nvPr/>
            </p:nvGrpSpPr>
            <p:grpSpPr>
              <a:xfrm>
                <a:off x="660400" y="4468004"/>
                <a:ext cx="3431766" cy="1666096"/>
                <a:chOff x="743997" y="4468004"/>
                <a:chExt cx="3264572" cy="1666096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41869B8-0BFC-4100-A8B1-1D0BB97D459A}"/>
                    </a:ext>
                  </a:extLst>
                </p:cNvPr>
                <p:cNvSpPr txBox="1"/>
                <p:nvPr/>
              </p:nvSpPr>
              <p:spPr>
                <a:xfrm>
                  <a:off x="743997" y="4468004"/>
                  <a:ext cx="3264572" cy="461488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>
                      <a:solidFill>
                        <a:schemeClr val="bg1"/>
                      </a:solidFill>
                    </a:rPr>
                    <a:t>团队协作平台</a:t>
                  </a:r>
                  <a:endParaRPr lang="id-ID" sz="16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5308DBAF-8DDE-4AC8-8347-3D296D92DEC0}"/>
                    </a:ext>
                  </a:extLst>
                </p:cNvPr>
                <p:cNvSpPr/>
                <p:nvPr/>
              </p:nvSpPr>
              <p:spPr bwMode="auto">
                <a:xfrm>
                  <a:off x="743997" y="5006565"/>
                  <a:ext cx="3264572" cy="11275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/>
                    <a:t>通过团队协作平台提高沟通效率和工作协同性</a:t>
                  </a: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AA5B4D6-F706-4D52-B94E-EA795AF18936}"/>
                </a:ext>
              </a:extLst>
            </p:cNvPr>
            <p:cNvGrpSpPr/>
            <p:nvPr/>
          </p:nvGrpSpPr>
          <p:grpSpPr>
            <a:xfrm>
              <a:off x="8149652" y="2504603"/>
              <a:ext cx="3369248" cy="3629497"/>
              <a:chOff x="660400" y="2504603"/>
              <a:chExt cx="3431766" cy="3629497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04F3D1A-3CF7-4BF6-B7F8-E069CF4A4574}"/>
                  </a:ext>
                </a:extLst>
              </p:cNvPr>
              <p:cNvSpPr/>
              <p:nvPr/>
            </p:nvSpPr>
            <p:spPr>
              <a:xfrm>
                <a:off x="660400" y="2504603"/>
                <a:ext cx="3431766" cy="1886328"/>
              </a:xfrm>
              <a:prstGeom prst="rect">
                <a:avLst/>
              </a:prstGeom>
              <a:blipFill rotWithShape="0">
                <a:blip r:embed="rId4"/>
                <a:stretch>
                  <a:fillRect t="-10570" b="-1057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229F3AEB-1C9C-45EB-9345-ED2B54D923AB}"/>
                  </a:ext>
                </a:extLst>
              </p:cNvPr>
              <p:cNvGrpSpPr/>
              <p:nvPr/>
            </p:nvGrpSpPr>
            <p:grpSpPr>
              <a:xfrm>
                <a:off x="660400" y="4468004"/>
                <a:ext cx="3431766" cy="1666096"/>
                <a:chOff x="743997" y="4468004"/>
                <a:chExt cx="3264572" cy="1666096"/>
              </a:xfrm>
            </p:grpSpPr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C1F5E14-3B78-4E08-A9CF-896D1859F62C}"/>
                    </a:ext>
                  </a:extLst>
                </p:cNvPr>
                <p:cNvSpPr txBox="1"/>
                <p:nvPr/>
              </p:nvSpPr>
              <p:spPr>
                <a:xfrm>
                  <a:off x="743997" y="4468004"/>
                  <a:ext cx="3264572" cy="461488"/>
                </a:xfrm>
                <a:prstGeom prst="rect">
                  <a:avLst/>
                </a:prstGeom>
                <a:noFill/>
              </p:spPr>
              <p:txBody>
                <a:bodyPr wrap="none" lIns="91440" tIns="45720" rIns="91440" bIns="45720" rtlCol="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</a:pPr>
                  <a:r>
                    <a:rPr lang="zh-CN" altLang="en-US" sz="1600" b="1">
                      <a:solidFill>
                        <a:schemeClr val="bg1"/>
                      </a:solidFill>
                    </a:rPr>
                    <a:t>优化会议流程</a:t>
                  </a:r>
                  <a:endParaRPr lang="id-ID" sz="16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E387ADE-4C1E-48FF-A32E-F62A5EA86C28}"/>
                    </a:ext>
                  </a:extLst>
                </p:cNvPr>
                <p:cNvSpPr/>
                <p:nvPr/>
              </p:nvSpPr>
              <p:spPr bwMode="auto">
                <a:xfrm>
                  <a:off x="743997" y="5006565"/>
                  <a:ext cx="3264572" cy="11275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20000"/>
                    </a:lnSpc>
                  </a:pPr>
                  <a:r>
                    <a:rPr lang="zh-CN" altLang="en-US" sz="1200"/>
                    <a:t>通过优化会议流程减少时间浪费，提高会议效率</a:t>
                  </a:r>
                </a:p>
              </p:txBody>
            </p:sp>
          </p:grpSp>
        </p:grpSp>
      </p:grp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成功案例分享</a:t>
            </a:r>
          </a:p>
        </p:txBody>
      </p:sp>
    </p:spTree>
    <p:custDataLst>
      <p:tags r:id="rId5"/>
    </p:custDataLst>
    <p:extLst>
      <p:ext uri="{BB962C8B-B14F-4D97-AF65-F5344CB8AC3E}">
        <p14:creationId val="3075618661"/>
      </p:ext>
    </p:extLst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Group 1"/>
          <p:cNvGrpSpPr/>
          <p:nvPr/>
        </p:nvGrpSpPr>
        <p:grpSpPr>
          <a:xfrm>
            <a:off x="1450705" y="1130300"/>
            <a:ext cx="9934832" cy="4610712"/>
            <a:chOff x="1450705" y="1130300"/>
            <a:chExt cx="9934832" cy="4610712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7987F85-9F7E-4B8E-8A12-9BEBAF20D986}"/>
                </a:ext>
              </a:extLst>
            </p:cNvPr>
            <p:cNvSpPr txBox="1"/>
            <p:nvPr/>
          </p:nvSpPr>
          <p:spPr>
            <a:xfrm>
              <a:off x="2930392" y="5446188"/>
              <a:ext cx="6331216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lvl="0" defTabSz="913765">
                <a:lnSpc>
                  <a:spcPct val="150000"/>
                </a:lnSpc>
                <a:buSzPct val="25000"/>
                <a:defRPr sz="105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  <a:alpha val="80000"/>
                    </a:schemeClr>
                  </a:solidFill>
                </a:rPr>
                <a:t>学习新技能和知识，提高工作效率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56B0C1F8-3D42-4F0F-A5D9-4461B340BED6}"/>
                </a:ext>
              </a:extLst>
            </p:cNvPr>
            <p:cNvSpPr txBox="1"/>
            <p:nvPr/>
          </p:nvSpPr>
          <p:spPr>
            <a:xfrm>
              <a:off x="2230431" y="1130300"/>
              <a:ext cx="773113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solidFill>
                    <a:schemeClr val="tx1"/>
                  </a:solidFill>
                </a:rPr>
                <a:t>不断学习，不断提高</a:t>
              </a:r>
            </a:p>
          </p:txBody>
        </p: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F36E76E3-4053-4B31-9F91-8DBFE125D5DE}"/>
                </a:ext>
              </a:extLst>
            </p:cNvPr>
            <p:cNvGrpSpPr/>
            <p:nvPr/>
          </p:nvGrpSpPr>
          <p:grpSpPr>
            <a:xfrm>
              <a:off x="5962747" y="2055252"/>
              <a:ext cx="797835" cy="797834"/>
              <a:chOff x="5801161" y="2030507"/>
              <a:chExt cx="900002" cy="900000"/>
            </a:xfrm>
          </p:grpSpPr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96B275EB-4755-4DD1-A211-AE3C4857D9EC}"/>
                  </a:ext>
                </a:extLst>
              </p:cNvPr>
              <p:cNvSpPr/>
              <p:nvPr/>
            </p:nvSpPr>
            <p:spPr>
              <a:xfrm>
                <a:off x="5801161" y="2030507"/>
                <a:ext cx="900002" cy="900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6642E80F-F68B-450A-B88F-91FEE803317C}"/>
                  </a:ext>
                </a:extLst>
              </p:cNvPr>
              <p:cNvGrpSpPr/>
              <p:nvPr/>
            </p:nvGrpSpPr>
            <p:grpSpPr>
              <a:xfrm>
                <a:off x="5981164" y="2210507"/>
                <a:ext cx="540001" cy="540000"/>
                <a:chOff x="3495616" y="1637616"/>
                <a:chExt cx="444222" cy="444220"/>
              </a:xfrm>
            </p:grpSpPr>
            <p:sp>
              <p:nvSpPr>
                <p:cNvPr id="221" name="Oval 220">
                  <a:extLst>
                    <a:ext uri="{FF2B5EF4-FFF2-40B4-BE49-F238E27FC236}">
                      <a16:creationId xmlns:a16="http://schemas.microsoft.com/office/drawing/2014/main" id="{A6924A29-E806-4279-8709-D425DD44DF5B}"/>
                    </a:ext>
                  </a:extLst>
                </p:cNvPr>
                <p:cNvSpPr/>
                <p:nvPr/>
              </p:nvSpPr>
              <p:spPr>
                <a:xfrm>
                  <a:off x="3495616" y="1637616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60000">
                      <a:schemeClr val="accent4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4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1200" b="1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0" name="Freeform: Shape 339">
                  <a:extLst>
                    <a:ext uri="{FF2B5EF4-FFF2-40B4-BE49-F238E27FC236}">
                      <a16:creationId xmlns:a16="http://schemas.microsoft.com/office/drawing/2014/main" id="{0C22F57A-70CA-4EBD-A47C-4F7D986E6480}"/>
                    </a:ext>
                  </a:extLst>
                </p:cNvPr>
                <p:cNvSpPr/>
                <p:nvPr/>
              </p:nvSpPr>
              <p:spPr bwMode="auto">
                <a:xfrm>
                  <a:off x="3614946" y="1789643"/>
                  <a:ext cx="205561" cy="163687"/>
                </a:xfrm>
                <a:custGeom>
                  <a:gdLst>
                    <a:gd name="connsiteX0" fmla="*/ 486767 w 514350"/>
                    <a:gd name="connsiteY0" fmla="*/ 621 h 409575"/>
                    <a:gd name="connsiteX1" fmla="*/ 515342 w 514350"/>
                    <a:gd name="connsiteY1" fmla="*/ 29196 h 409575"/>
                    <a:gd name="connsiteX2" fmla="*/ 515342 w 514350"/>
                    <a:gd name="connsiteY2" fmla="*/ 324471 h 409575"/>
                    <a:gd name="connsiteX3" fmla="*/ 486767 w 514350"/>
                    <a:gd name="connsiteY3" fmla="*/ 353046 h 409575"/>
                    <a:gd name="connsiteX4" fmla="*/ 192159 w 514350"/>
                    <a:gd name="connsiteY4" fmla="*/ 353046 h 409575"/>
                    <a:gd name="connsiteX5" fmla="*/ 115387 w 514350"/>
                    <a:gd name="connsiteY5" fmla="*/ 410196 h 409575"/>
                    <a:gd name="connsiteX6" fmla="*/ 115387 w 514350"/>
                    <a:gd name="connsiteY6" fmla="*/ 353046 h 409575"/>
                    <a:gd name="connsiteX7" fmla="*/ 29567 w 514350"/>
                    <a:gd name="connsiteY7" fmla="*/ 353046 h 409575"/>
                    <a:gd name="connsiteX8" fmla="*/ 992 w 514350"/>
                    <a:gd name="connsiteY8" fmla="*/ 324471 h 409575"/>
                    <a:gd name="connsiteX9" fmla="*/ 992 w 514350"/>
                    <a:gd name="connsiteY9" fmla="*/ 29196 h 409575"/>
                    <a:gd name="connsiteX10" fmla="*/ 29567 w 514350"/>
                    <a:gd name="connsiteY10" fmla="*/ 621 h 409575"/>
                    <a:gd name="connsiteX11" fmla="*/ 486767 w 514350"/>
                    <a:gd name="connsiteY11" fmla="*/ 621 h 409575"/>
                    <a:gd name="connsiteX12" fmla="*/ 124817 w 514350"/>
                    <a:gd name="connsiteY12" fmla="*/ 143496 h 409575"/>
                    <a:gd name="connsiteX13" fmla="*/ 91480 w 514350"/>
                    <a:gd name="connsiteY13" fmla="*/ 176834 h 409575"/>
                    <a:gd name="connsiteX14" fmla="*/ 124817 w 514350"/>
                    <a:gd name="connsiteY14" fmla="*/ 210171 h 409575"/>
                    <a:gd name="connsiteX15" fmla="*/ 158155 w 514350"/>
                    <a:gd name="connsiteY15" fmla="*/ 176834 h 409575"/>
                    <a:gd name="connsiteX16" fmla="*/ 124817 w 514350"/>
                    <a:gd name="connsiteY16" fmla="*/ 143496 h 409575"/>
                    <a:gd name="connsiteX17" fmla="*/ 258167 w 514350"/>
                    <a:gd name="connsiteY17" fmla="*/ 143496 h 409575"/>
                    <a:gd name="connsiteX18" fmla="*/ 224830 w 514350"/>
                    <a:gd name="connsiteY18" fmla="*/ 176834 h 409575"/>
                    <a:gd name="connsiteX19" fmla="*/ 258167 w 514350"/>
                    <a:gd name="connsiteY19" fmla="*/ 210171 h 409575"/>
                    <a:gd name="connsiteX20" fmla="*/ 291505 w 514350"/>
                    <a:gd name="connsiteY20" fmla="*/ 176834 h 409575"/>
                    <a:gd name="connsiteX21" fmla="*/ 258167 w 514350"/>
                    <a:gd name="connsiteY21" fmla="*/ 143496 h 409575"/>
                    <a:gd name="connsiteX22" fmla="*/ 391517 w 514350"/>
                    <a:gd name="connsiteY22" fmla="*/ 143496 h 409575"/>
                    <a:gd name="connsiteX23" fmla="*/ 358180 w 514350"/>
                    <a:gd name="connsiteY23" fmla="*/ 176834 h 409575"/>
                    <a:gd name="connsiteX24" fmla="*/ 391517 w 514350"/>
                    <a:gd name="connsiteY24" fmla="*/ 210171 h 409575"/>
                    <a:gd name="connsiteX25" fmla="*/ 424855 w 514350"/>
                    <a:gd name="connsiteY25" fmla="*/ 176834 h 409575"/>
                    <a:gd name="connsiteX26" fmla="*/ 391517 w 514350"/>
                    <a:gd name="connsiteY26" fmla="*/ 143496 h 40957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14350" h="409575">
                      <a:moveTo>
                        <a:pt x="486767" y="621"/>
                      </a:moveTo>
                      <a:cubicBezTo>
                        <a:pt x="502579" y="621"/>
                        <a:pt x="515342" y="13385"/>
                        <a:pt x="515342" y="29196"/>
                      </a:cubicBezTo>
                      <a:lnTo>
                        <a:pt x="515342" y="324471"/>
                      </a:lnTo>
                      <a:cubicBezTo>
                        <a:pt x="515342" y="340282"/>
                        <a:pt x="502579" y="353046"/>
                        <a:pt x="486767" y="353046"/>
                      </a:cubicBezTo>
                      <a:lnTo>
                        <a:pt x="192159" y="353046"/>
                      </a:lnTo>
                      <a:lnTo>
                        <a:pt x="115387" y="410196"/>
                      </a:lnTo>
                      <a:lnTo>
                        <a:pt x="115387" y="353046"/>
                      </a:lnTo>
                      <a:lnTo>
                        <a:pt x="29567" y="353046"/>
                      </a:lnTo>
                      <a:cubicBezTo>
                        <a:pt x="13755" y="353046"/>
                        <a:pt x="992" y="340282"/>
                        <a:pt x="992" y="324471"/>
                      </a:cubicBezTo>
                      <a:lnTo>
                        <a:pt x="992" y="29196"/>
                      </a:lnTo>
                      <a:cubicBezTo>
                        <a:pt x="992" y="13385"/>
                        <a:pt x="13755" y="621"/>
                        <a:pt x="29567" y="621"/>
                      </a:cubicBezTo>
                      <a:lnTo>
                        <a:pt x="486767" y="621"/>
                      </a:lnTo>
                      <a:close/>
                      <a:moveTo>
                        <a:pt x="124817" y="143496"/>
                      </a:moveTo>
                      <a:cubicBezTo>
                        <a:pt x="106434" y="143496"/>
                        <a:pt x="91480" y="158450"/>
                        <a:pt x="91480" y="176834"/>
                      </a:cubicBezTo>
                      <a:cubicBezTo>
                        <a:pt x="91480" y="195217"/>
                        <a:pt x="106434" y="210171"/>
                        <a:pt x="124817" y="210171"/>
                      </a:cubicBezTo>
                      <a:cubicBezTo>
                        <a:pt x="143200" y="210171"/>
                        <a:pt x="158155" y="195217"/>
                        <a:pt x="158155" y="176834"/>
                      </a:cubicBezTo>
                      <a:cubicBezTo>
                        <a:pt x="158155" y="158450"/>
                        <a:pt x="143200" y="143496"/>
                        <a:pt x="124817" y="143496"/>
                      </a:cubicBezTo>
                      <a:close/>
                      <a:moveTo>
                        <a:pt x="258167" y="143496"/>
                      </a:moveTo>
                      <a:cubicBezTo>
                        <a:pt x="239784" y="143496"/>
                        <a:pt x="224830" y="158450"/>
                        <a:pt x="224830" y="176834"/>
                      </a:cubicBezTo>
                      <a:cubicBezTo>
                        <a:pt x="224830" y="195217"/>
                        <a:pt x="239784" y="210171"/>
                        <a:pt x="258167" y="210171"/>
                      </a:cubicBezTo>
                      <a:cubicBezTo>
                        <a:pt x="276550" y="210171"/>
                        <a:pt x="291505" y="195217"/>
                        <a:pt x="291505" y="176834"/>
                      </a:cubicBezTo>
                      <a:cubicBezTo>
                        <a:pt x="291505" y="158450"/>
                        <a:pt x="276550" y="143496"/>
                        <a:pt x="258167" y="143496"/>
                      </a:cubicBezTo>
                      <a:close/>
                      <a:moveTo>
                        <a:pt x="391517" y="143496"/>
                      </a:moveTo>
                      <a:cubicBezTo>
                        <a:pt x="373134" y="143496"/>
                        <a:pt x="358180" y="158450"/>
                        <a:pt x="358180" y="176834"/>
                      </a:cubicBezTo>
                      <a:cubicBezTo>
                        <a:pt x="358180" y="195217"/>
                        <a:pt x="373134" y="210171"/>
                        <a:pt x="391517" y="210171"/>
                      </a:cubicBezTo>
                      <a:cubicBezTo>
                        <a:pt x="409900" y="210171"/>
                        <a:pt x="424855" y="195217"/>
                        <a:pt x="424855" y="176834"/>
                      </a:cubicBezTo>
                      <a:cubicBezTo>
                        <a:pt x="424855" y="158450"/>
                        <a:pt x="409900" y="143496"/>
                        <a:pt x="391517" y="14349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1A3903F4-103F-4BB7-941F-FC6FD64C3B4D}"/>
                </a:ext>
              </a:extLst>
            </p:cNvPr>
            <p:cNvGrpSpPr/>
            <p:nvPr/>
          </p:nvGrpSpPr>
          <p:grpSpPr>
            <a:xfrm>
              <a:off x="7347316" y="4357098"/>
              <a:ext cx="802527" cy="802526"/>
              <a:chOff x="8611831" y="4804787"/>
              <a:chExt cx="900002" cy="900000"/>
            </a:xfrm>
          </p:grpSpPr>
          <p:sp>
            <p:nvSpPr>
              <p:cNvPr id="347" name="Oval 346">
                <a:extLst>
                  <a:ext uri="{FF2B5EF4-FFF2-40B4-BE49-F238E27FC236}">
                    <a16:creationId xmlns:a16="http://schemas.microsoft.com/office/drawing/2014/main" id="{571134BA-B451-4F25-A5A5-AB88C95DFE26}"/>
                  </a:ext>
                </a:extLst>
              </p:cNvPr>
              <p:cNvSpPr/>
              <p:nvPr/>
            </p:nvSpPr>
            <p:spPr>
              <a:xfrm>
                <a:off x="8611831" y="4804787"/>
                <a:ext cx="900002" cy="900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grpSp>
            <p:nvGrpSpPr>
              <p:cNvPr id="348" name="Group 347">
                <a:extLst>
                  <a:ext uri="{FF2B5EF4-FFF2-40B4-BE49-F238E27FC236}">
                    <a16:creationId xmlns:a16="http://schemas.microsoft.com/office/drawing/2014/main" id="{CD6F851C-A89F-48FE-86F5-54C6017DF878}"/>
                  </a:ext>
                </a:extLst>
              </p:cNvPr>
              <p:cNvGrpSpPr/>
              <p:nvPr/>
            </p:nvGrpSpPr>
            <p:grpSpPr>
              <a:xfrm>
                <a:off x="8791837" y="4984787"/>
                <a:ext cx="540001" cy="540000"/>
                <a:chOff x="5101620" y="1637616"/>
                <a:chExt cx="444222" cy="444220"/>
              </a:xfrm>
            </p:grpSpPr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1441F7B0-9D5C-4D34-A947-494B8B0F71D7}"/>
                    </a:ext>
                  </a:extLst>
                </p:cNvPr>
                <p:cNvSpPr/>
                <p:nvPr/>
              </p:nvSpPr>
              <p:spPr>
                <a:xfrm>
                  <a:off x="5101620" y="1637616"/>
                  <a:ext cx="444222" cy="444220"/>
                </a:xfrm>
                <a:prstGeom prst="ellipse">
                  <a:avLst/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60000">
                      <a:schemeClr val="accent6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6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1000" b="1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50" name="Freeform: Shape 349">
                  <a:extLst>
                    <a:ext uri="{FF2B5EF4-FFF2-40B4-BE49-F238E27FC236}">
                      <a16:creationId xmlns:a16="http://schemas.microsoft.com/office/drawing/2014/main" id="{6F03E236-113C-4FA4-9280-A7B6A8DBC0DE}"/>
                    </a:ext>
                  </a:extLst>
                </p:cNvPr>
                <p:cNvSpPr/>
                <p:nvPr/>
              </p:nvSpPr>
              <p:spPr bwMode="auto">
                <a:xfrm>
                  <a:off x="5239304" y="1756946"/>
                  <a:ext cx="168853" cy="205561"/>
                </a:xfrm>
                <a:custGeom>
                  <a:gdLst>
                    <a:gd name="connsiteX0" fmla="*/ 283816 w 438150"/>
                    <a:gd name="connsiteY0" fmla="*/ 621 h 533400"/>
                    <a:gd name="connsiteX1" fmla="*/ 286102 w 438150"/>
                    <a:gd name="connsiteY1" fmla="*/ 716 h 533400"/>
                    <a:gd name="connsiteX2" fmla="*/ 286102 w 438150"/>
                    <a:gd name="connsiteY2" fmla="*/ 124446 h 533400"/>
                    <a:gd name="connsiteX3" fmla="*/ 286197 w 438150"/>
                    <a:gd name="connsiteY3" fmla="*/ 126160 h 533400"/>
                    <a:gd name="connsiteX4" fmla="*/ 314677 w 438150"/>
                    <a:gd name="connsiteY4" fmla="*/ 153021 h 533400"/>
                    <a:gd name="connsiteX5" fmla="*/ 314677 w 438150"/>
                    <a:gd name="connsiteY5" fmla="*/ 153021 h 533400"/>
                    <a:gd name="connsiteX6" fmla="*/ 438407 w 438150"/>
                    <a:gd name="connsiteY6" fmla="*/ 153021 h 533400"/>
                    <a:gd name="connsiteX7" fmla="*/ 438502 w 438150"/>
                    <a:gd name="connsiteY7" fmla="*/ 155307 h 533400"/>
                    <a:gd name="connsiteX8" fmla="*/ 438502 w 438150"/>
                    <a:gd name="connsiteY8" fmla="*/ 505446 h 533400"/>
                    <a:gd name="connsiteX9" fmla="*/ 409927 w 438150"/>
                    <a:gd name="connsiteY9" fmla="*/ 534021 h 533400"/>
                    <a:gd name="connsiteX10" fmla="*/ 28927 w 438150"/>
                    <a:gd name="connsiteY10" fmla="*/ 534021 h 533400"/>
                    <a:gd name="connsiteX11" fmla="*/ 352 w 438150"/>
                    <a:gd name="connsiteY11" fmla="*/ 505446 h 533400"/>
                    <a:gd name="connsiteX12" fmla="*/ 352 w 438150"/>
                    <a:gd name="connsiteY12" fmla="*/ 29196 h 533400"/>
                    <a:gd name="connsiteX13" fmla="*/ 28927 w 438150"/>
                    <a:gd name="connsiteY13" fmla="*/ 621 h 533400"/>
                    <a:gd name="connsiteX14" fmla="*/ 283816 w 438150"/>
                    <a:gd name="connsiteY14" fmla="*/ 621 h 533400"/>
                    <a:gd name="connsiteX15" fmla="*/ 248002 w 438150"/>
                    <a:gd name="connsiteY15" fmla="*/ 200646 h 533400"/>
                    <a:gd name="connsiteX16" fmla="*/ 152752 w 438150"/>
                    <a:gd name="connsiteY16" fmla="*/ 200646 h 533400"/>
                    <a:gd name="connsiteX17" fmla="*/ 152752 w 438150"/>
                    <a:gd name="connsiteY17" fmla="*/ 410196 h 533400"/>
                    <a:gd name="connsiteX18" fmla="*/ 171802 w 438150"/>
                    <a:gd name="connsiteY18" fmla="*/ 410196 h 533400"/>
                    <a:gd name="connsiteX19" fmla="*/ 171802 w 438150"/>
                    <a:gd name="connsiteY19" fmla="*/ 314946 h 533400"/>
                    <a:gd name="connsiteX20" fmla="*/ 248002 w 438150"/>
                    <a:gd name="connsiteY20" fmla="*/ 314946 h 533400"/>
                    <a:gd name="connsiteX21" fmla="*/ 250098 w 438150"/>
                    <a:gd name="connsiteY21" fmla="*/ 314946 h 533400"/>
                    <a:gd name="connsiteX22" fmla="*/ 305152 w 438150"/>
                    <a:gd name="connsiteY22" fmla="*/ 257796 h 533400"/>
                    <a:gd name="connsiteX23" fmla="*/ 248002 w 438150"/>
                    <a:gd name="connsiteY23" fmla="*/ 200646 h 533400"/>
                    <a:gd name="connsiteX24" fmla="*/ 248002 w 438150"/>
                    <a:gd name="connsiteY24" fmla="*/ 200646 h 533400"/>
                    <a:gd name="connsiteX25" fmla="*/ 248002 w 438150"/>
                    <a:gd name="connsiteY25" fmla="*/ 219696 h 533400"/>
                    <a:gd name="connsiteX26" fmla="*/ 286102 w 438150"/>
                    <a:gd name="connsiteY26" fmla="*/ 257796 h 533400"/>
                    <a:gd name="connsiteX27" fmla="*/ 248002 w 438150"/>
                    <a:gd name="connsiteY27" fmla="*/ 295896 h 533400"/>
                    <a:gd name="connsiteX28" fmla="*/ 248002 w 438150"/>
                    <a:gd name="connsiteY28" fmla="*/ 295896 h 533400"/>
                    <a:gd name="connsiteX29" fmla="*/ 171802 w 438150"/>
                    <a:gd name="connsiteY29" fmla="*/ 295896 h 533400"/>
                    <a:gd name="connsiteX30" fmla="*/ 171802 w 438150"/>
                    <a:gd name="connsiteY30" fmla="*/ 219696 h 533400"/>
                    <a:gd name="connsiteX31" fmla="*/ 248002 w 438150"/>
                    <a:gd name="connsiteY31" fmla="*/ 219696 h 533400"/>
                    <a:gd name="connsiteX32" fmla="*/ 428977 w 438150"/>
                    <a:gd name="connsiteY32" fmla="*/ 133971 h 533400"/>
                    <a:gd name="connsiteX33" fmla="*/ 314677 w 438150"/>
                    <a:gd name="connsiteY33" fmla="*/ 133971 h 533400"/>
                    <a:gd name="connsiteX34" fmla="*/ 313534 w 438150"/>
                    <a:gd name="connsiteY34" fmla="*/ 133876 h 533400"/>
                    <a:gd name="connsiteX35" fmla="*/ 305152 w 438150"/>
                    <a:gd name="connsiteY35" fmla="*/ 124446 h 533400"/>
                    <a:gd name="connsiteX36" fmla="*/ 305152 w 438150"/>
                    <a:gd name="connsiteY36" fmla="*/ 124446 h 533400"/>
                    <a:gd name="connsiteX37" fmla="*/ 305152 w 438150"/>
                    <a:gd name="connsiteY37" fmla="*/ 10146 h 533400"/>
                    <a:gd name="connsiteX38" fmla="*/ 428977 w 438150"/>
                    <a:gd name="connsiteY38" fmla="*/ 133971 h 53340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438150" h="533400">
                      <a:moveTo>
                        <a:pt x="283816" y="621"/>
                      </a:moveTo>
                      <a:cubicBezTo>
                        <a:pt x="284578" y="621"/>
                        <a:pt x="285340" y="621"/>
                        <a:pt x="286102" y="716"/>
                      </a:cubicBezTo>
                      <a:lnTo>
                        <a:pt x="286102" y="124446"/>
                      </a:lnTo>
                      <a:lnTo>
                        <a:pt x="286197" y="126160"/>
                      </a:lnTo>
                      <a:cubicBezTo>
                        <a:pt x="287055" y="141115"/>
                        <a:pt x="299532" y="153021"/>
                        <a:pt x="314677" y="153021"/>
                      </a:cubicBezTo>
                      <a:lnTo>
                        <a:pt x="314677" y="153021"/>
                      </a:lnTo>
                      <a:lnTo>
                        <a:pt x="438407" y="153021"/>
                      </a:lnTo>
                      <a:cubicBezTo>
                        <a:pt x="438502" y="153783"/>
                        <a:pt x="438502" y="154545"/>
                        <a:pt x="438502" y="155307"/>
                      </a:cubicBezTo>
                      <a:lnTo>
                        <a:pt x="438502" y="505446"/>
                      </a:lnTo>
                      <a:cubicBezTo>
                        <a:pt x="438502" y="521257"/>
                        <a:pt x="425739" y="534021"/>
                        <a:pt x="409927" y="534021"/>
                      </a:cubicBezTo>
                      <a:lnTo>
                        <a:pt x="28927" y="534021"/>
                      </a:lnTo>
                      <a:cubicBezTo>
                        <a:pt x="13115" y="534021"/>
                        <a:pt x="352" y="521257"/>
                        <a:pt x="352" y="505446"/>
                      </a:cubicBezTo>
                      <a:lnTo>
                        <a:pt x="352" y="29196"/>
                      </a:lnTo>
                      <a:cubicBezTo>
                        <a:pt x="352" y="13385"/>
                        <a:pt x="13115" y="621"/>
                        <a:pt x="28927" y="621"/>
                      </a:cubicBezTo>
                      <a:lnTo>
                        <a:pt x="283816" y="621"/>
                      </a:lnTo>
                      <a:close/>
                      <a:moveTo>
                        <a:pt x="248002" y="200646"/>
                      </a:moveTo>
                      <a:lnTo>
                        <a:pt x="152752" y="200646"/>
                      </a:lnTo>
                      <a:lnTo>
                        <a:pt x="152752" y="410196"/>
                      </a:lnTo>
                      <a:lnTo>
                        <a:pt x="171802" y="410196"/>
                      </a:lnTo>
                      <a:lnTo>
                        <a:pt x="171802" y="314946"/>
                      </a:lnTo>
                      <a:lnTo>
                        <a:pt x="248002" y="314946"/>
                      </a:lnTo>
                      <a:lnTo>
                        <a:pt x="250098" y="314946"/>
                      </a:lnTo>
                      <a:cubicBezTo>
                        <a:pt x="280673" y="313803"/>
                        <a:pt x="305152" y="288657"/>
                        <a:pt x="305152" y="257796"/>
                      </a:cubicBezTo>
                      <a:cubicBezTo>
                        <a:pt x="305152" y="226268"/>
                        <a:pt x="279530" y="200646"/>
                        <a:pt x="248002" y="200646"/>
                      </a:cubicBezTo>
                      <a:lnTo>
                        <a:pt x="248002" y="200646"/>
                      </a:lnTo>
                      <a:close/>
                      <a:moveTo>
                        <a:pt x="248002" y="219696"/>
                      </a:moveTo>
                      <a:cubicBezTo>
                        <a:pt x="269052" y="219696"/>
                        <a:pt x="286102" y="236746"/>
                        <a:pt x="286102" y="257796"/>
                      </a:cubicBezTo>
                      <a:cubicBezTo>
                        <a:pt x="286102" y="278846"/>
                        <a:pt x="269052" y="295896"/>
                        <a:pt x="248002" y="295896"/>
                      </a:cubicBezTo>
                      <a:lnTo>
                        <a:pt x="248002" y="295896"/>
                      </a:lnTo>
                      <a:lnTo>
                        <a:pt x="171802" y="295896"/>
                      </a:lnTo>
                      <a:lnTo>
                        <a:pt x="171802" y="219696"/>
                      </a:lnTo>
                      <a:lnTo>
                        <a:pt x="248002" y="219696"/>
                      </a:lnTo>
                      <a:close/>
                      <a:moveTo>
                        <a:pt x="428977" y="133971"/>
                      </a:moveTo>
                      <a:lnTo>
                        <a:pt x="314677" y="133971"/>
                      </a:lnTo>
                      <a:lnTo>
                        <a:pt x="313534" y="133876"/>
                      </a:lnTo>
                      <a:cubicBezTo>
                        <a:pt x="308772" y="133304"/>
                        <a:pt x="305152" y="129304"/>
                        <a:pt x="305152" y="124446"/>
                      </a:cubicBezTo>
                      <a:lnTo>
                        <a:pt x="305152" y="124446"/>
                      </a:lnTo>
                      <a:lnTo>
                        <a:pt x="305152" y="10146"/>
                      </a:lnTo>
                      <a:lnTo>
                        <a:pt x="428977" y="1339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341" name="Group 340">
              <a:extLst>
                <a:ext uri="{FF2B5EF4-FFF2-40B4-BE49-F238E27FC236}">
                  <a16:creationId xmlns:a16="http://schemas.microsoft.com/office/drawing/2014/main" id="{A0F02ACD-029E-4263-9662-4A9569E09DC2}"/>
                </a:ext>
              </a:extLst>
            </p:cNvPr>
            <p:cNvGrpSpPr/>
            <p:nvPr/>
          </p:nvGrpSpPr>
          <p:grpSpPr>
            <a:xfrm>
              <a:off x="4614539" y="4359444"/>
              <a:ext cx="797835" cy="797834"/>
              <a:chOff x="4660146" y="2725685"/>
              <a:chExt cx="900002" cy="900000"/>
            </a:xfrm>
          </p:grpSpPr>
          <p:sp>
            <p:nvSpPr>
              <p:cNvPr id="342" name="Oval 341">
                <a:extLst>
                  <a:ext uri="{FF2B5EF4-FFF2-40B4-BE49-F238E27FC236}">
                    <a16:creationId xmlns:a16="http://schemas.microsoft.com/office/drawing/2014/main" id="{43BEC7F4-4853-4513-A890-2F4783EED88C}"/>
                  </a:ext>
                </a:extLst>
              </p:cNvPr>
              <p:cNvSpPr/>
              <p:nvPr/>
            </p:nvSpPr>
            <p:spPr>
              <a:xfrm>
                <a:off x="4660146" y="2725685"/>
                <a:ext cx="900002" cy="900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grpSp>
            <p:nvGrpSpPr>
              <p:cNvPr id="343" name="Group 342">
                <a:extLst>
                  <a:ext uri="{FF2B5EF4-FFF2-40B4-BE49-F238E27FC236}">
                    <a16:creationId xmlns:a16="http://schemas.microsoft.com/office/drawing/2014/main" id="{BEDCB6B1-A049-49CA-A20B-C738228FD781}"/>
                  </a:ext>
                </a:extLst>
              </p:cNvPr>
              <p:cNvGrpSpPr/>
              <p:nvPr/>
            </p:nvGrpSpPr>
            <p:grpSpPr>
              <a:xfrm>
                <a:off x="4840149" y="2905685"/>
                <a:ext cx="540001" cy="540000"/>
                <a:chOff x="1889611" y="1637620"/>
                <a:chExt cx="444222" cy="444221"/>
              </a:xfrm>
            </p:grpSpPr>
            <p:sp>
              <p:nvSpPr>
                <p:cNvPr id="344" name="Oval 343">
                  <a:extLst>
                    <a:ext uri="{FF2B5EF4-FFF2-40B4-BE49-F238E27FC236}">
                      <a16:creationId xmlns:a16="http://schemas.microsoft.com/office/drawing/2014/main" id="{A33D2826-FB8E-40B7-8485-F74D14FEC4D0}"/>
                    </a:ext>
                  </a:extLst>
                </p:cNvPr>
                <p:cNvSpPr/>
                <p:nvPr/>
              </p:nvSpPr>
              <p:spPr>
                <a:xfrm>
                  <a:off x="1889611" y="1637620"/>
                  <a:ext cx="444222" cy="444221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3765"/>
                  <a:endParaRPr lang="zh-CN" altLang="en-US" sz="1000" b="1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5" name="Freeform: Shape 344">
                  <a:extLst>
                    <a:ext uri="{FF2B5EF4-FFF2-40B4-BE49-F238E27FC236}">
                      <a16:creationId xmlns:a16="http://schemas.microsoft.com/office/drawing/2014/main" id="{631BB572-C8DF-4C21-BF8A-253FBEBD6555}"/>
                    </a:ext>
                  </a:extLst>
                </p:cNvPr>
                <p:cNvSpPr/>
                <p:nvPr/>
              </p:nvSpPr>
              <p:spPr bwMode="auto">
                <a:xfrm>
                  <a:off x="2008941" y="1774160"/>
                  <a:ext cx="205561" cy="171132"/>
                </a:xfrm>
                <a:custGeom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348F4A2-DE39-41AE-AD22-86BBB6CE3482}"/>
                </a:ext>
              </a:extLst>
            </p:cNvPr>
            <p:cNvSpPr/>
            <p:nvPr/>
          </p:nvSpPr>
          <p:spPr bwMode="auto">
            <a:xfrm rot="16200000">
              <a:off x="5223234" y="2231327"/>
              <a:ext cx="2276862" cy="2842079"/>
            </a:xfrm>
            <a:custGeom>
              <a:gdLst>
                <a:gd name="T0" fmla="*/ 0 w 1018"/>
                <a:gd name="T1" fmla="*/ 1117 h 1272"/>
                <a:gd name="T2" fmla="*/ 0 w 1018"/>
                <a:gd name="T3" fmla="*/ 155 h 1272"/>
                <a:gd name="T4" fmla="*/ 188 w 1018"/>
                <a:gd name="T5" fmla="*/ 52 h 1272"/>
                <a:gd name="T6" fmla="*/ 943 w 1018"/>
                <a:gd name="T7" fmla="*/ 533 h 1272"/>
                <a:gd name="T8" fmla="*/ 943 w 1018"/>
                <a:gd name="T9" fmla="*/ 739 h 1272"/>
                <a:gd name="T10" fmla="*/ 188 w 1018"/>
                <a:gd name="T11" fmla="*/ 1220 h 1272"/>
                <a:gd name="T12" fmla="*/ 0 w 1018"/>
                <a:gd name="T13" fmla="*/ 1117 h 1272"/>
              </a:gdLst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8" h="1272">
                  <a:moveTo>
                    <a:pt x="0" y="1117"/>
                  </a:moveTo>
                  <a:cubicBezTo>
                    <a:pt x="0" y="155"/>
                    <a:pt x="0" y="155"/>
                    <a:pt x="0" y="155"/>
                  </a:cubicBezTo>
                  <a:cubicBezTo>
                    <a:pt x="0" y="58"/>
                    <a:pt x="107" y="0"/>
                    <a:pt x="188" y="52"/>
                  </a:cubicBezTo>
                  <a:cubicBezTo>
                    <a:pt x="943" y="533"/>
                    <a:pt x="943" y="533"/>
                    <a:pt x="943" y="533"/>
                  </a:cubicBezTo>
                  <a:cubicBezTo>
                    <a:pt x="1018" y="581"/>
                    <a:pt x="1018" y="691"/>
                    <a:pt x="943" y="739"/>
                  </a:cubicBezTo>
                  <a:cubicBezTo>
                    <a:pt x="188" y="1220"/>
                    <a:pt x="188" y="1220"/>
                    <a:pt x="188" y="1220"/>
                  </a:cubicBezTo>
                  <a:cubicBezTo>
                    <a:pt x="107" y="1272"/>
                    <a:pt x="0" y="1213"/>
                    <a:pt x="0" y="1117"/>
                  </a:cubicBezTo>
                  <a:close/>
                </a:path>
              </a:pathLst>
            </a:custGeom>
            <a:ln w="254000">
              <a:solidFill>
                <a:schemeClr val="tx1">
                  <a:lumMod val="95000"/>
                  <a:lumOff val="5000"/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endParaRPr lang="zh-CN" altLang="en-US" sz="2000" b="1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16CA33F-E0DC-461E-9201-B0F97D9321D2}"/>
                </a:ext>
              </a:extLst>
            </p:cNvPr>
            <p:cNvSpPr txBox="1"/>
            <p:nvPr/>
          </p:nvSpPr>
          <p:spPr>
            <a:xfrm>
              <a:off x="7070526" y="2141163"/>
              <a:ext cx="2109873" cy="276999"/>
            </a:xfrm>
            <a:prstGeom prst="rect">
              <a:avLst/>
            </a:prstGeom>
            <a:noFill/>
          </p:spPr>
          <p:txBody>
            <a:bodyPr wrap="none" rtlCol="0" anchor="b">
              <a:normAutofit fontScale="92500" lnSpcReduction="20000"/>
            </a:bodyPr>
            <a:lstStyle>
              <a:defPPr>
                <a:defRPr lang="zh-CN"/>
              </a:defPPr>
              <a:lvl1pPr>
                <a:defRPr sz="1200" b="1">
                  <a:solidFill>
                    <a:schemeClr val="accent1"/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>
                  <a:solidFill>
                    <a:schemeClr val="accent4"/>
                  </a:solidFill>
                </a:rPr>
                <a:t>公司培训课程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32D087E-D214-4381-BCD8-2EF1A2D0CFC6}"/>
                </a:ext>
              </a:extLst>
            </p:cNvPr>
            <p:cNvSpPr txBox="1"/>
            <p:nvPr/>
          </p:nvSpPr>
          <p:spPr>
            <a:xfrm>
              <a:off x="7070526" y="2391822"/>
              <a:ext cx="2938876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0" sz="1050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/>
                <a:t>学习新技能和知识，提高工作效率</a:t>
              </a:r>
              <a:endParaRPr lang="en-US" sz="9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6F82A7F-3459-46D7-A16B-F5A74507217C}"/>
                </a:ext>
              </a:extLst>
            </p:cNvPr>
            <p:cNvSpPr txBox="1"/>
            <p:nvPr/>
          </p:nvSpPr>
          <p:spPr>
            <a:xfrm>
              <a:off x="8446661" y="4389150"/>
              <a:ext cx="2109873" cy="276999"/>
            </a:xfrm>
            <a:prstGeom prst="rect">
              <a:avLst/>
            </a:prstGeom>
            <a:noFill/>
          </p:spPr>
          <p:txBody>
            <a:bodyPr wrap="none" rtlCol="0" anchor="b">
              <a:normAutofit fontScale="92500" lnSpcReduction="20000"/>
            </a:bodyPr>
            <a:lstStyle>
              <a:defPPr>
                <a:defRPr lang="zh-CN"/>
              </a:defPPr>
              <a:lvl1pPr>
                <a:defRPr sz="1200" b="1">
                  <a:solidFill>
                    <a:schemeClr val="accent1"/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>
                  <a:solidFill>
                    <a:schemeClr val="accent6"/>
                  </a:solidFill>
                </a:rPr>
                <a:t>阅读专业书籍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E7FC800-B240-494F-A0A0-65D368EE495A}"/>
                </a:ext>
              </a:extLst>
            </p:cNvPr>
            <p:cNvSpPr txBox="1"/>
            <p:nvPr/>
          </p:nvSpPr>
          <p:spPr>
            <a:xfrm>
              <a:off x="8446661" y="4639809"/>
              <a:ext cx="2938876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0" sz="1050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/>
                <a:t>了解新的工作方法和技巧，提高工作效率</a:t>
              </a:r>
              <a:endParaRPr lang="en-US" sz="9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BA905B3-7B0C-47A9-8FC1-2CA38828943A}"/>
                </a:ext>
              </a:extLst>
            </p:cNvPr>
            <p:cNvSpPr txBox="1"/>
            <p:nvPr/>
          </p:nvSpPr>
          <p:spPr>
            <a:xfrm>
              <a:off x="2279708" y="4389150"/>
              <a:ext cx="2109873" cy="276999"/>
            </a:xfrm>
            <a:prstGeom prst="rect">
              <a:avLst/>
            </a:prstGeom>
            <a:noFill/>
          </p:spPr>
          <p:txBody>
            <a:bodyPr wrap="none" rtlCol="0" anchor="b">
              <a:normAutofit fontScale="92500" lnSpcReduction="20000"/>
            </a:bodyPr>
            <a:lstStyle>
              <a:defPPr>
                <a:defRPr lang="zh-CN"/>
              </a:defPPr>
              <a:lvl1pPr>
                <a:defRPr sz="1200" b="1">
                  <a:solidFill>
                    <a:schemeClr val="accent1"/>
                  </a:solidFill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lang="zh-CN" altLang="en-US" sz="1600">
                  <a:solidFill>
                    <a:schemeClr val="accent2"/>
                  </a:solidFill>
                </a:rPr>
                <a:t>学习新软件功能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C5B1E19-47BC-473C-ACD1-11879668D6B2}"/>
                </a:ext>
              </a:extLst>
            </p:cNvPr>
            <p:cNvSpPr txBox="1"/>
            <p:nvPr/>
          </p:nvSpPr>
          <p:spPr>
            <a:xfrm>
              <a:off x="1450705" y="4639809"/>
              <a:ext cx="2938876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0" sz="1050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 algn="r">
                <a:lnSpc>
                  <a:spcPct val="120000"/>
                </a:lnSpc>
              </a:pPr>
              <a:r>
                <a:rPr lang="zh-CN" altLang="en-US" sz="1200"/>
                <a:t>提升工作效率：学习和应用新功能</a:t>
              </a:r>
              <a:endParaRPr lang="en-US" sz="900"/>
            </a:p>
          </p:txBody>
        </p:sp>
      </p:grpSp>
      <p:sp>
        <p:nvSpPr>
          <p:cNvPr id="352" name="Title 35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技巧的持续学习</a:t>
            </a:r>
          </a:p>
        </p:txBody>
      </p:sp>
    </p:spTree>
    <p:custDataLst>
      <p:tags r:id="rId2"/>
    </p:custDataLst>
    <p:extLst>
      <p:ext uri="{BB962C8B-B14F-4D97-AF65-F5344CB8AC3E}">
        <p14:creationId val="3162337767"/>
      </p:ext>
    </p:extLst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4" name="Group 3"/>
          <p:cNvGrpSpPr/>
          <p:nvPr/>
        </p:nvGrpSpPr>
        <p:grpSpPr>
          <a:xfrm>
            <a:off x="578369" y="1045603"/>
            <a:ext cx="11243151" cy="4237790"/>
            <a:chOff x="578369" y="1045603"/>
            <a:chExt cx="11243151" cy="423779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9B2263F-89ED-408A-A1F5-909FE8A0CEE3}"/>
                </a:ext>
              </a:extLst>
            </p:cNvPr>
            <p:cNvSpPr/>
            <p:nvPr/>
          </p:nvSpPr>
          <p:spPr>
            <a:xfrm>
              <a:off x="4375151" y="2895600"/>
              <a:ext cx="3429000" cy="2387793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DE021D0-0B8B-40A9-B0D6-2466313A260B}"/>
                </a:ext>
              </a:extLst>
            </p:cNvPr>
            <p:cNvSpPr/>
            <p:nvPr/>
          </p:nvSpPr>
          <p:spPr>
            <a:xfrm>
              <a:off x="8089902" y="2895600"/>
              <a:ext cx="3429000" cy="2387793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D975241-1F2B-4F4F-A404-11E3794527C9}"/>
                </a:ext>
              </a:extLst>
            </p:cNvPr>
            <p:cNvSpPr txBox="1"/>
            <p:nvPr/>
          </p:nvSpPr>
          <p:spPr>
            <a:xfrm>
              <a:off x="578369" y="1045603"/>
              <a:ext cx="467354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solidFill>
                    <a:schemeClr val="tx1"/>
                  </a:solidFill>
                </a:rPr>
                <a:t>保证工作质量和准确性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A5706DF-9032-4781-9192-326C6F24FDDA}"/>
                </a:ext>
              </a:extLst>
            </p:cNvPr>
            <p:cNvSpPr txBox="1"/>
            <p:nvPr/>
          </p:nvSpPr>
          <p:spPr>
            <a:xfrm>
              <a:off x="6687069" y="1127900"/>
              <a:ext cx="5134451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lvl="0" defTabSz="913765">
                <a:lnSpc>
                  <a:spcPct val="150000"/>
                </a:lnSpc>
                <a:buSzPct val="25000"/>
                <a:defRPr sz="105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>
                  <a:solidFill>
                    <a:schemeClr val="tx1">
                      <a:lumMod val="95000"/>
                      <a:lumOff val="5000"/>
                      <a:alpha val="80000"/>
                    </a:schemeClr>
                  </a:solidFill>
                </a:rPr>
                <a:t>提高工作质量的办公技巧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EFF2773-74EF-40D2-9159-979FCC0DDA06}"/>
                </a:ext>
              </a:extLst>
            </p:cNvPr>
            <p:cNvGrpSpPr/>
            <p:nvPr/>
          </p:nvGrpSpPr>
          <p:grpSpPr>
            <a:xfrm>
              <a:off x="660400" y="2895600"/>
              <a:ext cx="3565141" cy="2387793"/>
              <a:chOff x="749300" y="3151365"/>
              <a:chExt cx="3565141" cy="2387793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B2D0906-DE0D-4A6D-9168-DE86B6EF6D32}"/>
                  </a:ext>
                </a:extLst>
              </p:cNvPr>
              <p:cNvSpPr/>
              <p:nvPr/>
            </p:nvSpPr>
            <p:spPr>
              <a:xfrm>
                <a:off x="749300" y="3151365"/>
                <a:ext cx="3429000" cy="2387793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  <a:alpha val="5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413372F-F57C-4432-9438-9CF66CDACE2F}"/>
                  </a:ext>
                </a:extLst>
              </p:cNvPr>
              <p:cNvSpPr txBox="1"/>
              <p:nvPr/>
            </p:nvSpPr>
            <p:spPr>
              <a:xfrm>
                <a:off x="1396411" y="3852902"/>
                <a:ext cx="2901187" cy="516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lvl="0" defTabSz="913765">
                  <a:lnSpc>
                    <a:spcPct val="150000"/>
                  </a:lnSpc>
                  <a:buSzPct val="25000"/>
                  <a:defRPr sz="1050">
                    <a:solidFill>
                      <a:schemeClr val="tx1">
                        <a:lumMod val="95000"/>
                        <a:lumOff val="5000"/>
                      </a:schemeClr>
                    </a:solidFill>
                  </a:defRPr>
                </a:lvl1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200">
                    <a:solidFill>
                      <a:schemeClr val="tx1"/>
                    </a:solidFill>
                  </a:rPr>
                  <a:t>培养细致入微的工作习惯，确保每项任务的准确性和高质量完成</a:t>
                </a: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79AB5100-328C-4388-B328-3303AA1BA78C}"/>
                  </a:ext>
                </a:extLst>
              </p:cNvPr>
              <p:cNvSpPr/>
              <p:nvPr/>
            </p:nvSpPr>
            <p:spPr bwMode="auto">
              <a:xfrm>
                <a:off x="950230" y="3428707"/>
                <a:ext cx="361835" cy="329527"/>
              </a:xfrm>
              <a:custGeom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86396 h 485775"/>
                  <a:gd name="connsiteX10" fmla="*/ 1504 w 533400"/>
                  <a:gd name="connsiteY10" fmla="*/ 486396 h 485775"/>
                  <a:gd name="connsiteX11" fmla="*/ 1504 w 533400"/>
                  <a:gd name="connsiteY11" fmla="*/ 229221 h 485775"/>
                  <a:gd name="connsiteX12" fmla="*/ 125329 w 533400"/>
                  <a:gd name="connsiteY12" fmla="*/ 229221 h 485775"/>
                  <a:gd name="connsiteX13" fmla="*/ 411079 w 533400"/>
                  <a:gd name="connsiteY13" fmla="*/ 621 h 485775"/>
                  <a:gd name="connsiteX14" fmla="*/ 411079 w 533400"/>
                  <a:gd name="connsiteY14" fmla="*/ 114921 h 485775"/>
                  <a:gd name="connsiteX15" fmla="*/ 534904 w 533400"/>
                  <a:gd name="connsiteY15" fmla="*/ 114921 h 485775"/>
                  <a:gd name="connsiteX16" fmla="*/ 534904 w 533400"/>
                  <a:gd name="connsiteY16" fmla="*/ 210171 h 485775"/>
                  <a:gd name="connsiteX17" fmla="*/ 1504 w 533400"/>
                  <a:gd name="connsiteY17" fmla="*/ 210171 h 485775"/>
                  <a:gd name="connsiteX18" fmla="*/ 1504 w 533400"/>
                  <a:gd name="connsiteY18" fmla="*/ 114921 h 485775"/>
                  <a:gd name="connsiteX19" fmla="*/ 125329 w 533400"/>
                  <a:gd name="connsiteY19" fmla="*/ 114921 h 485775"/>
                  <a:gd name="connsiteX20" fmla="*/ 125329 w 533400"/>
                  <a:gd name="connsiteY20" fmla="*/ 621 h 485775"/>
                  <a:gd name="connsiteX21" fmla="*/ 411079 w 533400"/>
                  <a:gd name="connsiteY21" fmla="*/ 621 h 485775"/>
                  <a:gd name="connsiteX22" fmla="*/ 392029 w 533400"/>
                  <a:gd name="connsiteY22" fmla="*/ 19671 h 485775"/>
                  <a:gd name="connsiteX23" fmla="*/ 144379 w 533400"/>
                  <a:gd name="connsiteY23" fmla="*/ 19671 h 485775"/>
                  <a:gd name="connsiteX24" fmla="*/ 144379 w 533400"/>
                  <a:gd name="connsiteY24" fmla="*/ 114921 h 485775"/>
                  <a:gd name="connsiteX25" fmla="*/ 392029 w 533400"/>
                  <a:gd name="connsiteY25" fmla="*/ 114921 h 485775"/>
                  <a:gd name="connsiteX26" fmla="*/ 392029 w 533400"/>
                  <a:gd name="connsiteY26" fmla="*/ 19671 h 48577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86396"/>
                    </a:lnTo>
                    <a:lnTo>
                      <a:pt x="1504" y="486396"/>
                    </a:ln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411079" y="621"/>
                    </a:moveTo>
                    <a:lnTo>
                      <a:pt x="411079" y="114921"/>
                    </a:lnTo>
                    <a:lnTo>
                      <a:pt x="534904" y="114921"/>
                    </a:ln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14921"/>
                    </a:lnTo>
                    <a:lnTo>
                      <a:pt x="125329" y="114921"/>
                    </a:lnTo>
                    <a:lnTo>
                      <a:pt x="125329" y="621"/>
                    </a:lnTo>
                    <a:lnTo>
                      <a:pt x="411079" y="621"/>
                    </a:lnTo>
                    <a:close/>
                    <a:moveTo>
                      <a:pt x="392029" y="19671"/>
                    </a:moveTo>
                    <a:lnTo>
                      <a:pt x="144379" y="1967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19671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 lang="zh-CN" altLang="en-US" sz="1600">
                  <a:solidFill>
                    <a:schemeClr val="lt1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80520C-D207-48F5-A30E-BC8065F933A7}"/>
                  </a:ext>
                </a:extLst>
              </p:cNvPr>
              <p:cNvSpPr txBox="1"/>
              <p:nvPr/>
            </p:nvSpPr>
            <p:spPr>
              <a:xfrm>
                <a:off x="1379569" y="3369767"/>
                <a:ext cx="2934872" cy="37555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kumimoji="0" sz="1200" b="1" i="0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</a:defRPr>
                </a:lvl1pPr>
              </a:lstStyle>
              <a:p>
                <a:pPr>
                  <a:lnSpc>
                    <a:spcPct val="100000"/>
                  </a:lnSpc>
                </a:pPr>
                <a:r>
                  <a:rPr lang="zh-CN" altLang="en-US" sz="1600"/>
                  <a:t>重视细节和准确性</a:t>
                </a:r>
              </a:p>
            </p:txBody>
          </p:sp>
        </p:grp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5FE14DB-7F80-4E6C-8496-97A18583D5CF}"/>
                </a:ext>
              </a:extLst>
            </p:cNvPr>
            <p:cNvSpPr/>
            <p:nvPr/>
          </p:nvSpPr>
          <p:spPr bwMode="auto">
            <a:xfrm>
              <a:off x="4553569" y="3199242"/>
              <a:ext cx="384347" cy="315712"/>
            </a:xfrm>
            <a:custGeom>
              <a:gdLst>
                <a:gd name="connsiteX0" fmla="*/ 96626 w 533400"/>
                <a:gd name="connsiteY0" fmla="*/ 133971 h 438150"/>
                <a:gd name="connsiteX1" fmla="*/ 125201 w 533400"/>
                <a:gd name="connsiteY1" fmla="*/ 286371 h 438150"/>
                <a:gd name="connsiteX2" fmla="*/ 410951 w 533400"/>
                <a:gd name="connsiteY2" fmla="*/ 286371 h 438150"/>
                <a:gd name="connsiteX3" fmla="*/ 439526 w 533400"/>
                <a:gd name="connsiteY3" fmla="*/ 133971 h 438150"/>
                <a:gd name="connsiteX4" fmla="*/ 534776 w 533400"/>
                <a:gd name="connsiteY4" fmla="*/ 133971 h 438150"/>
                <a:gd name="connsiteX5" fmla="*/ 515726 w 533400"/>
                <a:gd name="connsiteY5" fmla="*/ 381621 h 438150"/>
                <a:gd name="connsiteX6" fmla="*/ 458576 w 533400"/>
                <a:gd name="connsiteY6" fmla="*/ 381621 h 438150"/>
                <a:gd name="connsiteX7" fmla="*/ 458576 w 533400"/>
                <a:gd name="connsiteY7" fmla="*/ 438771 h 438150"/>
                <a:gd name="connsiteX8" fmla="*/ 439526 w 533400"/>
                <a:gd name="connsiteY8" fmla="*/ 438771 h 438150"/>
                <a:gd name="connsiteX9" fmla="*/ 439526 w 533400"/>
                <a:gd name="connsiteY9" fmla="*/ 381621 h 438150"/>
                <a:gd name="connsiteX10" fmla="*/ 96626 w 533400"/>
                <a:gd name="connsiteY10" fmla="*/ 381621 h 438150"/>
                <a:gd name="connsiteX11" fmla="*/ 96626 w 533400"/>
                <a:gd name="connsiteY11" fmla="*/ 438771 h 438150"/>
                <a:gd name="connsiteX12" fmla="*/ 77576 w 533400"/>
                <a:gd name="connsiteY12" fmla="*/ 438771 h 438150"/>
                <a:gd name="connsiteX13" fmla="*/ 77576 w 533400"/>
                <a:gd name="connsiteY13" fmla="*/ 381621 h 438150"/>
                <a:gd name="connsiteX14" fmla="*/ 20426 w 533400"/>
                <a:gd name="connsiteY14" fmla="*/ 381621 h 438150"/>
                <a:gd name="connsiteX15" fmla="*/ 1376 w 533400"/>
                <a:gd name="connsiteY15" fmla="*/ 133971 h 438150"/>
                <a:gd name="connsiteX16" fmla="*/ 96626 w 533400"/>
                <a:gd name="connsiteY16" fmla="*/ 133971 h 438150"/>
                <a:gd name="connsiteX17" fmla="*/ 487151 w 533400"/>
                <a:gd name="connsiteY17" fmla="*/ 621 h 438150"/>
                <a:gd name="connsiteX18" fmla="*/ 487151 w 533400"/>
                <a:gd name="connsiteY18" fmla="*/ 114921 h 438150"/>
                <a:gd name="connsiteX19" fmla="*/ 425239 w 533400"/>
                <a:gd name="connsiteY19" fmla="*/ 114921 h 438150"/>
                <a:gd name="connsiteX20" fmla="*/ 396664 w 533400"/>
                <a:gd name="connsiteY20" fmla="*/ 267321 h 438150"/>
                <a:gd name="connsiteX21" fmla="*/ 139489 w 533400"/>
                <a:gd name="connsiteY21" fmla="*/ 267321 h 438150"/>
                <a:gd name="connsiteX22" fmla="*/ 110914 w 533400"/>
                <a:gd name="connsiteY22" fmla="*/ 114921 h 438150"/>
                <a:gd name="connsiteX23" fmla="*/ 58526 w 533400"/>
                <a:gd name="connsiteY23" fmla="*/ 114921 h 438150"/>
                <a:gd name="connsiteX24" fmla="*/ 58526 w 533400"/>
                <a:gd name="connsiteY24" fmla="*/ 621 h 438150"/>
                <a:gd name="connsiteX25" fmla="*/ 487151 w 533400"/>
                <a:gd name="connsiteY25" fmla="*/ 621 h 43815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33400" h="438150">
                  <a:moveTo>
                    <a:pt x="96626" y="133971"/>
                  </a:moveTo>
                  <a:lnTo>
                    <a:pt x="125201" y="286371"/>
                  </a:lnTo>
                  <a:lnTo>
                    <a:pt x="410951" y="286371"/>
                  </a:lnTo>
                  <a:lnTo>
                    <a:pt x="439526" y="133971"/>
                  </a:lnTo>
                  <a:lnTo>
                    <a:pt x="534776" y="133971"/>
                  </a:lnTo>
                  <a:lnTo>
                    <a:pt x="515726" y="381621"/>
                  </a:lnTo>
                  <a:lnTo>
                    <a:pt x="458576" y="381621"/>
                  </a:lnTo>
                  <a:lnTo>
                    <a:pt x="458576" y="438771"/>
                  </a:lnTo>
                  <a:lnTo>
                    <a:pt x="439526" y="438771"/>
                  </a:lnTo>
                  <a:lnTo>
                    <a:pt x="439526" y="381621"/>
                  </a:lnTo>
                  <a:lnTo>
                    <a:pt x="96626" y="381621"/>
                  </a:lnTo>
                  <a:lnTo>
                    <a:pt x="96626" y="438771"/>
                  </a:lnTo>
                  <a:lnTo>
                    <a:pt x="77576" y="438771"/>
                  </a:lnTo>
                  <a:lnTo>
                    <a:pt x="77576" y="381621"/>
                  </a:lnTo>
                  <a:lnTo>
                    <a:pt x="20426" y="381621"/>
                  </a:lnTo>
                  <a:lnTo>
                    <a:pt x="1376" y="133971"/>
                  </a:lnTo>
                  <a:lnTo>
                    <a:pt x="96626" y="133971"/>
                  </a:lnTo>
                  <a:close/>
                  <a:moveTo>
                    <a:pt x="487151" y="621"/>
                  </a:moveTo>
                  <a:lnTo>
                    <a:pt x="487151" y="114921"/>
                  </a:lnTo>
                  <a:lnTo>
                    <a:pt x="425239" y="114921"/>
                  </a:lnTo>
                  <a:lnTo>
                    <a:pt x="396664" y="267321"/>
                  </a:lnTo>
                  <a:lnTo>
                    <a:pt x="139489" y="267321"/>
                  </a:lnTo>
                  <a:lnTo>
                    <a:pt x="110914" y="114921"/>
                  </a:lnTo>
                  <a:lnTo>
                    <a:pt x="58526" y="114921"/>
                  </a:lnTo>
                  <a:lnTo>
                    <a:pt x="58526" y="621"/>
                  </a:lnTo>
                  <a:lnTo>
                    <a:pt x="487151" y="6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E8E400F-B8D6-433C-905C-A9F6C9B7664B}"/>
                </a:ext>
              </a:extLst>
            </p:cNvPr>
            <p:cNvSpPr/>
            <p:nvPr/>
          </p:nvSpPr>
          <p:spPr bwMode="auto">
            <a:xfrm>
              <a:off x="8290832" y="3220112"/>
              <a:ext cx="356022" cy="283499"/>
            </a:xfrm>
            <a:custGeom>
              <a:gdLst>
                <a:gd name="connsiteX0" fmla="*/ 515342 w 514350"/>
                <a:gd name="connsiteY0" fmla="*/ 621 h 409575"/>
                <a:gd name="connsiteX1" fmla="*/ 515342 w 514350"/>
                <a:gd name="connsiteY1" fmla="*/ 353046 h 409575"/>
                <a:gd name="connsiteX2" fmla="*/ 192159 w 514350"/>
                <a:gd name="connsiteY2" fmla="*/ 353046 h 409575"/>
                <a:gd name="connsiteX3" fmla="*/ 115387 w 514350"/>
                <a:gd name="connsiteY3" fmla="*/ 410196 h 409575"/>
                <a:gd name="connsiteX4" fmla="*/ 115387 w 514350"/>
                <a:gd name="connsiteY4" fmla="*/ 353046 h 409575"/>
                <a:gd name="connsiteX5" fmla="*/ 992 w 514350"/>
                <a:gd name="connsiteY5" fmla="*/ 353046 h 409575"/>
                <a:gd name="connsiteX6" fmla="*/ 992 w 514350"/>
                <a:gd name="connsiteY6" fmla="*/ 621 h 409575"/>
                <a:gd name="connsiteX7" fmla="*/ 515342 w 514350"/>
                <a:gd name="connsiteY7" fmla="*/ 621 h 409575"/>
                <a:gd name="connsiteX8" fmla="*/ 124817 w 514350"/>
                <a:gd name="connsiteY8" fmla="*/ 143496 h 409575"/>
                <a:gd name="connsiteX9" fmla="*/ 91480 w 514350"/>
                <a:gd name="connsiteY9" fmla="*/ 176834 h 409575"/>
                <a:gd name="connsiteX10" fmla="*/ 124817 w 514350"/>
                <a:gd name="connsiteY10" fmla="*/ 210171 h 409575"/>
                <a:gd name="connsiteX11" fmla="*/ 158155 w 514350"/>
                <a:gd name="connsiteY11" fmla="*/ 176834 h 409575"/>
                <a:gd name="connsiteX12" fmla="*/ 124817 w 514350"/>
                <a:gd name="connsiteY12" fmla="*/ 143496 h 409575"/>
                <a:gd name="connsiteX13" fmla="*/ 258167 w 514350"/>
                <a:gd name="connsiteY13" fmla="*/ 143496 h 409575"/>
                <a:gd name="connsiteX14" fmla="*/ 224830 w 514350"/>
                <a:gd name="connsiteY14" fmla="*/ 176834 h 409575"/>
                <a:gd name="connsiteX15" fmla="*/ 258167 w 514350"/>
                <a:gd name="connsiteY15" fmla="*/ 210171 h 409575"/>
                <a:gd name="connsiteX16" fmla="*/ 291505 w 514350"/>
                <a:gd name="connsiteY16" fmla="*/ 176834 h 409575"/>
                <a:gd name="connsiteX17" fmla="*/ 258167 w 514350"/>
                <a:gd name="connsiteY17" fmla="*/ 143496 h 409575"/>
                <a:gd name="connsiteX18" fmla="*/ 391517 w 514350"/>
                <a:gd name="connsiteY18" fmla="*/ 143496 h 409575"/>
                <a:gd name="connsiteX19" fmla="*/ 358180 w 514350"/>
                <a:gd name="connsiteY19" fmla="*/ 176834 h 409575"/>
                <a:gd name="connsiteX20" fmla="*/ 391517 w 514350"/>
                <a:gd name="connsiteY20" fmla="*/ 210171 h 409575"/>
                <a:gd name="connsiteX21" fmla="*/ 424855 w 514350"/>
                <a:gd name="connsiteY21" fmla="*/ 176834 h 409575"/>
                <a:gd name="connsiteX22" fmla="*/ 391517 w 514350"/>
                <a:gd name="connsiteY22" fmla="*/ 143496 h 40957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14350" h="409575">
                  <a:moveTo>
                    <a:pt x="515342" y="621"/>
                  </a:moveTo>
                  <a:lnTo>
                    <a:pt x="515342" y="353046"/>
                  </a:lnTo>
                  <a:lnTo>
                    <a:pt x="192159" y="353046"/>
                  </a:lnTo>
                  <a:lnTo>
                    <a:pt x="115387" y="410196"/>
                  </a:lnTo>
                  <a:lnTo>
                    <a:pt x="115387" y="353046"/>
                  </a:lnTo>
                  <a:lnTo>
                    <a:pt x="992" y="353046"/>
                  </a:lnTo>
                  <a:lnTo>
                    <a:pt x="992" y="621"/>
                  </a:lnTo>
                  <a:lnTo>
                    <a:pt x="515342" y="621"/>
                  </a:lnTo>
                  <a:close/>
                  <a:moveTo>
                    <a:pt x="124817" y="143496"/>
                  </a:moveTo>
                  <a:cubicBezTo>
                    <a:pt x="106434" y="143496"/>
                    <a:pt x="91480" y="158450"/>
                    <a:pt x="91480" y="176834"/>
                  </a:cubicBezTo>
                  <a:cubicBezTo>
                    <a:pt x="91480" y="195217"/>
                    <a:pt x="106434" y="210171"/>
                    <a:pt x="124817" y="210171"/>
                  </a:cubicBezTo>
                  <a:cubicBezTo>
                    <a:pt x="143200" y="210171"/>
                    <a:pt x="158155" y="195217"/>
                    <a:pt x="158155" y="176834"/>
                  </a:cubicBezTo>
                  <a:cubicBezTo>
                    <a:pt x="158155" y="158450"/>
                    <a:pt x="143200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84" y="143496"/>
                    <a:pt x="224830" y="158450"/>
                    <a:pt x="224830" y="176834"/>
                  </a:cubicBezTo>
                  <a:cubicBezTo>
                    <a:pt x="224830" y="195217"/>
                    <a:pt x="239784" y="210171"/>
                    <a:pt x="258167" y="210171"/>
                  </a:cubicBezTo>
                  <a:cubicBezTo>
                    <a:pt x="276550" y="210171"/>
                    <a:pt x="291505" y="195217"/>
                    <a:pt x="291505" y="176834"/>
                  </a:cubicBezTo>
                  <a:cubicBezTo>
                    <a:pt x="291505" y="158450"/>
                    <a:pt x="276550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34" y="143496"/>
                    <a:pt x="358180" y="158450"/>
                    <a:pt x="358180" y="176834"/>
                  </a:cubicBezTo>
                  <a:cubicBezTo>
                    <a:pt x="358180" y="195217"/>
                    <a:pt x="373134" y="210171"/>
                    <a:pt x="391517" y="210171"/>
                  </a:cubicBezTo>
                  <a:cubicBezTo>
                    <a:pt x="409900" y="210171"/>
                    <a:pt x="424855" y="195217"/>
                    <a:pt x="424855" y="176834"/>
                  </a:cubicBezTo>
                  <a:cubicBezTo>
                    <a:pt x="424855" y="158450"/>
                    <a:pt x="409900" y="143496"/>
                    <a:pt x="391517" y="143496"/>
                  </a:cubicBezTo>
                  <a:close/>
                </a:path>
              </a:pathLst>
            </a:custGeom>
            <a:solidFill>
              <a:schemeClr val="accent1"/>
            </a:solidFill>
            <a:ln w="5715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defTabSz="913765"/>
              <a:endParaRPr lang="zh-CN" altLang="en-US" sz="1200" b="1">
                <a:solidFill>
                  <a:srgbClr val="FFFFFF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A1860E4-4A35-4CE3-A8E9-E6094FEE2F2E}"/>
                </a:ext>
              </a:extLst>
            </p:cNvPr>
            <p:cNvSpPr txBox="1"/>
            <p:nvPr/>
          </p:nvSpPr>
          <p:spPr>
            <a:xfrm>
              <a:off x="5022262" y="3597137"/>
              <a:ext cx="2901187" cy="516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lvl="0" defTabSz="913765">
                <a:lnSpc>
                  <a:spcPct val="150000"/>
                </a:lnSpc>
                <a:buSzPct val="25000"/>
                <a:defRPr sz="105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>
                  <a:solidFill>
                    <a:schemeClr val="tx1"/>
                  </a:solidFill>
                </a:rPr>
                <a:t>学习并遵循公司规定的标准流程，确保工作按照规范进行，减少错误和遗漏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E9FD528-CD3E-4B79-8373-1E534BA81F0A}"/>
                </a:ext>
              </a:extLst>
            </p:cNvPr>
            <p:cNvSpPr txBox="1"/>
            <p:nvPr/>
          </p:nvSpPr>
          <p:spPr>
            <a:xfrm>
              <a:off x="5005420" y="3114002"/>
              <a:ext cx="2934872" cy="37555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0" sz="12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/>
                <a:t>遵循标准流程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3E91A16-1C48-4C0A-B5A4-3769B656E52E}"/>
                </a:ext>
              </a:extLst>
            </p:cNvPr>
            <p:cNvSpPr txBox="1"/>
            <p:nvPr/>
          </p:nvSpPr>
          <p:spPr>
            <a:xfrm>
              <a:off x="8737013" y="3597137"/>
              <a:ext cx="2901187" cy="738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lvl="0" defTabSz="913765">
                <a:lnSpc>
                  <a:spcPct val="150000"/>
                </a:lnSpc>
                <a:buSzPct val="25000"/>
                <a:defRPr sz="1050">
                  <a:solidFill>
                    <a:schemeClr val="tx1">
                      <a:lumMod val="95000"/>
                      <a:lumOff val="5000"/>
                    </a:schemeClr>
                  </a:solidFill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zh-CN" altLang="en-US" sz="1200">
                  <a:solidFill>
                    <a:schemeClr val="tx1"/>
                  </a:solidFill>
                </a:rPr>
                <a:t>与同事和上级保持良好的沟通，及时反馈工作进展和问题，及时解决潜在的质量问题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999DF2D-F2BD-4064-80BA-8EBAEC0E245A}"/>
                </a:ext>
              </a:extLst>
            </p:cNvPr>
            <p:cNvSpPr txBox="1"/>
            <p:nvPr/>
          </p:nvSpPr>
          <p:spPr>
            <a:xfrm>
              <a:off x="8720171" y="3114002"/>
              <a:ext cx="2934872" cy="37555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kumimoji="0" sz="1200" b="1" i="0" u="none" strike="noStrike" cap="none" spc="0" normalizeH="0" baseline="0">
                  <a:ln>
                    <a:noFill/>
                  </a:ln>
                  <a:effectLst/>
                  <a:uLnTx/>
                  <a:uFillTx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lang="zh-CN" altLang="en-US" sz="1600"/>
                <a:t>及时沟通与反馈</a:t>
              </a:r>
            </a:p>
          </p:txBody>
        </p:sp>
      </p:grpSp>
      <p:sp>
        <p:nvSpPr>
          <p:cNvPr id="59" name="Title 58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工作质量的提高</a:t>
            </a:r>
          </a:p>
        </p:txBody>
      </p:sp>
    </p:spTree>
    <p:custDataLst>
      <p:tags r:id="rId2"/>
    </p:custDataLst>
    <p:extLst>
      <p:ext uri="{BB962C8B-B14F-4D97-AF65-F5344CB8AC3E}">
        <p14:creationId val="2759436515"/>
      </p:ext>
    </p:extLst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altLang="zh-CN"/>
              <a:t>05.培训与参与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r>
              <a:rPr lang="zh-CN" altLang="en-US"/>
              <a:t>积极参与培训提升自我</a:t>
            </a:r>
            <a:endParaRPr lang="en-US" altLang="zh-CN"/>
          </a:p>
        </p:txBody>
      </p:sp>
    </p:spTree>
    <p:custDataLst>
      <p:tags r:id="rId2"/>
    </p:custDataLst>
    <p:extLst>
      <p:ext uri="{BB962C8B-B14F-4D97-AF65-F5344CB8AC3E}">
        <p14:creationId val="3117809342"/>
      </p:ext>
    </p:extLst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Group 1"/>
          <p:cNvGrpSpPr/>
          <p:nvPr/>
        </p:nvGrpSpPr>
        <p:grpSpPr>
          <a:xfrm>
            <a:off x="660398" y="1026886"/>
            <a:ext cx="10858502" cy="4517571"/>
            <a:chOff x="660398" y="1026886"/>
            <a:chExt cx="10858502" cy="451757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1275FA1-770E-4A66-BEDB-2AF2CAA64DB1}"/>
                </a:ext>
              </a:extLst>
            </p:cNvPr>
            <p:cNvSpPr/>
            <p:nvPr/>
          </p:nvSpPr>
          <p:spPr>
            <a:xfrm>
              <a:off x="660400" y="1026886"/>
              <a:ext cx="10858500" cy="660125"/>
            </a:xfrm>
            <a:prstGeom prst="rect">
              <a:avLst/>
            </a:prstGeom>
          </p:spPr>
          <p:txBody>
            <a:bodyPr wrap="square" anchor="b" anchorCtr="0">
              <a:noAutofit/>
            </a:bodyPr>
            <a:lstStyle/>
            <a:p>
              <a:pPr algn="ctr">
                <a:lnSpc>
                  <a:spcPct val="100000"/>
                </a:lnSpc>
                <a:buSzPct val="25000"/>
              </a:pPr>
              <a:r>
                <a:rPr lang="zh-CN" altLang="en-US" sz="2400" b="1">
                  <a:solidFill>
                    <a:schemeClr val="tx1"/>
                  </a:solidFill>
                </a:rPr>
                <a:t>提高工作效率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88D1C2D-A7C8-4A73-B8E3-380B5F8B138C}"/>
                </a:ext>
              </a:extLst>
            </p:cNvPr>
            <p:cNvSpPr txBox="1"/>
            <p:nvPr/>
          </p:nvSpPr>
          <p:spPr>
            <a:xfrm>
              <a:off x="660398" y="1705241"/>
              <a:ext cx="10858501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ctr">
                <a:lnSpc>
                  <a:spcPct val="150000"/>
                </a:lnSpc>
                <a:defRPr sz="1200">
                  <a:solidFill>
                    <a:schemeClr val="bg1">
                      <a:lumMod val="50000"/>
                    </a:schemeClr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200">
                  <a:solidFill>
                    <a:schemeClr val="tx1"/>
                  </a:solidFill>
                </a:rPr>
                <a:t>公司提供的培训课程将帮助员工提高工作效率，提升办公技巧，以更高效的方式完成任务。</a:t>
              </a: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FF5CC6AB-9CEE-46B3-B8BF-D96B1142BCB8}"/>
                </a:ext>
              </a:extLst>
            </p:cNvPr>
            <p:cNvGrpSpPr/>
            <p:nvPr/>
          </p:nvGrpSpPr>
          <p:grpSpPr>
            <a:xfrm>
              <a:off x="888463" y="2905685"/>
              <a:ext cx="2720946" cy="2638772"/>
              <a:chOff x="888463" y="2905685"/>
              <a:chExt cx="2720946" cy="2638772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F7EDDCD-13E1-49B3-B5B1-1595B7077023}"/>
                  </a:ext>
                </a:extLst>
              </p:cNvPr>
              <p:cNvGrpSpPr/>
              <p:nvPr/>
            </p:nvGrpSpPr>
            <p:grpSpPr>
              <a:xfrm>
                <a:off x="888463" y="2905685"/>
                <a:ext cx="540001" cy="540000"/>
                <a:chOff x="1086607" y="1637616"/>
                <a:chExt cx="444222" cy="444220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19E4A673-9CE9-48E4-B0BF-5F1F292C8ABA}"/>
                    </a:ext>
                  </a:extLst>
                </p:cNvPr>
                <p:cNvSpPr/>
                <p:nvPr/>
              </p:nvSpPr>
              <p:spPr>
                <a:xfrm>
                  <a:off x="1086607" y="1637616"/>
                  <a:ext cx="444222" cy="444220"/>
                </a:xfrm>
                <a:prstGeom prst="ellipse">
                  <a:avLst/>
                </a:prstGeom>
                <a:solidFill>
                  <a:schemeClr val="accent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C14E0831-789D-4897-9F69-DFA73C263520}"/>
                    </a:ext>
                  </a:extLst>
                </p:cNvPr>
                <p:cNvSpPr/>
                <p:nvPr/>
              </p:nvSpPr>
              <p:spPr bwMode="auto">
                <a:xfrm>
                  <a:off x="1205938" y="1782641"/>
                  <a:ext cx="205561" cy="154170"/>
                </a:xfrm>
                <a:custGeom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0474F3-0B19-4EFE-B105-77AA44985C02}"/>
                  </a:ext>
                </a:extLst>
              </p:cNvPr>
              <p:cNvSpPr txBox="1"/>
              <p:nvPr/>
            </p:nvSpPr>
            <p:spPr>
              <a:xfrm>
                <a:off x="1790174" y="2943760"/>
                <a:ext cx="1549233" cy="463846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b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/>
                  <a:t>办公技巧培训</a:t>
                </a:r>
                <a:endParaRPr lang="zh-CN" altLang="en-US" sz="2400" b="1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54A3E48A-5CC1-4131-B9F9-52C9B7BECD0D}"/>
                  </a:ext>
                </a:extLst>
              </p:cNvPr>
              <p:cNvSpPr/>
              <p:nvPr/>
            </p:nvSpPr>
            <p:spPr>
              <a:xfrm flipH="1">
                <a:off x="1790172" y="3714202"/>
                <a:ext cx="1819237" cy="1830255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t" anchorCtr="0" forceAA="0" compatLnSpc="1">
                <a:noAutofit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solidFill>
                      <a:schemeClr val="tx1"/>
                    </a:solidFill>
                  </a:rPr>
                  <a:t>学习基本的办公技巧和高效的工作方法</a:t>
                </a: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35984406-B4AB-4615-8D7B-5B40234AD216}"/>
                </a:ext>
              </a:extLst>
            </p:cNvPr>
            <p:cNvGrpSpPr/>
            <p:nvPr/>
          </p:nvGrpSpPr>
          <p:grpSpPr>
            <a:xfrm>
              <a:off x="4840149" y="2905685"/>
              <a:ext cx="2720945" cy="2638772"/>
              <a:chOff x="4840149" y="2905685"/>
              <a:chExt cx="2720945" cy="2638772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D1B5789F-0B4C-429E-88BE-82C631615E92}"/>
                  </a:ext>
                </a:extLst>
              </p:cNvPr>
              <p:cNvGrpSpPr/>
              <p:nvPr/>
            </p:nvGrpSpPr>
            <p:grpSpPr>
              <a:xfrm>
                <a:off x="4840149" y="2905685"/>
                <a:ext cx="540001" cy="540000"/>
                <a:chOff x="2692613" y="1637616"/>
                <a:chExt cx="444222" cy="444220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C524EF7C-90FB-426C-BD39-21D8091931F4}"/>
                    </a:ext>
                  </a:extLst>
                </p:cNvPr>
                <p:cNvSpPr/>
                <p:nvPr/>
              </p:nvSpPr>
              <p:spPr>
                <a:xfrm>
                  <a:off x="2692613" y="1637616"/>
                  <a:ext cx="444222" cy="444220"/>
                </a:xfrm>
                <a:prstGeom prst="ellipse">
                  <a:avLst/>
                </a:prstGeom>
                <a:solidFill>
                  <a:schemeClr val="accent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512750A6-3E2A-440D-AEE9-AB2028B71025}"/>
                    </a:ext>
                  </a:extLst>
                </p:cNvPr>
                <p:cNvSpPr/>
                <p:nvPr/>
              </p:nvSpPr>
              <p:spPr bwMode="auto">
                <a:xfrm>
                  <a:off x="2811943" y="1766123"/>
                  <a:ext cx="205561" cy="187207"/>
                </a:xfrm>
                <a:custGeom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ACDC43C-5871-4E00-883C-E96895F27C1B}"/>
                  </a:ext>
                </a:extLst>
              </p:cNvPr>
              <p:cNvSpPr txBox="1"/>
              <p:nvPr/>
            </p:nvSpPr>
            <p:spPr>
              <a:xfrm>
                <a:off x="5741859" y="2943760"/>
                <a:ext cx="1549233" cy="463846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b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/>
                  <a:t>文件管理培训</a:t>
                </a:r>
                <a:endParaRPr lang="zh-CN" altLang="en-US" sz="2400" b="1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8FC915E0-7802-4DCF-9098-44A43AAA18A6}"/>
                  </a:ext>
                </a:extLst>
              </p:cNvPr>
              <p:cNvSpPr/>
              <p:nvPr/>
            </p:nvSpPr>
            <p:spPr>
              <a:xfrm flipH="1">
                <a:off x="5741857" y="3714202"/>
                <a:ext cx="1819237" cy="1830255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t" anchorCtr="0" forceAA="0" compatLnSpc="1">
                <a:noAutofit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solidFill>
                      <a:schemeClr val="tx1"/>
                    </a:solidFill>
                  </a:rPr>
                  <a:t>学习正确的文件管理方法，以便更好地组织和查找文件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5DD2B5DA-A8DD-4C4B-B7DC-C25032B1FF58}"/>
                </a:ext>
              </a:extLst>
            </p:cNvPr>
            <p:cNvGrpSpPr/>
            <p:nvPr/>
          </p:nvGrpSpPr>
          <p:grpSpPr>
            <a:xfrm>
              <a:off x="8791836" y="2905685"/>
              <a:ext cx="2720943" cy="2638772"/>
              <a:chOff x="8791836" y="2905685"/>
              <a:chExt cx="2720943" cy="2638772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1F2A457-AF02-48AB-B76B-7E2E4021F8A5}"/>
                  </a:ext>
                </a:extLst>
              </p:cNvPr>
              <p:cNvGrpSpPr/>
              <p:nvPr/>
            </p:nvGrpSpPr>
            <p:grpSpPr>
              <a:xfrm>
                <a:off x="8791836" y="2905685"/>
                <a:ext cx="540001" cy="540000"/>
                <a:chOff x="1889611" y="1637620"/>
                <a:chExt cx="444222" cy="444221"/>
              </a:xfrm>
            </p:grpSpPr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DDC71B8A-3E1B-4B0C-B48A-30688004BCD8}"/>
                    </a:ext>
                  </a:extLst>
                </p:cNvPr>
                <p:cNvSpPr/>
                <p:nvPr/>
              </p:nvSpPr>
              <p:spPr>
                <a:xfrm>
                  <a:off x="1889611" y="1637620"/>
                  <a:ext cx="444222" cy="444221"/>
                </a:xfrm>
                <a:prstGeom prst="ellipse">
                  <a:avLst/>
                </a:prstGeom>
                <a:solidFill>
                  <a:schemeClr val="accent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4DC8A5F6-0950-480C-A7B7-83B6F40056A4}"/>
                    </a:ext>
                  </a:extLst>
                </p:cNvPr>
                <p:cNvSpPr/>
                <p:nvPr/>
              </p:nvSpPr>
              <p:spPr bwMode="auto">
                <a:xfrm>
                  <a:off x="2008941" y="1774160"/>
                  <a:ext cx="205561" cy="171132"/>
                </a:xfrm>
                <a:custGeom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2808E97-3318-4123-8B14-5823C7A71602}"/>
                  </a:ext>
                </a:extLst>
              </p:cNvPr>
              <p:cNvSpPr txBox="1"/>
              <p:nvPr/>
            </p:nvSpPr>
            <p:spPr>
              <a:xfrm>
                <a:off x="9693544" y="2943760"/>
                <a:ext cx="1549233" cy="463846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b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/>
                  <a:t>电子邮件使用培训</a:t>
                </a:r>
                <a:endParaRPr lang="zh-CN" altLang="en-US" sz="2400" b="1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4D237C9-E6C4-4BB6-A269-4D4B9985A2F8}"/>
                  </a:ext>
                </a:extLst>
              </p:cNvPr>
              <p:cNvSpPr/>
              <p:nvPr/>
            </p:nvSpPr>
            <p:spPr>
              <a:xfrm flipH="1">
                <a:off x="9693542" y="3714202"/>
                <a:ext cx="1819237" cy="1830255"/>
              </a:xfrm>
              <a:prstGeom prst="rect">
                <a:avLst/>
              </a:prstGeom>
              <a:noFill/>
              <a:ln w="5715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t" anchorCtr="0" forceAA="0" compatLnSpc="1">
                <a:noAutofit/>
              </a:bodyPr>
              <a:lstStyle/>
              <a:p>
                <a:pPr marL="171450" indent="-171450">
                  <a:lnSpc>
                    <a:spcPct val="12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200">
                    <a:solidFill>
                      <a:schemeClr val="tx1"/>
                    </a:solidFill>
                  </a:rPr>
                  <a:t>学习如何有效地使用电子邮件进行沟通和处理工作事务</a:t>
                </a:r>
              </a:p>
            </p:txBody>
          </p:sp>
        </p:grp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2107919-D05F-495C-8F1C-F19DF23DCA14}"/>
                </a:ext>
              </a:extLst>
            </p:cNvPr>
            <p:cNvCxnSpPr/>
            <p:nvPr/>
          </p:nvCxnSpPr>
          <p:spPr>
            <a:xfrm>
              <a:off x="4142411" y="2810629"/>
              <a:ext cx="1" cy="2648885"/>
            </a:xfrm>
            <a:prstGeom prst="line">
              <a:avLst/>
            </a:prstGeom>
            <a:ln w="12700">
              <a:solidFill>
                <a:schemeClr val="tx1">
                  <a:lumMod val="25000"/>
                  <a:lumOff val="75000"/>
                </a:schemeClr>
              </a:solidFill>
              <a:prstDash val="solid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BD2AAC7-C29C-4A17-BBC5-9771C56AC040}"/>
                </a:ext>
              </a:extLst>
            </p:cNvPr>
            <p:cNvCxnSpPr/>
            <p:nvPr/>
          </p:nvCxnSpPr>
          <p:spPr>
            <a:xfrm>
              <a:off x="8049589" y="2810629"/>
              <a:ext cx="1" cy="2648885"/>
            </a:xfrm>
            <a:prstGeom prst="line">
              <a:avLst/>
            </a:prstGeom>
            <a:ln w="12700">
              <a:solidFill>
                <a:schemeClr val="tx1">
                  <a:lumMod val="25000"/>
                  <a:lumOff val="75000"/>
                </a:schemeClr>
              </a:solidFill>
              <a:prstDash val="solid"/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Title 10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公司提供的培训</a:t>
            </a:r>
          </a:p>
        </p:txBody>
      </p:sp>
    </p:spTree>
    <p:custDataLst>
      <p:tags r:id="rId2"/>
    </p:custDataLst>
    <p:extLst>
      <p:ext uri="{BB962C8B-B14F-4D97-AF65-F5344CB8AC3E}">
        <p14:creationId val="1177326705"/>
      </p:ext>
    </p:extLst>
  </p:cSld>
  <p:clrMapOvr>
    <a:masterClrMapping/>
  </p:clrMapOvr>
  <p:transition/>
  <p:timing/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5" name="Group 4"/>
          <p:cNvGrpSpPr/>
          <p:nvPr/>
        </p:nvGrpSpPr>
        <p:grpSpPr>
          <a:xfrm>
            <a:off x="660400" y="1130300"/>
            <a:ext cx="10970633" cy="5003800"/>
            <a:chOff x="660400" y="1130300"/>
            <a:chExt cx="10970633" cy="50038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389FBD9-9324-B541-6C26-79D8CAE66199}"/>
                </a:ext>
              </a:extLst>
            </p:cNvPr>
            <p:cNvCxnSpPr/>
            <p:nvPr/>
          </p:nvCxnSpPr>
          <p:spPr>
            <a:xfrm>
              <a:off x="2174488" y="5845594"/>
              <a:ext cx="9344412" cy="0"/>
            </a:xfrm>
            <a:prstGeom prst="line">
              <a:avLst/>
            </a:prstGeom>
            <a:ln w="25400">
              <a:solidFill>
                <a:schemeClr val="accent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1FDD2BF-2AD9-6658-E2EE-D05317F1336A}"/>
                </a:ext>
              </a:extLst>
            </p:cNvPr>
            <p:cNvGrpSpPr/>
            <p:nvPr/>
          </p:nvGrpSpPr>
          <p:grpSpPr>
            <a:xfrm>
              <a:off x="660400" y="3067515"/>
              <a:ext cx="3488165" cy="3066585"/>
              <a:chOff x="660400" y="3067515"/>
              <a:chExt cx="3488165" cy="3066585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DEA3A2B-100B-7E8C-CBC3-51799583F89D}"/>
                  </a:ext>
                </a:extLst>
              </p:cNvPr>
              <p:cNvSpPr/>
              <p:nvPr/>
            </p:nvSpPr>
            <p:spPr>
              <a:xfrm>
                <a:off x="660400" y="3067515"/>
                <a:ext cx="1670205" cy="3066585"/>
              </a:xfrm>
              <a:prstGeom prst="rect">
                <a:avLst/>
              </a:prstGeom>
              <a:blipFill rotWithShape="0">
                <a:blip r:embed="rId2"/>
                <a:stretch>
                  <a:fillRect l="-87660" r="-8766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D9D6B552-0710-4F9D-0EE4-ABDB4CAF08DE}"/>
                  </a:ext>
                </a:extLst>
              </p:cNvPr>
              <p:cNvSpPr/>
              <p:nvPr/>
            </p:nvSpPr>
            <p:spPr>
              <a:xfrm>
                <a:off x="2424411" y="3638676"/>
                <a:ext cx="1724154" cy="642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</a:rPr>
                  <a:t>阅读培训大纲和相关材料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46471FF-96DA-91E8-5016-E524490443F0}"/>
                  </a:ext>
                </a:extLst>
              </p:cNvPr>
              <p:cNvSpPr/>
              <p:nvPr/>
            </p:nvSpPr>
            <p:spPr>
              <a:xfrm>
                <a:off x="2424410" y="3190974"/>
                <a:ext cx="1724154" cy="4643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08000" tIns="108000" rIns="108000" bIns="108000" rtlCol="0" anchor="b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sz="1600" b="1">
                    <a:solidFill>
                      <a:schemeClr val="tx1"/>
                    </a:solidFill>
                  </a:rPr>
                  <a:t>了解培训内容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F80CEC7-0747-2DE9-C720-1B4F36CB8D4E}"/>
                </a:ext>
              </a:extLst>
            </p:cNvPr>
            <p:cNvGrpSpPr/>
            <p:nvPr/>
          </p:nvGrpSpPr>
          <p:grpSpPr>
            <a:xfrm>
              <a:off x="3082920" y="5629570"/>
              <a:ext cx="432048" cy="432048"/>
              <a:chOff x="4264950" y="5651169"/>
              <a:chExt cx="432048" cy="432048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8741D87-0492-F0E1-29CA-9CDBB10F7215}"/>
                  </a:ext>
                </a:extLst>
              </p:cNvPr>
              <p:cNvSpPr/>
              <p:nvPr/>
            </p:nvSpPr>
            <p:spPr>
              <a:xfrm>
                <a:off x="4264950" y="5651169"/>
                <a:ext cx="432048" cy="43204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D33BE254-F38F-E939-B545-EAE526B02D07}"/>
                  </a:ext>
                </a:extLst>
              </p:cNvPr>
              <p:cNvSpPr/>
              <p:nvPr/>
            </p:nvSpPr>
            <p:spPr>
              <a:xfrm>
                <a:off x="4401650" y="5796308"/>
                <a:ext cx="158649" cy="158649"/>
              </a:xfrm>
              <a:prstGeom prst="chevron">
                <a:avLst/>
              </a:prstGeom>
              <a:solidFill>
                <a:schemeClr val="bg1"/>
              </a:solidFill>
              <a:ln w="6055" cap="flat">
                <a:noFill/>
                <a:prstDash val="solid"/>
                <a:miter/>
              </a:ln>
            </p:spPr>
            <p:txBody>
              <a:bodyPr lIns="108000" tIns="108000" rIns="108000" bIns="108000"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DADF5A1-856B-8D57-DB6E-DD5D1150D270}"/>
                </a:ext>
              </a:extLst>
            </p:cNvPr>
            <p:cNvSpPr txBox="1"/>
            <p:nvPr/>
          </p:nvSpPr>
          <p:spPr>
            <a:xfrm>
              <a:off x="660400" y="1755120"/>
              <a:ext cx="7919915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kumimoji="1" lang="zh-CN" altLang="en-US" sz="1200"/>
                <a:t>通过参与培训提升个人能力和工作效率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EB4E06F-8922-BC11-6608-25A1979D8DDF}"/>
                </a:ext>
              </a:extLst>
            </p:cNvPr>
            <p:cNvSpPr txBox="1"/>
            <p:nvPr/>
          </p:nvSpPr>
          <p:spPr>
            <a:xfrm>
              <a:off x="677985" y="1130300"/>
              <a:ext cx="791991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>
                  <a:solidFill>
                    <a:schemeClr val="tx1"/>
                  </a:solidFill>
                </a:rPr>
                <a:t>如何积极参与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28C2F0-D69A-4E2C-159F-B30DCC6B6994}"/>
                </a:ext>
              </a:extLst>
            </p:cNvPr>
            <p:cNvGrpSpPr/>
            <p:nvPr/>
          </p:nvGrpSpPr>
          <p:grpSpPr>
            <a:xfrm>
              <a:off x="4340302" y="3067515"/>
              <a:ext cx="3488165" cy="3066585"/>
              <a:chOff x="4340302" y="3067515"/>
              <a:chExt cx="3488165" cy="3066585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8389848-4626-2069-31A3-F4B02E33CF51}"/>
                  </a:ext>
                </a:extLst>
              </p:cNvPr>
              <p:cNvSpPr/>
              <p:nvPr/>
            </p:nvSpPr>
            <p:spPr>
              <a:xfrm>
                <a:off x="4340302" y="3067515"/>
                <a:ext cx="1670205" cy="3066585"/>
              </a:xfrm>
              <a:prstGeom prst="rect">
                <a:avLst/>
              </a:prstGeom>
              <a:blipFill rotWithShape="0">
                <a:blip r:embed="rId3"/>
                <a:stretch>
                  <a:fillRect l="-87660" r="-8766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F4CFA35-CB58-3B30-3661-5FD136A0A752}"/>
                  </a:ext>
                </a:extLst>
              </p:cNvPr>
              <p:cNvSpPr/>
              <p:nvPr/>
            </p:nvSpPr>
            <p:spPr>
              <a:xfrm>
                <a:off x="6104313" y="3638676"/>
                <a:ext cx="1724154" cy="642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</a:rPr>
                  <a:t>提出问题，分享经验和见解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96C7207-0D05-A04C-7A20-EAA54BE4D6BC}"/>
                  </a:ext>
                </a:extLst>
              </p:cNvPr>
              <p:cNvSpPr/>
              <p:nvPr/>
            </p:nvSpPr>
            <p:spPr>
              <a:xfrm>
                <a:off x="6104312" y="3190974"/>
                <a:ext cx="1724154" cy="4643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08000" tIns="108000" rIns="108000" bIns="108000" rtlCol="0" anchor="b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sz="1600" b="1">
                    <a:solidFill>
                      <a:schemeClr val="tx1"/>
                    </a:solidFill>
                  </a:rPr>
                  <a:t>积极参与讨论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BBFC650-6DCA-A5FB-43D1-14F99AA80FD0}"/>
                </a:ext>
              </a:extLst>
            </p:cNvPr>
            <p:cNvGrpSpPr/>
            <p:nvPr/>
          </p:nvGrpSpPr>
          <p:grpSpPr>
            <a:xfrm>
              <a:off x="8142868" y="3067515"/>
              <a:ext cx="3488165" cy="3066585"/>
              <a:chOff x="8142868" y="3067515"/>
              <a:chExt cx="3488165" cy="3066585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194CA1D-5BAB-FF44-F6DC-40BE393EBE7D}"/>
                  </a:ext>
                </a:extLst>
              </p:cNvPr>
              <p:cNvSpPr/>
              <p:nvPr/>
            </p:nvSpPr>
            <p:spPr>
              <a:xfrm>
                <a:off x="8142868" y="3067515"/>
                <a:ext cx="1670205" cy="3066585"/>
              </a:xfrm>
              <a:prstGeom prst="rect">
                <a:avLst/>
              </a:prstGeom>
              <a:blipFill rotWithShape="0">
                <a:blip r:embed="rId4"/>
                <a:stretch>
                  <a:fillRect l="-87660" r="-87660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 cap="flat" cmpd="sng" algn="ctr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86E9C76C-31D0-71C9-843C-D026D9961555}"/>
                  </a:ext>
                </a:extLst>
              </p:cNvPr>
              <p:cNvSpPr/>
              <p:nvPr/>
            </p:nvSpPr>
            <p:spPr>
              <a:xfrm>
                <a:off x="9906879" y="3638676"/>
                <a:ext cx="1724154" cy="642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t" anchorCtr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>
                    <a:solidFill>
                      <a:schemeClr val="tx1"/>
                    </a:solidFill>
                  </a:rPr>
                  <a:t>参与角色扮演，小组讨论和实践演练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40A28FC-C2AB-2713-911F-0BC9190B6C8B}"/>
                  </a:ext>
                </a:extLst>
              </p:cNvPr>
              <p:cNvSpPr/>
              <p:nvPr/>
            </p:nvSpPr>
            <p:spPr>
              <a:xfrm>
                <a:off x="9906878" y="3190974"/>
                <a:ext cx="1724154" cy="4643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108000" tIns="108000" rIns="108000" bIns="108000" rtlCol="0" anchor="b" anchorCtr="0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kumimoji="1" lang="zh-CN" altLang="en-US" sz="1600" b="1">
                    <a:solidFill>
                      <a:schemeClr val="tx1"/>
                    </a:solidFill>
                  </a:rPr>
                  <a:t>参加培训活动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54A70BB-F992-8A5C-DB85-258E7A9BBB6A}"/>
                </a:ext>
              </a:extLst>
            </p:cNvPr>
            <p:cNvGrpSpPr/>
            <p:nvPr/>
          </p:nvGrpSpPr>
          <p:grpSpPr>
            <a:xfrm>
              <a:off x="6796276" y="5629570"/>
              <a:ext cx="432048" cy="432048"/>
              <a:chOff x="4264950" y="5651169"/>
              <a:chExt cx="432048" cy="432048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9273593-4C64-C390-DA79-325B9340CA25}"/>
                  </a:ext>
                </a:extLst>
              </p:cNvPr>
              <p:cNvSpPr/>
              <p:nvPr/>
            </p:nvSpPr>
            <p:spPr>
              <a:xfrm>
                <a:off x="4264950" y="5651169"/>
                <a:ext cx="432048" cy="43204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Arrow: Chevron 41">
                <a:extLst>
                  <a:ext uri="{FF2B5EF4-FFF2-40B4-BE49-F238E27FC236}">
                    <a16:creationId xmlns:a16="http://schemas.microsoft.com/office/drawing/2014/main" id="{D0043C17-0EFC-D850-2721-F26C537A1BFA}"/>
                  </a:ext>
                </a:extLst>
              </p:cNvPr>
              <p:cNvSpPr/>
              <p:nvPr/>
            </p:nvSpPr>
            <p:spPr>
              <a:xfrm>
                <a:off x="4401650" y="5796308"/>
                <a:ext cx="158649" cy="158649"/>
              </a:xfrm>
              <a:prstGeom prst="chevron">
                <a:avLst/>
              </a:prstGeom>
              <a:solidFill>
                <a:schemeClr val="bg1"/>
              </a:solidFill>
              <a:ln w="6055" cap="flat">
                <a:noFill/>
                <a:prstDash val="solid"/>
                <a:miter/>
              </a:ln>
            </p:spPr>
            <p:txBody>
              <a:bodyPr lIns="108000" tIns="108000" rIns="108000" bIns="108000"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73369DB-3CE5-D6B5-DF92-3FDC01248600}"/>
                </a:ext>
              </a:extLst>
            </p:cNvPr>
            <p:cNvGrpSpPr/>
            <p:nvPr/>
          </p:nvGrpSpPr>
          <p:grpSpPr>
            <a:xfrm>
              <a:off x="10453876" y="5629570"/>
              <a:ext cx="432048" cy="432048"/>
              <a:chOff x="4264950" y="5651169"/>
              <a:chExt cx="432048" cy="432048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60E7D26-4CF2-A821-4E2C-77A2D5A3DFDB}"/>
                  </a:ext>
                </a:extLst>
              </p:cNvPr>
              <p:cNvSpPr/>
              <p:nvPr/>
            </p:nvSpPr>
            <p:spPr>
              <a:xfrm>
                <a:off x="4264950" y="5651169"/>
                <a:ext cx="432048" cy="43204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Arrow: Chevron 44">
                <a:extLst>
                  <a:ext uri="{FF2B5EF4-FFF2-40B4-BE49-F238E27FC236}">
                    <a16:creationId xmlns:a16="http://schemas.microsoft.com/office/drawing/2014/main" id="{041294BC-D5E9-4D79-2F0E-CAC2F58F0E32}"/>
                  </a:ext>
                </a:extLst>
              </p:cNvPr>
              <p:cNvSpPr/>
              <p:nvPr/>
            </p:nvSpPr>
            <p:spPr>
              <a:xfrm>
                <a:off x="4401650" y="5796308"/>
                <a:ext cx="158649" cy="158649"/>
              </a:xfrm>
              <a:prstGeom prst="chevron">
                <a:avLst/>
              </a:prstGeom>
              <a:solidFill>
                <a:schemeClr val="bg1"/>
              </a:solidFill>
              <a:ln w="6055" cap="flat">
                <a:noFill/>
                <a:prstDash val="solid"/>
                <a:miter/>
              </a:ln>
            </p:spPr>
            <p:txBody>
              <a:bodyPr lIns="108000" tIns="108000" rIns="108000" bIns="108000" rtlCol="0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7" name="Title 46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乐在其中的秘诀</a:t>
            </a:r>
          </a:p>
        </p:txBody>
      </p:sp>
    </p:spTree>
    <p:custDataLst>
      <p:tags r:id="rId5"/>
    </p:custDataLst>
    <p:extLst>
      <p:ext uri="{BB962C8B-B14F-4D97-AF65-F5344CB8AC3E}">
        <p14:creationId val="1435243066"/>
      </p:ext>
    </p:extLst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8D1A487-E997-DA8F-90D4-D747140CD608}"/>
              </a:ext>
            </a:extLst>
          </p:cNvPr>
          <p:cNvGrpSpPr/>
          <p:nvPr/>
        </p:nvGrpSpPr>
        <p:grpSpPr>
          <a:xfrm>
            <a:off x="1115417" y="1359918"/>
            <a:ext cx="10276482" cy="3791417"/>
            <a:chOff x="1115417" y="1359918"/>
            <a:chExt cx="10276482" cy="379141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F6BB23B-5A17-7EEC-C328-8D593601D4BF}"/>
                </a:ext>
              </a:extLst>
            </p:cNvPr>
            <p:cNvCxnSpPr/>
            <p:nvPr/>
          </p:nvCxnSpPr>
          <p:spPr>
            <a:xfrm>
              <a:off x="6928852" y="3734649"/>
              <a:ext cx="2268551" cy="0"/>
            </a:xfrm>
            <a:prstGeom prst="line">
              <a:avLst/>
            </a:prstGeom>
            <a:ln>
              <a:solidFill>
                <a:schemeClr val="tx1">
                  <a:lumMod val="25000"/>
                  <a:lumOff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ECC2A99-81FC-0049-CAD6-8677BB477B71}"/>
                </a:ext>
              </a:extLst>
            </p:cNvPr>
            <p:cNvCxnSpPr/>
            <p:nvPr/>
          </p:nvCxnSpPr>
          <p:spPr>
            <a:xfrm>
              <a:off x="4272013" y="3734649"/>
              <a:ext cx="2268565" cy="0"/>
            </a:xfrm>
            <a:prstGeom prst="line">
              <a:avLst/>
            </a:prstGeom>
            <a:ln>
              <a:solidFill>
                <a:schemeClr val="tx1">
                  <a:lumMod val="25000"/>
                  <a:lumOff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54CAF8C-6202-F6F8-1C3E-6F8D652516B1}"/>
                </a:ext>
              </a:extLst>
            </p:cNvPr>
            <p:cNvCxnSpPr/>
            <p:nvPr/>
          </p:nvCxnSpPr>
          <p:spPr>
            <a:xfrm>
              <a:off x="1445454" y="3734649"/>
              <a:ext cx="2438285" cy="0"/>
            </a:xfrm>
            <a:prstGeom prst="line">
              <a:avLst/>
            </a:prstGeom>
            <a:ln>
              <a:solidFill>
                <a:schemeClr val="tx1">
                  <a:lumMod val="25000"/>
                  <a:lumOff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BCA2058-60E6-AA8B-8F72-906355C1EA46}"/>
                </a:ext>
              </a:extLst>
            </p:cNvPr>
            <p:cNvGrpSpPr/>
            <p:nvPr/>
          </p:nvGrpSpPr>
          <p:grpSpPr>
            <a:xfrm>
              <a:off x="6429065" y="3543979"/>
              <a:ext cx="2306009" cy="1582208"/>
              <a:chOff x="6429065" y="3543979"/>
              <a:chExt cx="2306009" cy="1582208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8E1395E-4A78-8F2D-A0EE-AF139D78152B}"/>
                  </a:ext>
                </a:extLst>
              </p:cNvPr>
              <p:cNvSpPr/>
              <p:nvPr/>
            </p:nvSpPr>
            <p:spPr>
              <a:xfrm flipH="1">
                <a:off x="6429065" y="4388164"/>
                <a:ext cx="2306009" cy="73802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参加行业内的各种会议，了解行业动态和最新技术，扩大自己的人脉。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0E53B9-1094-8A50-EC58-48AE21FCD02D}"/>
                  </a:ext>
                </a:extLst>
              </p:cNvPr>
              <p:cNvSpPr txBox="1"/>
              <p:nvPr/>
            </p:nvSpPr>
            <p:spPr>
              <a:xfrm>
                <a:off x="6429066" y="4078627"/>
                <a:ext cx="230600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>
                    <a:solidFill>
                      <a:schemeClr val="tx1"/>
                    </a:solidFill>
                    <a:effectLst/>
                  </a:rPr>
                  <a:t>参加行业会议</a:t>
                </a:r>
                <a:endParaRPr lang="en-US" altLang="zh-CN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EB144B7-4B79-4406-4D96-9AE893FFD902}"/>
                  </a:ext>
                </a:extLst>
              </p:cNvPr>
              <p:cNvSpPr/>
              <p:nvPr/>
            </p:nvSpPr>
            <p:spPr bwMode="auto">
              <a:xfrm>
                <a:off x="6540578" y="3543979"/>
                <a:ext cx="388274" cy="381340"/>
              </a:xfrm>
              <a:custGeom>
                <a:gdLst>
                  <a:gd name="connsiteX0" fmla="*/ 372339 w 533400"/>
                  <a:gd name="connsiteY0" fmla="*/ 276846 h 523875"/>
                  <a:gd name="connsiteX1" fmla="*/ 372339 w 533400"/>
                  <a:gd name="connsiteY1" fmla="*/ 524496 h 523875"/>
                  <a:gd name="connsiteX2" fmla="*/ 162789 w 533400"/>
                  <a:gd name="connsiteY2" fmla="*/ 524496 h 523875"/>
                  <a:gd name="connsiteX3" fmla="*/ 162789 w 533400"/>
                  <a:gd name="connsiteY3" fmla="*/ 276846 h 523875"/>
                  <a:gd name="connsiteX4" fmla="*/ 372339 w 533400"/>
                  <a:gd name="connsiteY4" fmla="*/ 276846 h 523875"/>
                  <a:gd name="connsiteX5" fmla="*/ 143739 w 533400"/>
                  <a:gd name="connsiteY5" fmla="*/ 114921 h 523875"/>
                  <a:gd name="connsiteX6" fmla="*/ 143739 w 533400"/>
                  <a:gd name="connsiteY6" fmla="*/ 153021 h 523875"/>
                  <a:gd name="connsiteX7" fmla="*/ 391389 w 533400"/>
                  <a:gd name="connsiteY7" fmla="*/ 153021 h 523875"/>
                  <a:gd name="connsiteX8" fmla="*/ 391389 w 533400"/>
                  <a:gd name="connsiteY8" fmla="*/ 114921 h 523875"/>
                  <a:gd name="connsiteX9" fmla="*/ 534264 w 533400"/>
                  <a:gd name="connsiteY9" fmla="*/ 114921 h 523875"/>
                  <a:gd name="connsiteX10" fmla="*/ 534264 w 533400"/>
                  <a:gd name="connsiteY10" fmla="*/ 410196 h 523875"/>
                  <a:gd name="connsiteX11" fmla="*/ 391389 w 533400"/>
                  <a:gd name="connsiteY11" fmla="*/ 410196 h 523875"/>
                  <a:gd name="connsiteX12" fmla="*/ 391389 w 533400"/>
                  <a:gd name="connsiteY12" fmla="*/ 257796 h 523875"/>
                  <a:gd name="connsiteX13" fmla="*/ 143739 w 533400"/>
                  <a:gd name="connsiteY13" fmla="*/ 257796 h 523875"/>
                  <a:gd name="connsiteX14" fmla="*/ 143739 w 533400"/>
                  <a:gd name="connsiteY14" fmla="*/ 410196 h 523875"/>
                  <a:gd name="connsiteX15" fmla="*/ 864 w 533400"/>
                  <a:gd name="connsiteY15" fmla="*/ 410196 h 523875"/>
                  <a:gd name="connsiteX16" fmla="*/ 864 w 533400"/>
                  <a:gd name="connsiteY16" fmla="*/ 186359 h 523875"/>
                  <a:gd name="connsiteX17" fmla="*/ 67539 w 533400"/>
                  <a:gd name="connsiteY17" fmla="*/ 114921 h 523875"/>
                  <a:gd name="connsiteX18" fmla="*/ 143739 w 533400"/>
                  <a:gd name="connsiteY18" fmla="*/ 114921 h 523875"/>
                  <a:gd name="connsiteX19" fmla="*/ 462827 w 533400"/>
                  <a:gd name="connsiteY19" fmla="*/ 172071 h 523875"/>
                  <a:gd name="connsiteX20" fmla="*/ 448539 w 533400"/>
                  <a:gd name="connsiteY20" fmla="*/ 186359 h 523875"/>
                  <a:gd name="connsiteX21" fmla="*/ 462827 w 533400"/>
                  <a:gd name="connsiteY21" fmla="*/ 200646 h 523875"/>
                  <a:gd name="connsiteX22" fmla="*/ 477114 w 533400"/>
                  <a:gd name="connsiteY22" fmla="*/ 186359 h 523875"/>
                  <a:gd name="connsiteX23" fmla="*/ 462827 w 533400"/>
                  <a:gd name="connsiteY23" fmla="*/ 172071 h 523875"/>
                  <a:gd name="connsiteX24" fmla="*/ 372339 w 533400"/>
                  <a:gd name="connsiteY24" fmla="*/ 621 h 523875"/>
                  <a:gd name="connsiteX25" fmla="*/ 372339 w 533400"/>
                  <a:gd name="connsiteY25" fmla="*/ 133971 h 523875"/>
                  <a:gd name="connsiteX26" fmla="*/ 162789 w 533400"/>
                  <a:gd name="connsiteY26" fmla="*/ 133971 h 523875"/>
                  <a:gd name="connsiteX27" fmla="*/ 162789 w 533400"/>
                  <a:gd name="connsiteY27" fmla="*/ 621 h 523875"/>
                  <a:gd name="connsiteX28" fmla="*/ 372339 w 533400"/>
                  <a:gd name="connsiteY28" fmla="*/ 621 h 52387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533400" h="523875">
                    <a:moveTo>
                      <a:pt x="372339" y="276846"/>
                    </a:moveTo>
                    <a:lnTo>
                      <a:pt x="372339" y="524496"/>
                    </a:lnTo>
                    <a:lnTo>
                      <a:pt x="162789" y="524496"/>
                    </a:lnTo>
                    <a:lnTo>
                      <a:pt x="162789" y="276846"/>
                    </a:lnTo>
                    <a:lnTo>
                      <a:pt x="372339" y="276846"/>
                    </a:lnTo>
                    <a:close/>
                    <a:moveTo>
                      <a:pt x="143739" y="114921"/>
                    </a:moveTo>
                    <a:lnTo>
                      <a:pt x="143739" y="153021"/>
                    </a:lnTo>
                    <a:lnTo>
                      <a:pt x="391389" y="153021"/>
                    </a:lnTo>
                    <a:lnTo>
                      <a:pt x="391389" y="114921"/>
                    </a:lnTo>
                    <a:lnTo>
                      <a:pt x="534264" y="114921"/>
                    </a:lnTo>
                    <a:lnTo>
                      <a:pt x="534264" y="410196"/>
                    </a:lnTo>
                    <a:lnTo>
                      <a:pt x="391389" y="410196"/>
                    </a:lnTo>
                    <a:lnTo>
                      <a:pt x="391389" y="257796"/>
                    </a:lnTo>
                    <a:lnTo>
                      <a:pt x="143739" y="257796"/>
                    </a:lnTo>
                    <a:lnTo>
                      <a:pt x="143739" y="410196"/>
                    </a:lnTo>
                    <a:lnTo>
                      <a:pt x="864" y="410196"/>
                    </a:lnTo>
                    <a:lnTo>
                      <a:pt x="864" y="186359"/>
                    </a:lnTo>
                    <a:lnTo>
                      <a:pt x="67539" y="114921"/>
                    </a:ln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4921" y="172071"/>
                      <a:pt x="448539" y="178453"/>
                      <a:pt x="448539" y="186359"/>
                    </a:cubicBezTo>
                    <a:cubicBezTo>
                      <a:pt x="448539" y="194264"/>
                      <a:pt x="454921" y="200646"/>
                      <a:pt x="462827" y="200646"/>
                    </a:cubicBezTo>
                    <a:cubicBezTo>
                      <a:pt x="470732" y="200646"/>
                      <a:pt x="477114" y="194264"/>
                      <a:pt x="477114" y="186359"/>
                    </a:cubicBezTo>
                    <a:cubicBezTo>
                      <a:pt x="477114" y="178453"/>
                      <a:pt x="470732" y="172071"/>
                      <a:pt x="462827" y="172071"/>
                    </a:cubicBezTo>
                    <a:close/>
                    <a:moveTo>
                      <a:pt x="372339" y="621"/>
                    </a:moveTo>
                    <a:lnTo>
                      <a:pt x="372339" y="133971"/>
                    </a:lnTo>
                    <a:lnTo>
                      <a:pt x="162789" y="133971"/>
                    </a:lnTo>
                    <a:lnTo>
                      <a:pt x="162789" y="621"/>
                    </a:lnTo>
                    <a:lnTo>
                      <a:pt x="372339" y="62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70E52B7-57F4-3BE5-51E8-22E434476C48}"/>
                </a:ext>
              </a:extLst>
            </p:cNvPr>
            <p:cNvGrpSpPr/>
            <p:nvPr/>
          </p:nvGrpSpPr>
          <p:grpSpPr>
            <a:xfrm>
              <a:off x="9085890" y="3575180"/>
              <a:ext cx="2306009" cy="1519806"/>
              <a:chOff x="9085890" y="3575180"/>
              <a:chExt cx="2306009" cy="1519806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4CFCED45-57E1-DADC-F533-5F662916022F}"/>
                  </a:ext>
                </a:extLst>
              </p:cNvPr>
              <p:cNvSpPr/>
              <p:nvPr/>
            </p:nvSpPr>
            <p:spPr bwMode="auto">
              <a:xfrm>
                <a:off x="9197403" y="3575180"/>
                <a:ext cx="388273" cy="318939"/>
              </a:xfrm>
              <a:custGeom>
                <a:gdLst>
                  <a:gd name="connsiteX0" fmla="*/ 96626 w 533400"/>
                  <a:gd name="connsiteY0" fmla="*/ 133971 h 438150"/>
                  <a:gd name="connsiteX1" fmla="*/ 125201 w 533400"/>
                  <a:gd name="connsiteY1" fmla="*/ 286371 h 438150"/>
                  <a:gd name="connsiteX2" fmla="*/ 410951 w 533400"/>
                  <a:gd name="connsiteY2" fmla="*/ 286371 h 438150"/>
                  <a:gd name="connsiteX3" fmla="*/ 439526 w 533400"/>
                  <a:gd name="connsiteY3" fmla="*/ 133971 h 438150"/>
                  <a:gd name="connsiteX4" fmla="*/ 534776 w 533400"/>
                  <a:gd name="connsiteY4" fmla="*/ 133971 h 438150"/>
                  <a:gd name="connsiteX5" fmla="*/ 515726 w 533400"/>
                  <a:gd name="connsiteY5" fmla="*/ 381621 h 438150"/>
                  <a:gd name="connsiteX6" fmla="*/ 458576 w 533400"/>
                  <a:gd name="connsiteY6" fmla="*/ 381621 h 438150"/>
                  <a:gd name="connsiteX7" fmla="*/ 458576 w 533400"/>
                  <a:gd name="connsiteY7" fmla="*/ 438771 h 438150"/>
                  <a:gd name="connsiteX8" fmla="*/ 439526 w 533400"/>
                  <a:gd name="connsiteY8" fmla="*/ 438771 h 438150"/>
                  <a:gd name="connsiteX9" fmla="*/ 439526 w 533400"/>
                  <a:gd name="connsiteY9" fmla="*/ 381621 h 438150"/>
                  <a:gd name="connsiteX10" fmla="*/ 96626 w 533400"/>
                  <a:gd name="connsiteY10" fmla="*/ 381621 h 438150"/>
                  <a:gd name="connsiteX11" fmla="*/ 96626 w 533400"/>
                  <a:gd name="connsiteY11" fmla="*/ 438771 h 438150"/>
                  <a:gd name="connsiteX12" fmla="*/ 77576 w 533400"/>
                  <a:gd name="connsiteY12" fmla="*/ 438771 h 438150"/>
                  <a:gd name="connsiteX13" fmla="*/ 77576 w 533400"/>
                  <a:gd name="connsiteY13" fmla="*/ 381621 h 438150"/>
                  <a:gd name="connsiteX14" fmla="*/ 20426 w 533400"/>
                  <a:gd name="connsiteY14" fmla="*/ 381621 h 438150"/>
                  <a:gd name="connsiteX15" fmla="*/ 1376 w 533400"/>
                  <a:gd name="connsiteY15" fmla="*/ 133971 h 438150"/>
                  <a:gd name="connsiteX16" fmla="*/ 96626 w 533400"/>
                  <a:gd name="connsiteY16" fmla="*/ 133971 h 438150"/>
                  <a:gd name="connsiteX17" fmla="*/ 487151 w 533400"/>
                  <a:gd name="connsiteY17" fmla="*/ 621 h 438150"/>
                  <a:gd name="connsiteX18" fmla="*/ 487151 w 533400"/>
                  <a:gd name="connsiteY18" fmla="*/ 114921 h 438150"/>
                  <a:gd name="connsiteX19" fmla="*/ 425239 w 533400"/>
                  <a:gd name="connsiteY19" fmla="*/ 114921 h 438150"/>
                  <a:gd name="connsiteX20" fmla="*/ 396664 w 533400"/>
                  <a:gd name="connsiteY20" fmla="*/ 267321 h 438150"/>
                  <a:gd name="connsiteX21" fmla="*/ 139489 w 533400"/>
                  <a:gd name="connsiteY21" fmla="*/ 267321 h 438150"/>
                  <a:gd name="connsiteX22" fmla="*/ 110914 w 533400"/>
                  <a:gd name="connsiteY22" fmla="*/ 114921 h 438150"/>
                  <a:gd name="connsiteX23" fmla="*/ 58526 w 533400"/>
                  <a:gd name="connsiteY23" fmla="*/ 114921 h 438150"/>
                  <a:gd name="connsiteX24" fmla="*/ 58526 w 533400"/>
                  <a:gd name="connsiteY24" fmla="*/ 621 h 438150"/>
                  <a:gd name="connsiteX25" fmla="*/ 487151 w 533400"/>
                  <a:gd name="connsiteY25" fmla="*/ 621 h 43815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33400" h="438150">
                    <a:moveTo>
                      <a:pt x="96626" y="133971"/>
                    </a:moveTo>
                    <a:lnTo>
                      <a:pt x="125201" y="286371"/>
                    </a:lnTo>
                    <a:lnTo>
                      <a:pt x="410951" y="286371"/>
                    </a:lnTo>
                    <a:lnTo>
                      <a:pt x="439526" y="133971"/>
                    </a:lnTo>
                    <a:lnTo>
                      <a:pt x="534776" y="133971"/>
                    </a:lnTo>
                    <a:lnTo>
                      <a:pt x="515726" y="381621"/>
                    </a:lnTo>
                    <a:lnTo>
                      <a:pt x="458576" y="381621"/>
                    </a:lnTo>
                    <a:lnTo>
                      <a:pt x="458576" y="438771"/>
                    </a:lnTo>
                    <a:lnTo>
                      <a:pt x="439526" y="438771"/>
                    </a:lnTo>
                    <a:lnTo>
                      <a:pt x="439526" y="381621"/>
                    </a:lnTo>
                    <a:lnTo>
                      <a:pt x="96626" y="381621"/>
                    </a:lnTo>
                    <a:lnTo>
                      <a:pt x="96626" y="438771"/>
                    </a:lnTo>
                    <a:lnTo>
                      <a:pt x="77576" y="438771"/>
                    </a:lnTo>
                    <a:lnTo>
                      <a:pt x="77576" y="381621"/>
                    </a:lnTo>
                    <a:lnTo>
                      <a:pt x="20426" y="381621"/>
                    </a:lnTo>
                    <a:lnTo>
                      <a:pt x="1376" y="133971"/>
                    </a:lnTo>
                    <a:lnTo>
                      <a:pt x="96626" y="133971"/>
                    </a:lnTo>
                    <a:close/>
                    <a:moveTo>
                      <a:pt x="487151" y="621"/>
                    </a:moveTo>
                    <a:lnTo>
                      <a:pt x="487151" y="114921"/>
                    </a:lnTo>
                    <a:lnTo>
                      <a:pt x="425239" y="114921"/>
                    </a:lnTo>
                    <a:lnTo>
                      <a:pt x="396664" y="267321"/>
                    </a:lnTo>
                    <a:lnTo>
                      <a:pt x="139489" y="267321"/>
                    </a:lnTo>
                    <a:lnTo>
                      <a:pt x="110914" y="114921"/>
                    </a:lnTo>
                    <a:lnTo>
                      <a:pt x="58526" y="114921"/>
                    </a:lnTo>
                    <a:lnTo>
                      <a:pt x="58526" y="621"/>
                    </a:lnTo>
                    <a:lnTo>
                      <a:pt x="487151" y="62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E07950-D0E1-05F8-F64D-6E9DC7F47D37}"/>
                  </a:ext>
                </a:extLst>
              </p:cNvPr>
              <p:cNvSpPr/>
              <p:nvPr/>
            </p:nvSpPr>
            <p:spPr>
              <a:xfrm flipH="1">
                <a:off x="9085890" y="4356963"/>
                <a:ext cx="2306009" cy="73802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参加公开课程，了解最新的职业技能和工作方法，提高自己的职业素养。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70EA8E-6AB4-5203-19F1-332BFD9363F8}"/>
                  </a:ext>
                </a:extLst>
              </p:cNvPr>
              <p:cNvSpPr txBox="1"/>
              <p:nvPr/>
            </p:nvSpPr>
            <p:spPr>
              <a:xfrm>
                <a:off x="9085891" y="4047426"/>
                <a:ext cx="230600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>
                    <a:solidFill>
                      <a:schemeClr val="tx1"/>
                    </a:solidFill>
                    <a:effectLst/>
                  </a:rPr>
                  <a:t>参加公开课程</a:t>
                </a:r>
                <a:endParaRPr lang="en-US" altLang="zh-CN" sz="14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D004720-9826-6200-ADDC-86A72ADF84BD}"/>
                </a:ext>
              </a:extLst>
            </p:cNvPr>
            <p:cNvGrpSpPr/>
            <p:nvPr/>
          </p:nvGrpSpPr>
          <p:grpSpPr>
            <a:xfrm>
              <a:off x="3772241" y="3557846"/>
              <a:ext cx="2306009" cy="1364076"/>
              <a:chOff x="3772241" y="3557846"/>
              <a:chExt cx="2306009" cy="1364076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90C6A3C-42F7-B2F1-7423-8C9F7C7B6A4F}"/>
                  </a:ext>
                </a:extLst>
              </p:cNvPr>
              <p:cNvSpPr/>
              <p:nvPr/>
            </p:nvSpPr>
            <p:spPr bwMode="auto">
              <a:xfrm>
                <a:off x="3883739" y="3557846"/>
                <a:ext cx="388274" cy="353607"/>
              </a:xfrm>
              <a:custGeom>
                <a:gdLst>
                  <a:gd name="connsiteX0" fmla="*/ 125329 w 533400"/>
                  <a:gd name="connsiteY0" fmla="*/ 229221 h 485775"/>
                  <a:gd name="connsiteX1" fmla="*/ 125329 w 533400"/>
                  <a:gd name="connsiteY1" fmla="*/ 276846 h 485775"/>
                  <a:gd name="connsiteX2" fmla="*/ 144379 w 533400"/>
                  <a:gd name="connsiteY2" fmla="*/ 276846 h 485775"/>
                  <a:gd name="connsiteX3" fmla="*/ 144379 w 533400"/>
                  <a:gd name="connsiteY3" fmla="*/ 229221 h 485775"/>
                  <a:gd name="connsiteX4" fmla="*/ 392029 w 533400"/>
                  <a:gd name="connsiteY4" fmla="*/ 229221 h 485775"/>
                  <a:gd name="connsiteX5" fmla="*/ 392029 w 533400"/>
                  <a:gd name="connsiteY5" fmla="*/ 276846 h 485775"/>
                  <a:gd name="connsiteX6" fmla="*/ 411079 w 533400"/>
                  <a:gd name="connsiteY6" fmla="*/ 276846 h 485775"/>
                  <a:gd name="connsiteX7" fmla="*/ 411079 w 533400"/>
                  <a:gd name="connsiteY7" fmla="*/ 229221 h 485775"/>
                  <a:gd name="connsiteX8" fmla="*/ 534904 w 533400"/>
                  <a:gd name="connsiteY8" fmla="*/ 229221 h 485775"/>
                  <a:gd name="connsiteX9" fmla="*/ 534904 w 533400"/>
                  <a:gd name="connsiteY9" fmla="*/ 486396 h 485775"/>
                  <a:gd name="connsiteX10" fmla="*/ 1504 w 533400"/>
                  <a:gd name="connsiteY10" fmla="*/ 486396 h 485775"/>
                  <a:gd name="connsiteX11" fmla="*/ 1504 w 533400"/>
                  <a:gd name="connsiteY11" fmla="*/ 229221 h 485775"/>
                  <a:gd name="connsiteX12" fmla="*/ 125329 w 533400"/>
                  <a:gd name="connsiteY12" fmla="*/ 229221 h 485775"/>
                  <a:gd name="connsiteX13" fmla="*/ 411079 w 533400"/>
                  <a:gd name="connsiteY13" fmla="*/ 621 h 485775"/>
                  <a:gd name="connsiteX14" fmla="*/ 411079 w 533400"/>
                  <a:gd name="connsiteY14" fmla="*/ 114921 h 485775"/>
                  <a:gd name="connsiteX15" fmla="*/ 534904 w 533400"/>
                  <a:gd name="connsiteY15" fmla="*/ 114921 h 485775"/>
                  <a:gd name="connsiteX16" fmla="*/ 534904 w 533400"/>
                  <a:gd name="connsiteY16" fmla="*/ 210171 h 485775"/>
                  <a:gd name="connsiteX17" fmla="*/ 1504 w 533400"/>
                  <a:gd name="connsiteY17" fmla="*/ 210171 h 485775"/>
                  <a:gd name="connsiteX18" fmla="*/ 1504 w 533400"/>
                  <a:gd name="connsiteY18" fmla="*/ 114921 h 485775"/>
                  <a:gd name="connsiteX19" fmla="*/ 125329 w 533400"/>
                  <a:gd name="connsiteY19" fmla="*/ 114921 h 485775"/>
                  <a:gd name="connsiteX20" fmla="*/ 125329 w 533400"/>
                  <a:gd name="connsiteY20" fmla="*/ 621 h 485775"/>
                  <a:gd name="connsiteX21" fmla="*/ 411079 w 533400"/>
                  <a:gd name="connsiteY21" fmla="*/ 621 h 485775"/>
                  <a:gd name="connsiteX22" fmla="*/ 392029 w 533400"/>
                  <a:gd name="connsiteY22" fmla="*/ 19671 h 485775"/>
                  <a:gd name="connsiteX23" fmla="*/ 144379 w 533400"/>
                  <a:gd name="connsiteY23" fmla="*/ 19671 h 485775"/>
                  <a:gd name="connsiteX24" fmla="*/ 144379 w 533400"/>
                  <a:gd name="connsiteY24" fmla="*/ 114921 h 485775"/>
                  <a:gd name="connsiteX25" fmla="*/ 392029 w 533400"/>
                  <a:gd name="connsiteY25" fmla="*/ 114921 h 485775"/>
                  <a:gd name="connsiteX26" fmla="*/ 392029 w 533400"/>
                  <a:gd name="connsiteY26" fmla="*/ 19671 h 48577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3400" h="485775">
                    <a:moveTo>
                      <a:pt x="125329" y="229221"/>
                    </a:moveTo>
                    <a:lnTo>
                      <a:pt x="125329" y="276846"/>
                    </a:lnTo>
                    <a:lnTo>
                      <a:pt x="144379" y="276846"/>
                    </a:lnTo>
                    <a:lnTo>
                      <a:pt x="144379" y="229221"/>
                    </a:lnTo>
                    <a:lnTo>
                      <a:pt x="392029" y="229221"/>
                    </a:lnTo>
                    <a:lnTo>
                      <a:pt x="392029" y="276846"/>
                    </a:lnTo>
                    <a:lnTo>
                      <a:pt x="411079" y="276846"/>
                    </a:lnTo>
                    <a:lnTo>
                      <a:pt x="411079" y="229221"/>
                    </a:lnTo>
                    <a:lnTo>
                      <a:pt x="534904" y="229221"/>
                    </a:lnTo>
                    <a:lnTo>
                      <a:pt x="534904" y="486396"/>
                    </a:lnTo>
                    <a:lnTo>
                      <a:pt x="1504" y="486396"/>
                    </a:lnTo>
                    <a:lnTo>
                      <a:pt x="1504" y="229221"/>
                    </a:lnTo>
                    <a:lnTo>
                      <a:pt x="125329" y="229221"/>
                    </a:lnTo>
                    <a:close/>
                    <a:moveTo>
                      <a:pt x="411079" y="621"/>
                    </a:moveTo>
                    <a:lnTo>
                      <a:pt x="411079" y="114921"/>
                    </a:lnTo>
                    <a:lnTo>
                      <a:pt x="534904" y="114921"/>
                    </a:lnTo>
                    <a:lnTo>
                      <a:pt x="534904" y="210171"/>
                    </a:lnTo>
                    <a:lnTo>
                      <a:pt x="1504" y="210171"/>
                    </a:lnTo>
                    <a:lnTo>
                      <a:pt x="1504" y="114921"/>
                    </a:lnTo>
                    <a:lnTo>
                      <a:pt x="125329" y="114921"/>
                    </a:lnTo>
                    <a:lnTo>
                      <a:pt x="125329" y="621"/>
                    </a:lnTo>
                    <a:lnTo>
                      <a:pt x="411079" y="621"/>
                    </a:lnTo>
                    <a:close/>
                    <a:moveTo>
                      <a:pt x="392029" y="19671"/>
                    </a:moveTo>
                    <a:lnTo>
                      <a:pt x="144379" y="19671"/>
                    </a:lnTo>
                    <a:lnTo>
                      <a:pt x="144379" y="114921"/>
                    </a:lnTo>
                    <a:lnTo>
                      <a:pt x="392029" y="114921"/>
                    </a:lnTo>
                    <a:lnTo>
                      <a:pt x="392029" y="196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3E83F5C-735F-C2CB-F736-512C8BFFEF30}"/>
                  </a:ext>
                </a:extLst>
              </p:cNvPr>
              <p:cNvSpPr/>
              <p:nvPr/>
            </p:nvSpPr>
            <p:spPr>
              <a:xfrm flipH="1">
                <a:off x="3772241" y="4405499"/>
                <a:ext cx="2306009" cy="51642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利用公司提供的各种培训机会，提高专业技能和职业素养。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E51042-5E44-5323-6D5D-3A9348E7D1EC}"/>
                  </a:ext>
                </a:extLst>
              </p:cNvPr>
              <p:cNvSpPr txBox="1"/>
              <p:nvPr/>
            </p:nvSpPr>
            <p:spPr>
              <a:xfrm>
                <a:off x="3772242" y="4095962"/>
                <a:ext cx="230600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>
                    <a:solidFill>
                      <a:schemeClr val="tx1"/>
                    </a:solidFill>
                    <a:effectLst/>
                  </a:rPr>
                  <a:t>参加公司培训</a:t>
                </a:r>
                <a:endParaRPr lang="en-US" altLang="zh-CN" sz="14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1C7241F-C940-8798-E9BD-584EF83B7700}"/>
                </a:ext>
              </a:extLst>
            </p:cNvPr>
            <p:cNvGrpSpPr/>
            <p:nvPr/>
          </p:nvGrpSpPr>
          <p:grpSpPr>
            <a:xfrm>
              <a:off x="1115417" y="3540512"/>
              <a:ext cx="2306009" cy="1610823"/>
              <a:chOff x="1115417" y="3540512"/>
              <a:chExt cx="2306009" cy="1610823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30002F6-420A-EB0E-9581-1CB57826F875}"/>
                  </a:ext>
                </a:extLst>
              </p:cNvPr>
              <p:cNvSpPr/>
              <p:nvPr/>
            </p:nvSpPr>
            <p:spPr bwMode="auto">
              <a:xfrm>
                <a:off x="1214276" y="3540512"/>
                <a:ext cx="318940" cy="388274"/>
              </a:xfrm>
              <a:custGeom>
                <a:gdLst>
                  <a:gd name="connsiteX0" fmla="*/ 286102 w 438150"/>
                  <a:gd name="connsiteY0" fmla="*/ 621 h 533400"/>
                  <a:gd name="connsiteX1" fmla="*/ 286102 w 438150"/>
                  <a:gd name="connsiteY1" fmla="*/ 153021 h 533400"/>
                  <a:gd name="connsiteX2" fmla="*/ 438502 w 438150"/>
                  <a:gd name="connsiteY2" fmla="*/ 153021 h 533400"/>
                  <a:gd name="connsiteX3" fmla="*/ 438502 w 438150"/>
                  <a:gd name="connsiteY3" fmla="*/ 534021 h 533400"/>
                  <a:gd name="connsiteX4" fmla="*/ 352 w 438150"/>
                  <a:gd name="connsiteY4" fmla="*/ 534021 h 533400"/>
                  <a:gd name="connsiteX5" fmla="*/ 352 w 438150"/>
                  <a:gd name="connsiteY5" fmla="*/ 621 h 533400"/>
                  <a:gd name="connsiteX6" fmla="*/ 286102 w 438150"/>
                  <a:gd name="connsiteY6" fmla="*/ 621 h 533400"/>
                  <a:gd name="connsiteX7" fmla="*/ 248002 w 438150"/>
                  <a:gd name="connsiteY7" fmla="*/ 200646 h 533400"/>
                  <a:gd name="connsiteX8" fmla="*/ 152752 w 438150"/>
                  <a:gd name="connsiteY8" fmla="*/ 200646 h 533400"/>
                  <a:gd name="connsiteX9" fmla="*/ 152752 w 438150"/>
                  <a:gd name="connsiteY9" fmla="*/ 410196 h 533400"/>
                  <a:gd name="connsiteX10" fmla="*/ 171802 w 438150"/>
                  <a:gd name="connsiteY10" fmla="*/ 410196 h 533400"/>
                  <a:gd name="connsiteX11" fmla="*/ 171802 w 438150"/>
                  <a:gd name="connsiteY11" fmla="*/ 314946 h 533400"/>
                  <a:gd name="connsiteX12" fmla="*/ 248002 w 438150"/>
                  <a:gd name="connsiteY12" fmla="*/ 314946 h 533400"/>
                  <a:gd name="connsiteX13" fmla="*/ 250098 w 438150"/>
                  <a:gd name="connsiteY13" fmla="*/ 314946 h 533400"/>
                  <a:gd name="connsiteX14" fmla="*/ 305152 w 438150"/>
                  <a:gd name="connsiteY14" fmla="*/ 257796 h 533400"/>
                  <a:gd name="connsiteX15" fmla="*/ 248002 w 438150"/>
                  <a:gd name="connsiteY15" fmla="*/ 200646 h 533400"/>
                  <a:gd name="connsiteX16" fmla="*/ 248002 w 438150"/>
                  <a:gd name="connsiteY16" fmla="*/ 200646 h 533400"/>
                  <a:gd name="connsiteX17" fmla="*/ 248002 w 438150"/>
                  <a:gd name="connsiteY17" fmla="*/ 219696 h 533400"/>
                  <a:gd name="connsiteX18" fmla="*/ 286102 w 438150"/>
                  <a:gd name="connsiteY18" fmla="*/ 257796 h 533400"/>
                  <a:gd name="connsiteX19" fmla="*/ 248002 w 438150"/>
                  <a:gd name="connsiteY19" fmla="*/ 295896 h 533400"/>
                  <a:gd name="connsiteX20" fmla="*/ 248002 w 438150"/>
                  <a:gd name="connsiteY20" fmla="*/ 295896 h 533400"/>
                  <a:gd name="connsiteX21" fmla="*/ 171802 w 438150"/>
                  <a:gd name="connsiteY21" fmla="*/ 295896 h 533400"/>
                  <a:gd name="connsiteX22" fmla="*/ 171802 w 438150"/>
                  <a:gd name="connsiteY22" fmla="*/ 219696 h 533400"/>
                  <a:gd name="connsiteX23" fmla="*/ 248002 w 438150"/>
                  <a:gd name="connsiteY23" fmla="*/ 219696 h 533400"/>
                  <a:gd name="connsiteX24" fmla="*/ 428977 w 438150"/>
                  <a:gd name="connsiteY24" fmla="*/ 133971 h 533400"/>
                  <a:gd name="connsiteX25" fmla="*/ 305152 w 438150"/>
                  <a:gd name="connsiteY25" fmla="*/ 133971 h 533400"/>
                  <a:gd name="connsiteX26" fmla="*/ 305152 w 438150"/>
                  <a:gd name="connsiteY26" fmla="*/ 10146 h 533400"/>
                  <a:gd name="connsiteX27" fmla="*/ 428977 w 438150"/>
                  <a:gd name="connsiteY27" fmla="*/ 133971 h 533400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38150" h="533400">
                    <a:moveTo>
                      <a:pt x="286102" y="621"/>
                    </a:moveTo>
                    <a:lnTo>
                      <a:pt x="286102" y="153021"/>
                    </a:lnTo>
                    <a:lnTo>
                      <a:pt x="438502" y="153021"/>
                    </a:lnTo>
                    <a:lnTo>
                      <a:pt x="438502" y="534021"/>
                    </a:lnTo>
                    <a:lnTo>
                      <a:pt x="352" y="534021"/>
                    </a:lnTo>
                    <a:lnTo>
                      <a:pt x="352" y="621"/>
                    </a:lnTo>
                    <a:lnTo>
                      <a:pt x="286102" y="621"/>
                    </a:lnTo>
                    <a:close/>
                    <a:moveTo>
                      <a:pt x="248002" y="200646"/>
                    </a:moveTo>
                    <a:lnTo>
                      <a:pt x="152752" y="200646"/>
                    </a:lnTo>
                    <a:lnTo>
                      <a:pt x="152752" y="410196"/>
                    </a:lnTo>
                    <a:lnTo>
                      <a:pt x="171802" y="410196"/>
                    </a:lnTo>
                    <a:lnTo>
                      <a:pt x="171802" y="314946"/>
                    </a:lnTo>
                    <a:lnTo>
                      <a:pt x="248002" y="314946"/>
                    </a:lnTo>
                    <a:lnTo>
                      <a:pt x="250098" y="314946"/>
                    </a:lnTo>
                    <a:cubicBezTo>
                      <a:pt x="280673" y="313803"/>
                      <a:pt x="305152" y="288657"/>
                      <a:pt x="305152" y="257796"/>
                    </a:cubicBezTo>
                    <a:cubicBezTo>
                      <a:pt x="305152" y="226268"/>
                      <a:pt x="279530" y="200646"/>
                      <a:pt x="248002" y="200646"/>
                    </a:cubicBez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cubicBezTo>
                      <a:pt x="269052" y="219696"/>
                      <a:pt x="286102" y="236746"/>
                      <a:pt x="286102" y="257796"/>
                    </a:cubicBezTo>
                    <a:cubicBezTo>
                      <a:pt x="286102" y="278846"/>
                      <a:pt x="269052" y="295896"/>
                      <a:pt x="248002" y="295896"/>
                    </a:cubicBezTo>
                    <a:lnTo>
                      <a:pt x="248002" y="295896"/>
                    </a:lnTo>
                    <a:lnTo>
                      <a:pt x="171802" y="295896"/>
                    </a:lnTo>
                    <a:lnTo>
                      <a:pt x="171802" y="219696"/>
                    </a:lnTo>
                    <a:lnTo>
                      <a:pt x="248002" y="219696"/>
                    </a:lnTo>
                    <a:close/>
                    <a:moveTo>
                      <a:pt x="428977" y="133971"/>
                    </a:moveTo>
                    <a:lnTo>
                      <a:pt x="305152" y="133971"/>
                    </a:lnTo>
                    <a:lnTo>
                      <a:pt x="305152" y="10146"/>
                    </a:lnTo>
                    <a:lnTo>
                      <a:pt x="428977" y="1339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689E5F9-1948-0814-A8B5-AA730CB36CE8}"/>
                  </a:ext>
                </a:extLst>
              </p:cNvPr>
              <p:cNvSpPr/>
              <p:nvPr/>
            </p:nvSpPr>
            <p:spPr>
              <a:xfrm flipH="1">
                <a:off x="1115417" y="4413312"/>
                <a:ext cx="2306009" cy="73802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1" lang="zh-CN" altLang="en-US" sz="1200" err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利用各种资源，自主学习新知识和技能，扩大自己的知识储备。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B6F2FCB-A6F9-B2AF-F5B6-50123B545AD2}"/>
                  </a:ext>
                </a:extLst>
              </p:cNvPr>
              <p:cNvSpPr txBox="1"/>
              <p:nvPr/>
            </p:nvSpPr>
            <p:spPr>
              <a:xfrm>
                <a:off x="1115418" y="4103775"/>
                <a:ext cx="230600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b" anchorCtr="0">
                <a:normAutofit fontScale="92500" lnSpcReduction="1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>
                    <a:solidFill>
                      <a:schemeClr val="tx1"/>
                    </a:solidFill>
                    <a:effectLst/>
                  </a:rPr>
                  <a:t>自主学习</a:t>
                </a:r>
                <a:endParaRPr lang="en-US" altLang="zh-CN" sz="1400" b="1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48B794-6F2F-1855-F086-CA47786CFA34}"/>
                </a:ext>
              </a:extLst>
            </p:cNvPr>
            <p:cNvSpPr txBox="1"/>
            <p:nvPr/>
          </p:nvSpPr>
          <p:spPr>
            <a:xfrm>
              <a:off x="1951721" y="1359918"/>
              <a:ext cx="8300191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sp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solidFill>
                    <a:schemeClr val="tx1"/>
                  </a:solidFill>
                </a:rPr>
                <a:t>提高技能，展现优势</a:t>
              </a:r>
              <a:endPara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237F97-3A4F-7BD0-F317-14C2FB50A2EA}"/>
                </a:ext>
              </a:extLst>
            </p:cNvPr>
            <p:cNvSpPr/>
            <p:nvPr/>
          </p:nvSpPr>
          <p:spPr>
            <a:xfrm flipH="1">
              <a:off x="2689615" y="1889556"/>
              <a:ext cx="6824402" cy="294824"/>
            </a:xfrm>
            <a:prstGeom prst="rect">
              <a:avLst/>
            </a:prstGeom>
            <a:ln>
              <a:noFill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kumimoji="1" lang="zh-CN" altLang="en-US" sz="12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员工应该不断学习新技能，以提高自身竞争力和职业发展，展现个人优势。</a:t>
              </a:r>
            </a:p>
          </p:txBody>
        </p:sp>
      </p:grpSp>
      <p:sp>
        <p:nvSpPr>
          <p:cNvPr id="26" name="Title 25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提升自我的途径</a:t>
            </a:r>
          </a:p>
        </p:txBody>
      </p:sp>
    </p:spTree>
    <p:custDataLst>
      <p:tags r:id="rId2"/>
    </p:custDataLst>
    <p:extLst>
      <p:ext uri="{BB962C8B-B14F-4D97-AF65-F5344CB8AC3E}">
        <p14:creationId val="287827437"/>
      </p:ext>
    </p:extLst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Group 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9A7D489-026F-46C8-AD84-49E93D157431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1130300"/>
            <a:ext cx="12192000" cy="5013325"/>
            <a:chOff x="0" y="1130300"/>
            <a:chExt cx="12192000" cy="501332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8221EBB-0697-455D-8776-29B5D07B249B}"/>
                </a:ext>
              </a:extLst>
            </p:cNvPr>
            <p:cNvSpPr/>
            <p:nvPr/>
          </p:nvSpPr>
          <p:spPr>
            <a:xfrm>
              <a:off x="0" y="3654000"/>
              <a:ext cx="12192000" cy="2489625"/>
            </a:xfrm>
            <a:prstGeom prst="roundRect">
              <a:avLst>
                <a:gd name="adj" fmla="val 750"/>
              </a:avLst>
            </a:prstGeom>
            <a:solidFill>
              <a:schemeClr val="tx1">
                <a:lumMod val="50000"/>
                <a:lumOff val="50000"/>
              </a:schemeClr>
            </a:solidFill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>
                <a:lnSpc>
                  <a:spcPct val="150000"/>
                </a:lnSpc>
              </a:pPr>
              <a:endParaRPr lang="zh-CN" altLang="en-US" sz="100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7719953-E0E0-4276-AADC-6D959C3D6A02}"/>
                </a:ext>
              </a:extLst>
            </p:cNvPr>
            <p:cNvGrpSpPr/>
            <p:nvPr/>
          </p:nvGrpSpPr>
          <p:grpSpPr>
            <a:xfrm>
              <a:off x="660400" y="4549453"/>
              <a:ext cx="3171329" cy="944997"/>
              <a:chOff x="983204" y="4549453"/>
              <a:chExt cx="2108063" cy="9449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24D60AE-06B1-4144-9288-3F7A1906A543}"/>
                  </a:ext>
                </a:extLst>
              </p:cNvPr>
              <p:cNvSpPr/>
              <p:nvPr/>
            </p:nvSpPr>
            <p:spPr bwMode="auto">
              <a:xfrm>
                <a:off x="983204" y="4937051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solidFill>
                      <a:schemeClr val="bg1"/>
                    </a:solidFill>
                  </a:rPr>
                  <a:t>培训课程选择：提升专业技能和知识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0B98B8-63C4-4517-BB78-647A5093E3AF}"/>
                  </a:ext>
                </a:extLst>
              </p:cNvPr>
              <p:cNvSpPr txBox="1"/>
              <p:nvPr/>
            </p:nvSpPr>
            <p:spPr bwMode="auto">
              <a:xfrm>
                <a:off x="983204" y="4549453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b="1">
                    <a:solidFill>
                      <a:schemeClr val="bg1"/>
                    </a:solidFill>
                  </a:rPr>
                  <a:t>多样化培训课程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21E05CD-7341-4782-A1B8-FBFCEC32812B}"/>
                </a:ext>
              </a:extLst>
            </p:cNvPr>
            <p:cNvGrpSpPr/>
            <p:nvPr/>
          </p:nvGrpSpPr>
          <p:grpSpPr>
            <a:xfrm>
              <a:off x="1496699" y="2662368"/>
              <a:ext cx="1498730" cy="1652180"/>
              <a:chOff x="1286801" y="2585971"/>
              <a:chExt cx="1637331" cy="180497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066F9C17-AEE5-4DBD-B6CF-4F985F1DBF44}"/>
                  </a:ext>
                </a:extLst>
              </p:cNvPr>
              <p:cNvSpPr/>
              <p:nvPr/>
            </p:nvSpPr>
            <p:spPr>
              <a:xfrm>
                <a:off x="1286801" y="2917055"/>
                <a:ext cx="1637331" cy="1473889"/>
              </a:xfrm>
              <a:prstGeom prst="roundRect">
                <a:avLst>
                  <a:gd name="adj" fmla="val 8050"/>
                </a:avLst>
              </a:prstGeom>
              <a:blipFill rotWithShape="0">
                <a:blip r:embed="rId2"/>
                <a:stretch>
                  <a:fillRect l="-17590" r="-17590"/>
                </a:stretch>
              </a:blipFill>
              <a:ln w="38100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14A44B3-C08C-42BF-B10F-6E12F99CA0C6}"/>
                  </a:ext>
                </a:extLst>
              </p:cNvPr>
              <p:cNvSpPr/>
              <p:nvPr/>
            </p:nvSpPr>
            <p:spPr bwMode="auto">
              <a:xfrm>
                <a:off x="1773505" y="2585971"/>
                <a:ext cx="663923" cy="66216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txBody>
              <a:bodyPr vert="horz" wrap="square" lIns="91440" tIns="45720" rIns="91440" bIns="45720" anchor="ctr" anchorCtr="1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/>
                <a:endParaRPr lang="en-US" sz="24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6828B938-07B1-4B49-BAD8-3B2461BCF8FA}"/>
                  </a:ext>
                </a:extLst>
              </p:cNvPr>
              <p:cNvSpPr/>
              <p:nvPr/>
            </p:nvSpPr>
            <p:spPr bwMode="auto">
              <a:xfrm>
                <a:off x="1945798" y="2763450"/>
                <a:ext cx="319336" cy="307208"/>
              </a:xfrm>
              <a:custGeom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116D814-0383-467F-8B8F-C4C555BF35CE}"/>
                </a:ext>
              </a:extLst>
            </p:cNvPr>
            <p:cNvCxnSpPr/>
            <p:nvPr/>
          </p:nvCxnSpPr>
          <p:spPr>
            <a:xfrm flipH="1">
              <a:off x="8011443" y="4323699"/>
              <a:ext cx="0" cy="167203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F80D407-80CE-4FA7-9384-38DDFC410F0C}"/>
                </a:ext>
              </a:extLst>
            </p:cNvPr>
            <p:cNvSpPr txBox="1"/>
            <p:nvPr/>
          </p:nvSpPr>
          <p:spPr>
            <a:xfrm>
              <a:off x="673099" y="1130300"/>
              <a:ext cx="10845800" cy="5819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solidFill>
                    <a:schemeClr val="tx1"/>
                  </a:solidFill>
                </a:rPr>
                <a:t>培养自我学习的能力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DC521BF-BD7C-4110-8907-32071B0BB7B9}"/>
                </a:ext>
              </a:extLst>
            </p:cNvPr>
            <p:cNvSpPr txBox="1"/>
            <p:nvPr/>
          </p:nvSpPr>
          <p:spPr>
            <a:xfrm>
              <a:off x="673101" y="1712226"/>
              <a:ext cx="10845796" cy="5944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</a:rPr>
                <a:t>不断学习和提升自己的能力是实现个人和职业目标的关键。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04E14E4-6ED1-430A-83A7-6BC7E4271C0A}"/>
                </a:ext>
              </a:extLst>
            </p:cNvPr>
            <p:cNvGrpSpPr/>
            <p:nvPr/>
          </p:nvGrpSpPr>
          <p:grpSpPr>
            <a:xfrm>
              <a:off x="8347571" y="4549453"/>
              <a:ext cx="3171329" cy="944997"/>
              <a:chOff x="983204" y="4549453"/>
              <a:chExt cx="2108063" cy="944997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54F30A2-8F80-402D-B05A-D1D502BF59C9}"/>
                  </a:ext>
                </a:extLst>
              </p:cNvPr>
              <p:cNvSpPr/>
              <p:nvPr/>
            </p:nvSpPr>
            <p:spPr bwMode="auto">
              <a:xfrm>
                <a:off x="983204" y="4937051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solidFill>
                      <a:schemeClr val="bg1"/>
                    </a:solidFill>
                  </a:rPr>
                  <a:t>向上级或同事寻求反馈和指导，不断改进自己的工作表现和技能水平。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BF57E38-EA41-4CFF-8A27-381A558E1196}"/>
                  </a:ext>
                </a:extLst>
              </p:cNvPr>
              <p:cNvSpPr txBox="1"/>
              <p:nvPr/>
            </p:nvSpPr>
            <p:spPr bwMode="auto">
              <a:xfrm>
                <a:off x="983204" y="4549453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b="1">
                    <a:solidFill>
                      <a:schemeClr val="bg1"/>
                    </a:solidFill>
                  </a:rPr>
                  <a:t>寻求反馈指导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6DE292B-B64A-4FE2-88EE-2FD9F9E3F041}"/>
                </a:ext>
              </a:extLst>
            </p:cNvPr>
            <p:cNvGrpSpPr/>
            <p:nvPr/>
          </p:nvGrpSpPr>
          <p:grpSpPr>
            <a:xfrm>
              <a:off x="9183870" y="2662368"/>
              <a:ext cx="1498730" cy="1652180"/>
              <a:chOff x="1286801" y="2585971"/>
              <a:chExt cx="1637331" cy="180497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747DCA6F-DB4B-4E39-8967-DC962EB84B4F}"/>
                  </a:ext>
                </a:extLst>
              </p:cNvPr>
              <p:cNvSpPr/>
              <p:nvPr/>
            </p:nvSpPr>
            <p:spPr>
              <a:xfrm>
                <a:off x="1286801" y="2917055"/>
                <a:ext cx="1637331" cy="1473889"/>
              </a:xfrm>
              <a:prstGeom prst="roundRect">
                <a:avLst>
                  <a:gd name="adj" fmla="val 8050"/>
                </a:avLst>
              </a:prstGeom>
              <a:blipFill rotWithShape="0">
                <a:blip r:embed="rId2"/>
                <a:stretch>
                  <a:fillRect l="-17590" r="-17590"/>
                </a:stretch>
              </a:blipFill>
              <a:ln w="38100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6B0EDCD-D554-413E-884D-68F37355F633}"/>
                  </a:ext>
                </a:extLst>
              </p:cNvPr>
              <p:cNvSpPr/>
              <p:nvPr/>
            </p:nvSpPr>
            <p:spPr bwMode="auto">
              <a:xfrm>
                <a:off x="1773505" y="2585971"/>
                <a:ext cx="663923" cy="66216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</p:spPr>
            <p:txBody>
              <a:bodyPr vert="horz" wrap="square" lIns="91440" tIns="45720" rIns="91440" bIns="45720" anchor="ctr" anchorCtr="1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/>
                <a:endParaRPr lang="en-US" sz="24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3B1193E-488A-4C91-9498-CD3367E54E50}"/>
                  </a:ext>
                </a:extLst>
              </p:cNvPr>
              <p:cNvSpPr/>
              <p:nvPr/>
            </p:nvSpPr>
            <p:spPr bwMode="auto">
              <a:xfrm>
                <a:off x="1945798" y="2763450"/>
                <a:ext cx="319336" cy="307208"/>
              </a:xfrm>
              <a:custGeom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5B57C49-966E-4216-ADAC-0C805151A906}"/>
                </a:ext>
              </a:extLst>
            </p:cNvPr>
            <p:cNvGrpSpPr/>
            <p:nvPr/>
          </p:nvGrpSpPr>
          <p:grpSpPr>
            <a:xfrm>
              <a:off x="4503986" y="4549453"/>
              <a:ext cx="3171329" cy="944997"/>
              <a:chOff x="983204" y="4549453"/>
              <a:chExt cx="2108063" cy="9449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E99A1D5-DAA7-4C93-BCBE-E0F8E146E113}"/>
                  </a:ext>
                </a:extLst>
              </p:cNvPr>
              <p:cNvSpPr/>
              <p:nvPr/>
            </p:nvSpPr>
            <p:spPr bwMode="auto">
              <a:xfrm>
                <a:off x="983204" y="4937051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1200">
                    <a:solidFill>
                      <a:schemeClr val="bg1"/>
                    </a:solidFill>
                  </a:rPr>
                  <a:t>利用公司提供的培训机会，不断提升自己的工作能力和竞争力。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D3489B-4BE1-4B6F-8603-B60C2F9CD710}"/>
                  </a:ext>
                </a:extLst>
              </p:cNvPr>
              <p:cNvSpPr txBox="1"/>
              <p:nvPr/>
            </p:nvSpPr>
            <p:spPr bwMode="auto">
              <a:xfrm>
                <a:off x="983204" y="4549453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US" sz="1600" b="1">
                    <a:solidFill>
                      <a:schemeClr val="bg1"/>
                    </a:solidFill>
                  </a:rPr>
                  <a:t>参与内部培训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349B55C-471C-4933-87C7-5DC84BF88F4F}"/>
                </a:ext>
              </a:extLst>
            </p:cNvPr>
            <p:cNvGrpSpPr/>
            <p:nvPr/>
          </p:nvGrpSpPr>
          <p:grpSpPr>
            <a:xfrm>
              <a:off x="5340284" y="2662368"/>
              <a:ext cx="1498730" cy="1652180"/>
              <a:chOff x="1286801" y="2585971"/>
              <a:chExt cx="1637331" cy="1804973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54109800-EB99-4E1F-8068-016FB5323F7B}"/>
                  </a:ext>
                </a:extLst>
              </p:cNvPr>
              <p:cNvSpPr/>
              <p:nvPr/>
            </p:nvSpPr>
            <p:spPr>
              <a:xfrm>
                <a:off x="1286801" y="2917055"/>
                <a:ext cx="1637331" cy="1473889"/>
              </a:xfrm>
              <a:prstGeom prst="roundRect">
                <a:avLst>
                  <a:gd name="adj" fmla="val 8050"/>
                </a:avLst>
              </a:prstGeom>
              <a:blipFill rotWithShape="0">
                <a:blip r:embed="rId2"/>
                <a:stretch>
                  <a:fillRect l="-17590" r="-17590"/>
                </a:stretch>
              </a:blipFill>
              <a:ln w="38100">
                <a:solidFill>
                  <a:schemeClr val="bg1"/>
                </a:solidFill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4080C3C-4727-4CCF-BF42-1A4DBFA49DAC}"/>
                  </a:ext>
                </a:extLst>
              </p:cNvPr>
              <p:cNvSpPr/>
              <p:nvPr/>
            </p:nvSpPr>
            <p:spPr bwMode="auto">
              <a:xfrm>
                <a:off x="1773505" y="2585971"/>
                <a:ext cx="663923" cy="662167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2"/>
                </a:solidFill>
              </a:ln>
            </p:spPr>
            <p:txBody>
              <a:bodyPr vert="horz" wrap="square" lIns="91440" tIns="45720" rIns="91440" bIns="45720" anchor="ctr" anchorCtr="1" compatLnSpc="1">
                <a:prstTxWarp prst="textNoShape">
                  <a:avLst/>
                </a:prstTxWarp>
                <a:normAutofit lnSpcReduction="10000"/>
              </a:bodyPr>
              <a:lstStyle/>
              <a:p>
                <a:pPr algn="ctr"/>
                <a:endParaRPr lang="en-US" sz="2400" b="1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A9BD9FA-2DE7-4548-B255-2A054F25C2E2}"/>
                  </a:ext>
                </a:extLst>
              </p:cNvPr>
              <p:cNvSpPr/>
              <p:nvPr/>
            </p:nvSpPr>
            <p:spPr bwMode="auto">
              <a:xfrm>
                <a:off x="1945798" y="2763450"/>
                <a:ext cx="319336" cy="307208"/>
              </a:xfrm>
              <a:custGeom>
                <a:gdLst>
                  <a:gd name="connsiteX0" fmla="*/ 195114 w 608814"/>
                  <a:gd name="connsiteY0" fmla="*/ 351627 h 585693"/>
                  <a:gd name="connsiteX1" fmla="*/ 258290 w 608814"/>
                  <a:gd name="connsiteY1" fmla="*/ 351627 h 585693"/>
                  <a:gd name="connsiteX2" fmla="*/ 282731 w 608814"/>
                  <a:gd name="connsiteY2" fmla="*/ 376018 h 585693"/>
                  <a:gd name="connsiteX3" fmla="*/ 282731 w 608814"/>
                  <a:gd name="connsiteY3" fmla="*/ 561210 h 585693"/>
                  <a:gd name="connsiteX4" fmla="*/ 258290 w 608814"/>
                  <a:gd name="connsiteY4" fmla="*/ 585693 h 585693"/>
                  <a:gd name="connsiteX5" fmla="*/ 195114 w 608814"/>
                  <a:gd name="connsiteY5" fmla="*/ 585693 h 585693"/>
                  <a:gd name="connsiteX6" fmla="*/ 170673 w 608814"/>
                  <a:gd name="connsiteY6" fmla="*/ 561210 h 585693"/>
                  <a:gd name="connsiteX7" fmla="*/ 170673 w 608814"/>
                  <a:gd name="connsiteY7" fmla="*/ 376018 h 585693"/>
                  <a:gd name="connsiteX8" fmla="*/ 195114 w 608814"/>
                  <a:gd name="connsiteY8" fmla="*/ 351627 h 585693"/>
                  <a:gd name="connsiteX9" fmla="*/ 358100 w 608814"/>
                  <a:gd name="connsiteY9" fmla="*/ 249872 h 585693"/>
                  <a:gd name="connsiteX10" fmla="*/ 421316 w 608814"/>
                  <a:gd name="connsiteY10" fmla="*/ 249872 h 585693"/>
                  <a:gd name="connsiteX11" fmla="*/ 445737 w 608814"/>
                  <a:gd name="connsiteY11" fmla="*/ 274267 h 585693"/>
                  <a:gd name="connsiteX12" fmla="*/ 445737 w 608814"/>
                  <a:gd name="connsiteY12" fmla="*/ 561206 h 585693"/>
                  <a:gd name="connsiteX13" fmla="*/ 421316 w 608814"/>
                  <a:gd name="connsiteY13" fmla="*/ 585693 h 585693"/>
                  <a:gd name="connsiteX14" fmla="*/ 358100 w 608814"/>
                  <a:gd name="connsiteY14" fmla="*/ 585693 h 585693"/>
                  <a:gd name="connsiteX15" fmla="*/ 333679 w 608814"/>
                  <a:gd name="connsiteY15" fmla="*/ 561206 h 585693"/>
                  <a:gd name="connsiteX16" fmla="*/ 333679 w 608814"/>
                  <a:gd name="connsiteY16" fmla="*/ 274267 h 585693"/>
                  <a:gd name="connsiteX17" fmla="*/ 358100 w 608814"/>
                  <a:gd name="connsiteY17" fmla="*/ 249872 h 585693"/>
                  <a:gd name="connsiteX18" fmla="*/ 140260 w 608814"/>
                  <a:gd name="connsiteY18" fmla="*/ 224680 h 585693"/>
                  <a:gd name="connsiteX19" fmla="*/ 191844 w 608814"/>
                  <a:gd name="connsiteY19" fmla="*/ 276122 h 585693"/>
                  <a:gd name="connsiteX20" fmla="*/ 140260 w 608814"/>
                  <a:gd name="connsiteY20" fmla="*/ 327564 h 585693"/>
                  <a:gd name="connsiteX21" fmla="*/ 88676 w 608814"/>
                  <a:gd name="connsiteY21" fmla="*/ 276122 h 585693"/>
                  <a:gd name="connsiteX22" fmla="*/ 140260 w 608814"/>
                  <a:gd name="connsiteY22" fmla="*/ 224680 h 585693"/>
                  <a:gd name="connsiteX23" fmla="*/ 521177 w 608814"/>
                  <a:gd name="connsiteY23" fmla="*/ 148117 h 585693"/>
                  <a:gd name="connsiteX24" fmla="*/ 584301 w 608814"/>
                  <a:gd name="connsiteY24" fmla="*/ 148117 h 585693"/>
                  <a:gd name="connsiteX25" fmla="*/ 608814 w 608814"/>
                  <a:gd name="connsiteY25" fmla="*/ 172601 h 585693"/>
                  <a:gd name="connsiteX26" fmla="*/ 608814 w 608814"/>
                  <a:gd name="connsiteY26" fmla="*/ 561209 h 585693"/>
                  <a:gd name="connsiteX27" fmla="*/ 584301 w 608814"/>
                  <a:gd name="connsiteY27" fmla="*/ 585693 h 585693"/>
                  <a:gd name="connsiteX28" fmla="*/ 521177 w 608814"/>
                  <a:gd name="connsiteY28" fmla="*/ 585693 h 585693"/>
                  <a:gd name="connsiteX29" fmla="*/ 496756 w 608814"/>
                  <a:gd name="connsiteY29" fmla="*/ 561209 h 585693"/>
                  <a:gd name="connsiteX30" fmla="*/ 496756 w 608814"/>
                  <a:gd name="connsiteY30" fmla="*/ 172601 h 585693"/>
                  <a:gd name="connsiteX31" fmla="*/ 521177 w 608814"/>
                  <a:gd name="connsiteY31" fmla="*/ 148117 h 585693"/>
                  <a:gd name="connsiteX32" fmla="*/ 116229 w 608814"/>
                  <a:gd name="connsiteY32" fmla="*/ 131322 h 585693"/>
                  <a:gd name="connsiteX33" fmla="*/ 164246 w 608814"/>
                  <a:gd name="connsiteY33" fmla="*/ 131322 h 585693"/>
                  <a:gd name="connsiteX34" fmla="*/ 184061 w 608814"/>
                  <a:gd name="connsiteY34" fmla="*/ 151113 h 585693"/>
                  <a:gd name="connsiteX35" fmla="*/ 184061 w 608814"/>
                  <a:gd name="connsiteY35" fmla="*/ 171457 h 585693"/>
                  <a:gd name="connsiteX36" fmla="*/ 208669 w 608814"/>
                  <a:gd name="connsiteY36" fmla="*/ 186094 h 585693"/>
                  <a:gd name="connsiteX37" fmla="*/ 226641 w 608814"/>
                  <a:gd name="connsiteY37" fmla="*/ 175692 h 585693"/>
                  <a:gd name="connsiteX38" fmla="*/ 253737 w 608814"/>
                  <a:gd name="connsiteY38" fmla="*/ 182964 h 585693"/>
                  <a:gd name="connsiteX39" fmla="*/ 277792 w 608814"/>
                  <a:gd name="connsiteY39" fmla="*/ 224572 h 585693"/>
                  <a:gd name="connsiteX40" fmla="*/ 279727 w 608814"/>
                  <a:gd name="connsiteY40" fmla="*/ 239577 h 585693"/>
                  <a:gd name="connsiteX41" fmla="*/ 270511 w 608814"/>
                  <a:gd name="connsiteY41" fmla="*/ 251544 h 585693"/>
                  <a:gd name="connsiteX42" fmla="*/ 252355 w 608814"/>
                  <a:gd name="connsiteY42" fmla="*/ 262038 h 585693"/>
                  <a:gd name="connsiteX43" fmla="*/ 253829 w 608814"/>
                  <a:gd name="connsiteY43" fmla="*/ 276122 h 585693"/>
                  <a:gd name="connsiteX44" fmla="*/ 252355 w 608814"/>
                  <a:gd name="connsiteY44" fmla="*/ 290206 h 585693"/>
                  <a:gd name="connsiteX45" fmla="*/ 270511 w 608814"/>
                  <a:gd name="connsiteY45" fmla="*/ 300700 h 585693"/>
                  <a:gd name="connsiteX46" fmla="*/ 278714 w 608814"/>
                  <a:gd name="connsiteY46" fmla="*/ 325094 h 585693"/>
                  <a:gd name="connsiteX47" fmla="*/ 258253 w 608814"/>
                  <a:gd name="connsiteY47" fmla="*/ 321136 h 585693"/>
                  <a:gd name="connsiteX48" fmla="*/ 195858 w 608814"/>
                  <a:gd name="connsiteY48" fmla="*/ 321136 h 585693"/>
                  <a:gd name="connsiteX49" fmla="*/ 212171 w 608814"/>
                  <a:gd name="connsiteY49" fmla="*/ 276122 h 585693"/>
                  <a:gd name="connsiteX50" fmla="*/ 140191 w 608814"/>
                  <a:gd name="connsiteY50" fmla="*/ 204320 h 585693"/>
                  <a:gd name="connsiteX51" fmla="*/ 68304 w 608814"/>
                  <a:gd name="connsiteY51" fmla="*/ 276122 h 585693"/>
                  <a:gd name="connsiteX52" fmla="*/ 140191 w 608814"/>
                  <a:gd name="connsiteY52" fmla="*/ 348016 h 585693"/>
                  <a:gd name="connsiteX53" fmla="*/ 148486 w 608814"/>
                  <a:gd name="connsiteY53" fmla="*/ 347095 h 585693"/>
                  <a:gd name="connsiteX54" fmla="*/ 140099 w 608814"/>
                  <a:gd name="connsiteY54" fmla="*/ 376000 h 585693"/>
                  <a:gd name="connsiteX55" fmla="*/ 140099 w 608814"/>
                  <a:gd name="connsiteY55" fmla="*/ 420922 h 585693"/>
                  <a:gd name="connsiteX56" fmla="*/ 116229 w 608814"/>
                  <a:gd name="connsiteY56" fmla="*/ 420922 h 585693"/>
                  <a:gd name="connsiteX57" fmla="*/ 96413 w 608814"/>
                  <a:gd name="connsiteY57" fmla="*/ 401131 h 585693"/>
                  <a:gd name="connsiteX58" fmla="*/ 96413 w 608814"/>
                  <a:gd name="connsiteY58" fmla="*/ 380787 h 585693"/>
                  <a:gd name="connsiteX59" fmla="*/ 71806 w 608814"/>
                  <a:gd name="connsiteY59" fmla="*/ 366150 h 585693"/>
                  <a:gd name="connsiteX60" fmla="*/ 53742 w 608814"/>
                  <a:gd name="connsiteY60" fmla="*/ 376552 h 585693"/>
                  <a:gd name="connsiteX61" fmla="*/ 38719 w 608814"/>
                  <a:gd name="connsiteY61" fmla="*/ 378577 h 585693"/>
                  <a:gd name="connsiteX62" fmla="*/ 26738 w 608814"/>
                  <a:gd name="connsiteY62" fmla="*/ 369372 h 585693"/>
                  <a:gd name="connsiteX63" fmla="*/ 2683 w 608814"/>
                  <a:gd name="connsiteY63" fmla="*/ 327764 h 585693"/>
                  <a:gd name="connsiteX64" fmla="*/ 9872 w 608814"/>
                  <a:gd name="connsiteY64" fmla="*/ 300700 h 585693"/>
                  <a:gd name="connsiteX65" fmla="*/ 28120 w 608814"/>
                  <a:gd name="connsiteY65" fmla="*/ 290206 h 585693"/>
                  <a:gd name="connsiteX66" fmla="*/ 26645 w 608814"/>
                  <a:gd name="connsiteY66" fmla="*/ 276122 h 585693"/>
                  <a:gd name="connsiteX67" fmla="*/ 28120 w 608814"/>
                  <a:gd name="connsiteY67" fmla="*/ 262038 h 585693"/>
                  <a:gd name="connsiteX68" fmla="*/ 9872 w 608814"/>
                  <a:gd name="connsiteY68" fmla="*/ 251544 h 585693"/>
                  <a:gd name="connsiteX69" fmla="*/ 2683 w 608814"/>
                  <a:gd name="connsiteY69" fmla="*/ 224572 h 585693"/>
                  <a:gd name="connsiteX70" fmla="*/ 26738 w 608814"/>
                  <a:gd name="connsiteY70" fmla="*/ 182964 h 585693"/>
                  <a:gd name="connsiteX71" fmla="*/ 38719 w 608814"/>
                  <a:gd name="connsiteY71" fmla="*/ 173759 h 585693"/>
                  <a:gd name="connsiteX72" fmla="*/ 53742 w 608814"/>
                  <a:gd name="connsiteY72" fmla="*/ 175692 h 585693"/>
                  <a:gd name="connsiteX73" fmla="*/ 71806 w 608814"/>
                  <a:gd name="connsiteY73" fmla="*/ 186094 h 585693"/>
                  <a:gd name="connsiteX74" fmla="*/ 96413 w 608814"/>
                  <a:gd name="connsiteY74" fmla="*/ 171457 h 585693"/>
                  <a:gd name="connsiteX75" fmla="*/ 96413 w 608814"/>
                  <a:gd name="connsiteY75" fmla="*/ 151113 h 585693"/>
                  <a:gd name="connsiteX76" fmla="*/ 116229 w 608814"/>
                  <a:gd name="connsiteY76" fmla="*/ 131322 h 585693"/>
                  <a:gd name="connsiteX77" fmla="*/ 445756 w 608814"/>
                  <a:gd name="connsiteY77" fmla="*/ 83476 h 585693"/>
                  <a:gd name="connsiteX78" fmla="*/ 414140 w 608814"/>
                  <a:gd name="connsiteY78" fmla="*/ 115044 h 585693"/>
                  <a:gd name="connsiteX79" fmla="*/ 445756 w 608814"/>
                  <a:gd name="connsiteY79" fmla="*/ 146520 h 585693"/>
                  <a:gd name="connsiteX80" fmla="*/ 477371 w 608814"/>
                  <a:gd name="connsiteY80" fmla="*/ 115044 h 585693"/>
                  <a:gd name="connsiteX81" fmla="*/ 445756 w 608814"/>
                  <a:gd name="connsiteY81" fmla="*/ 83476 h 585693"/>
                  <a:gd name="connsiteX82" fmla="*/ 426676 w 608814"/>
                  <a:gd name="connsiteY82" fmla="*/ 0 h 585693"/>
                  <a:gd name="connsiteX83" fmla="*/ 464835 w 608814"/>
                  <a:gd name="connsiteY83" fmla="*/ 0 h 585693"/>
                  <a:gd name="connsiteX84" fmla="*/ 480597 w 608814"/>
                  <a:gd name="connsiteY84" fmla="*/ 15738 h 585693"/>
                  <a:gd name="connsiteX85" fmla="*/ 480597 w 608814"/>
                  <a:gd name="connsiteY85" fmla="*/ 31936 h 585693"/>
                  <a:gd name="connsiteX86" fmla="*/ 500138 w 608814"/>
                  <a:gd name="connsiteY86" fmla="*/ 43533 h 585693"/>
                  <a:gd name="connsiteX87" fmla="*/ 514425 w 608814"/>
                  <a:gd name="connsiteY87" fmla="*/ 35249 h 585693"/>
                  <a:gd name="connsiteX88" fmla="*/ 535901 w 608814"/>
                  <a:gd name="connsiteY88" fmla="*/ 40956 h 585693"/>
                  <a:gd name="connsiteX89" fmla="*/ 554981 w 608814"/>
                  <a:gd name="connsiteY89" fmla="*/ 73996 h 585693"/>
                  <a:gd name="connsiteX90" fmla="*/ 556640 w 608814"/>
                  <a:gd name="connsiteY90" fmla="*/ 85961 h 585693"/>
                  <a:gd name="connsiteX91" fmla="*/ 549266 w 608814"/>
                  <a:gd name="connsiteY91" fmla="*/ 95440 h 585693"/>
                  <a:gd name="connsiteX92" fmla="*/ 534887 w 608814"/>
                  <a:gd name="connsiteY92" fmla="*/ 103815 h 585693"/>
                  <a:gd name="connsiteX93" fmla="*/ 535993 w 608814"/>
                  <a:gd name="connsiteY93" fmla="*/ 115044 h 585693"/>
                  <a:gd name="connsiteX94" fmla="*/ 535717 w 608814"/>
                  <a:gd name="connsiteY94" fmla="*/ 117621 h 585693"/>
                  <a:gd name="connsiteX95" fmla="*/ 521153 w 608814"/>
                  <a:gd name="connsiteY95" fmla="*/ 117621 h 585693"/>
                  <a:gd name="connsiteX96" fmla="*/ 466126 w 608814"/>
                  <a:gd name="connsiteY96" fmla="*/ 172565 h 585693"/>
                  <a:gd name="connsiteX97" fmla="*/ 466126 w 608814"/>
                  <a:gd name="connsiteY97" fmla="*/ 229719 h 585693"/>
                  <a:gd name="connsiteX98" fmla="*/ 466126 w 608814"/>
                  <a:gd name="connsiteY98" fmla="*/ 242604 h 585693"/>
                  <a:gd name="connsiteX99" fmla="*/ 453590 w 608814"/>
                  <a:gd name="connsiteY99" fmla="*/ 229995 h 585693"/>
                  <a:gd name="connsiteX100" fmla="*/ 421330 w 608814"/>
                  <a:gd name="connsiteY100" fmla="*/ 219319 h 585693"/>
                  <a:gd name="connsiteX101" fmla="*/ 411928 w 608814"/>
                  <a:gd name="connsiteY101" fmla="*/ 219319 h 585693"/>
                  <a:gd name="connsiteX102" fmla="*/ 410914 w 608814"/>
                  <a:gd name="connsiteY102" fmla="*/ 214257 h 585693"/>
                  <a:gd name="connsiteX103" fmla="*/ 410914 w 608814"/>
                  <a:gd name="connsiteY103" fmla="*/ 198059 h 585693"/>
                  <a:gd name="connsiteX104" fmla="*/ 391373 w 608814"/>
                  <a:gd name="connsiteY104" fmla="*/ 186463 h 585693"/>
                  <a:gd name="connsiteX105" fmla="*/ 377086 w 608814"/>
                  <a:gd name="connsiteY105" fmla="*/ 194746 h 585693"/>
                  <a:gd name="connsiteX106" fmla="*/ 365104 w 608814"/>
                  <a:gd name="connsiteY106" fmla="*/ 196310 h 585693"/>
                  <a:gd name="connsiteX107" fmla="*/ 355610 w 608814"/>
                  <a:gd name="connsiteY107" fmla="*/ 189040 h 585693"/>
                  <a:gd name="connsiteX108" fmla="*/ 336530 w 608814"/>
                  <a:gd name="connsiteY108" fmla="*/ 155999 h 585693"/>
                  <a:gd name="connsiteX109" fmla="*/ 342245 w 608814"/>
                  <a:gd name="connsiteY109" fmla="*/ 134463 h 585693"/>
                  <a:gd name="connsiteX110" fmla="*/ 356716 w 608814"/>
                  <a:gd name="connsiteY110" fmla="*/ 126180 h 585693"/>
                  <a:gd name="connsiteX111" fmla="*/ 355518 w 608814"/>
                  <a:gd name="connsiteY111" fmla="*/ 115044 h 585693"/>
                  <a:gd name="connsiteX112" fmla="*/ 356716 w 608814"/>
                  <a:gd name="connsiteY112" fmla="*/ 103815 h 585693"/>
                  <a:gd name="connsiteX113" fmla="*/ 342245 w 608814"/>
                  <a:gd name="connsiteY113" fmla="*/ 95440 h 585693"/>
                  <a:gd name="connsiteX114" fmla="*/ 336530 w 608814"/>
                  <a:gd name="connsiteY114" fmla="*/ 73996 h 585693"/>
                  <a:gd name="connsiteX115" fmla="*/ 355610 w 608814"/>
                  <a:gd name="connsiteY115" fmla="*/ 40956 h 585693"/>
                  <a:gd name="connsiteX116" fmla="*/ 365104 w 608814"/>
                  <a:gd name="connsiteY116" fmla="*/ 33685 h 585693"/>
                  <a:gd name="connsiteX117" fmla="*/ 377086 w 608814"/>
                  <a:gd name="connsiteY117" fmla="*/ 35249 h 585693"/>
                  <a:gd name="connsiteX118" fmla="*/ 391373 w 608814"/>
                  <a:gd name="connsiteY118" fmla="*/ 43533 h 585693"/>
                  <a:gd name="connsiteX119" fmla="*/ 410914 w 608814"/>
                  <a:gd name="connsiteY119" fmla="*/ 31936 h 585693"/>
                  <a:gd name="connsiteX120" fmla="*/ 410914 w 608814"/>
                  <a:gd name="connsiteY120" fmla="*/ 15738 h 585693"/>
                  <a:gd name="connsiteX121" fmla="*/ 426676 w 608814"/>
                  <a:gd name="connsiteY121" fmla="*/ 0 h 585693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</a:cxnLst>
                <a:rect l="l" t="t" r="r" b="b"/>
                <a:pathLst>
                  <a:path w="608814" h="585693">
                    <a:moveTo>
                      <a:pt x="195114" y="351627"/>
                    </a:moveTo>
                    <a:lnTo>
                      <a:pt x="258290" y="351627"/>
                    </a:lnTo>
                    <a:cubicBezTo>
                      <a:pt x="271848" y="351627"/>
                      <a:pt x="282731" y="362580"/>
                      <a:pt x="282731" y="376018"/>
                    </a:cubicBezTo>
                    <a:lnTo>
                      <a:pt x="282731" y="561210"/>
                    </a:lnTo>
                    <a:cubicBezTo>
                      <a:pt x="282731" y="574740"/>
                      <a:pt x="271848" y="585693"/>
                      <a:pt x="258290" y="585693"/>
                    </a:cubicBezTo>
                    <a:lnTo>
                      <a:pt x="195114" y="585693"/>
                    </a:lnTo>
                    <a:cubicBezTo>
                      <a:pt x="181556" y="585693"/>
                      <a:pt x="170673" y="574740"/>
                      <a:pt x="170673" y="561210"/>
                    </a:cubicBezTo>
                    <a:lnTo>
                      <a:pt x="170673" y="376018"/>
                    </a:lnTo>
                    <a:cubicBezTo>
                      <a:pt x="170673" y="362580"/>
                      <a:pt x="181556" y="351627"/>
                      <a:pt x="195114" y="351627"/>
                    </a:cubicBezTo>
                    <a:close/>
                    <a:moveTo>
                      <a:pt x="358100" y="249872"/>
                    </a:moveTo>
                    <a:lnTo>
                      <a:pt x="421316" y="249872"/>
                    </a:lnTo>
                    <a:cubicBezTo>
                      <a:pt x="434771" y="249872"/>
                      <a:pt x="445737" y="260735"/>
                      <a:pt x="445737" y="274267"/>
                    </a:cubicBezTo>
                    <a:lnTo>
                      <a:pt x="445737" y="561206"/>
                    </a:lnTo>
                    <a:cubicBezTo>
                      <a:pt x="445737" y="574738"/>
                      <a:pt x="434771" y="585693"/>
                      <a:pt x="421316" y="585693"/>
                    </a:cubicBezTo>
                    <a:lnTo>
                      <a:pt x="358100" y="585693"/>
                    </a:lnTo>
                    <a:cubicBezTo>
                      <a:pt x="344645" y="585693"/>
                      <a:pt x="333679" y="574738"/>
                      <a:pt x="333679" y="561206"/>
                    </a:cubicBezTo>
                    <a:lnTo>
                      <a:pt x="333679" y="274267"/>
                    </a:lnTo>
                    <a:cubicBezTo>
                      <a:pt x="333679" y="260735"/>
                      <a:pt x="344645" y="249872"/>
                      <a:pt x="358100" y="249872"/>
                    </a:cubicBezTo>
                    <a:close/>
                    <a:moveTo>
                      <a:pt x="140260" y="224680"/>
                    </a:moveTo>
                    <a:cubicBezTo>
                      <a:pt x="168749" y="224680"/>
                      <a:pt x="191844" y="247711"/>
                      <a:pt x="191844" y="276122"/>
                    </a:cubicBezTo>
                    <a:cubicBezTo>
                      <a:pt x="191844" y="304533"/>
                      <a:pt x="168749" y="327564"/>
                      <a:pt x="140260" y="327564"/>
                    </a:cubicBezTo>
                    <a:cubicBezTo>
                      <a:pt x="111771" y="327564"/>
                      <a:pt x="88676" y="304533"/>
                      <a:pt x="88676" y="276122"/>
                    </a:cubicBezTo>
                    <a:cubicBezTo>
                      <a:pt x="88676" y="247711"/>
                      <a:pt x="111771" y="224680"/>
                      <a:pt x="140260" y="224680"/>
                    </a:cubicBezTo>
                    <a:close/>
                    <a:moveTo>
                      <a:pt x="521177" y="148117"/>
                    </a:moveTo>
                    <a:lnTo>
                      <a:pt x="584301" y="148117"/>
                    </a:lnTo>
                    <a:cubicBezTo>
                      <a:pt x="597848" y="148117"/>
                      <a:pt x="608814" y="159070"/>
                      <a:pt x="608814" y="172601"/>
                    </a:cubicBezTo>
                    <a:lnTo>
                      <a:pt x="608814" y="561209"/>
                    </a:lnTo>
                    <a:cubicBezTo>
                      <a:pt x="608814" y="574740"/>
                      <a:pt x="597848" y="585693"/>
                      <a:pt x="584301" y="585693"/>
                    </a:cubicBezTo>
                    <a:lnTo>
                      <a:pt x="521177" y="585693"/>
                    </a:lnTo>
                    <a:cubicBezTo>
                      <a:pt x="507722" y="585693"/>
                      <a:pt x="496756" y="574740"/>
                      <a:pt x="496756" y="561209"/>
                    </a:cubicBezTo>
                    <a:lnTo>
                      <a:pt x="496756" y="172601"/>
                    </a:lnTo>
                    <a:cubicBezTo>
                      <a:pt x="496756" y="159070"/>
                      <a:pt x="507722" y="148117"/>
                      <a:pt x="521177" y="148117"/>
                    </a:cubicBezTo>
                    <a:close/>
                    <a:moveTo>
                      <a:pt x="116229" y="131322"/>
                    </a:moveTo>
                    <a:lnTo>
                      <a:pt x="164246" y="131322"/>
                    </a:lnTo>
                    <a:cubicBezTo>
                      <a:pt x="175214" y="131322"/>
                      <a:pt x="184061" y="140159"/>
                      <a:pt x="184061" y="151113"/>
                    </a:cubicBezTo>
                    <a:lnTo>
                      <a:pt x="184061" y="171457"/>
                    </a:lnTo>
                    <a:cubicBezTo>
                      <a:pt x="193001" y="175231"/>
                      <a:pt x="201019" y="180386"/>
                      <a:pt x="208669" y="186094"/>
                    </a:cubicBezTo>
                    <a:lnTo>
                      <a:pt x="226641" y="175692"/>
                    </a:lnTo>
                    <a:cubicBezTo>
                      <a:pt x="236134" y="170261"/>
                      <a:pt x="248300" y="173482"/>
                      <a:pt x="253737" y="182964"/>
                    </a:cubicBezTo>
                    <a:lnTo>
                      <a:pt x="277792" y="224572"/>
                    </a:lnTo>
                    <a:cubicBezTo>
                      <a:pt x="280465" y="229083"/>
                      <a:pt x="281110" y="234514"/>
                      <a:pt x="279727" y="239577"/>
                    </a:cubicBezTo>
                    <a:cubicBezTo>
                      <a:pt x="278437" y="244640"/>
                      <a:pt x="275119" y="248966"/>
                      <a:pt x="270511" y="251544"/>
                    </a:cubicBezTo>
                    <a:lnTo>
                      <a:pt x="252355" y="262038"/>
                    </a:lnTo>
                    <a:cubicBezTo>
                      <a:pt x="253000" y="266733"/>
                      <a:pt x="253829" y="271335"/>
                      <a:pt x="253829" y="276122"/>
                    </a:cubicBezTo>
                    <a:cubicBezTo>
                      <a:pt x="253829" y="281001"/>
                      <a:pt x="253000" y="285604"/>
                      <a:pt x="252355" y="290206"/>
                    </a:cubicBezTo>
                    <a:lnTo>
                      <a:pt x="270511" y="300700"/>
                    </a:lnTo>
                    <a:cubicBezTo>
                      <a:pt x="279174" y="305671"/>
                      <a:pt x="282308" y="316165"/>
                      <a:pt x="278714" y="325094"/>
                    </a:cubicBezTo>
                    <a:cubicBezTo>
                      <a:pt x="272354" y="322609"/>
                      <a:pt x="265442" y="321136"/>
                      <a:pt x="258253" y="321136"/>
                    </a:cubicBezTo>
                    <a:lnTo>
                      <a:pt x="195858" y="321136"/>
                    </a:lnTo>
                    <a:cubicBezTo>
                      <a:pt x="205904" y="308709"/>
                      <a:pt x="212171" y="293244"/>
                      <a:pt x="212171" y="276122"/>
                    </a:cubicBezTo>
                    <a:cubicBezTo>
                      <a:pt x="212171" y="236539"/>
                      <a:pt x="179914" y="204320"/>
                      <a:pt x="140191" y="204320"/>
                    </a:cubicBezTo>
                    <a:cubicBezTo>
                      <a:pt x="100561" y="204320"/>
                      <a:pt x="68304" y="236539"/>
                      <a:pt x="68304" y="276122"/>
                    </a:cubicBezTo>
                    <a:cubicBezTo>
                      <a:pt x="68304" y="315797"/>
                      <a:pt x="100561" y="348016"/>
                      <a:pt x="140191" y="348016"/>
                    </a:cubicBezTo>
                    <a:cubicBezTo>
                      <a:pt x="143048" y="348016"/>
                      <a:pt x="145721" y="347463"/>
                      <a:pt x="148486" y="347095"/>
                    </a:cubicBezTo>
                    <a:cubicBezTo>
                      <a:pt x="143233" y="355564"/>
                      <a:pt x="140099" y="365414"/>
                      <a:pt x="140099" y="376000"/>
                    </a:cubicBezTo>
                    <a:lnTo>
                      <a:pt x="140099" y="420922"/>
                    </a:lnTo>
                    <a:lnTo>
                      <a:pt x="116229" y="420922"/>
                    </a:lnTo>
                    <a:cubicBezTo>
                      <a:pt x="105261" y="420922"/>
                      <a:pt x="96413" y="412085"/>
                      <a:pt x="96413" y="401131"/>
                    </a:cubicBezTo>
                    <a:lnTo>
                      <a:pt x="96413" y="380787"/>
                    </a:lnTo>
                    <a:cubicBezTo>
                      <a:pt x="87474" y="377013"/>
                      <a:pt x="79455" y="371950"/>
                      <a:pt x="71806" y="366150"/>
                    </a:cubicBezTo>
                    <a:lnTo>
                      <a:pt x="53742" y="376552"/>
                    </a:lnTo>
                    <a:cubicBezTo>
                      <a:pt x="49226" y="379222"/>
                      <a:pt x="43788" y="379866"/>
                      <a:pt x="38719" y="378577"/>
                    </a:cubicBezTo>
                    <a:cubicBezTo>
                      <a:pt x="33650" y="377197"/>
                      <a:pt x="29318" y="373883"/>
                      <a:pt x="26738" y="369372"/>
                    </a:cubicBezTo>
                    <a:lnTo>
                      <a:pt x="2683" y="327764"/>
                    </a:lnTo>
                    <a:cubicBezTo>
                      <a:pt x="-2847" y="318282"/>
                      <a:pt x="471" y="306131"/>
                      <a:pt x="9872" y="300700"/>
                    </a:cubicBezTo>
                    <a:lnTo>
                      <a:pt x="28120" y="290206"/>
                    </a:lnTo>
                    <a:cubicBezTo>
                      <a:pt x="27475" y="285604"/>
                      <a:pt x="26645" y="281001"/>
                      <a:pt x="26645" y="276122"/>
                    </a:cubicBezTo>
                    <a:cubicBezTo>
                      <a:pt x="26645" y="271335"/>
                      <a:pt x="27475" y="266733"/>
                      <a:pt x="28120" y="262038"/>
                    </a:cubicBezTo>
                    <a:lnTo>
                      <a:pt x="9872" y="251544"/>
                    </a:lnTo>
                    <a:cubicBezTo>
                      <a:pt x="471" y="246113"/>
                      <a:pt x="-2847" y="233962"/>
                      <a:pt x="2683" y="224572"/>
                    </a:cubicBezTo>
                    <a:lnTo>
                      <a:pt x="26738" y="182964"/>
                    </a:lnTo>
                    <a:cubicBezTo>
                      <a:pt x="29318" y="178361"/>
                      <a:pt x="33650" y="175139"/>
                      <a:pt x="38719" y="173759"/>
                    </a:cubicBezTo>
                    <a:cubicBezTo>
                      <a:pt x="43788" y="172378"/>
                      <a:pt x="49226" y="173114"/>
                      <a:pt x="53742" y="175692"/>
                    </a:cubicBezTo>
                    <a:lnTo>
                      <a:pt x="71806" y="186094"/>
                    </a:lnTo>
                    <a:cubicBezTo>
                      <a:pt x="79455" y="180386"/>
                      <a:pt x="87474" y="175231"/>
                      <a:pt x="96413" y="171457"/>
                    </a:cubicBezTo>
                    <a:lnTo>
                      <a:pt x="96413" y="151113"/>
                    </a:lnTo>
                    <a:cubicBezTo>
                      <a:pt x="96413" y="140159"/>
                      <a:pt x="105261" y="131322"/>
                      <a:pt x="116229" y="131322"/>
                    </a:cubicBezTo>
                    <a:close/>
                    <a:moveTo>
                      <a:pt x="445756" y="83476"/>
                    </a:moveTo>
                    <a:cubicBezTo>
                      <a:pt x="428335" y="83476"/>
                      <a:pt x="414140" y="97557"/>
                      <a:pt x="414140" y="115044"/>
                    </a:cubicBezTo>
                    <a:cubicBezTo>
                      <a:pt x="414140" y="132438"/>
                      <a:pt x="428335" y="146520"/>
                      <a:pt x="445756" y="146520"/>
                    </a:cubicBezTo>
                    <a:cubicBezTo>
                      <a:pt x="463176" y="146520"/>
                      <a:pt x="477371" y="132438"/>
                      <a:pt x="477371" y="115044"/>
                    </a:cubicBezTo>
                    <a:cubicBezTo>
                      <a:pt x="477371" y="97557"/>
                      <a:pt x="463176" y="83476"/>
                      <a:pt x="445756" y="83476"/>
                    </a:cubicBezTo>
                    <a:close/>
                    <a:moveTo>
                      <a:pt x="426676" y="0"/>
                    </a:moveTo>
                    <a:lnTo>
                      <a:pt x="464835" y="0"/>
                    </a:lnTo>
                    <a:cubicBezTo>
                      <a:pt x="473500" y="0"/>
                      <a:pt x="480597" y="7087"/>
                      <a:pt x="480597" y="15738"/>
                    </a:cubicBezTo>
                    <a:lnTo>
                      <a:pt x="480597" y="31936"/>
                    </a:lnTo>
                    <a:cubicBezTo>
                      <a:pt x="487694" y="34881"/>
                      <a:pt x="494054" y="38931"/>
                      <a:pt x="500138" y="43533"/>
                    </a:cubicBezTo>
                    <a:lnTo>
                      <a:pt x="514425" y="35249"/>
                    </a:lnTo>
                    <a:cubicBezTo>
                      <a:pt x="521983" y="30924"/>
                      <a:pt x="531569" y="33501"/>
                      <a:pt x="535901" y="40956"/>
                    </a:cubicBezTo>
                    <a:lnTo>
                      <a:pt x="554981" y="73996"/>
                    </a:lnTo>
                    <a:cubicBezTo>
                      <a:pt x="557101" y="77585"/>
                      <a:pt x="557654" y="81911"/>
                      <a:pt x="556640" y="85961"/>
                    </a:cubicBezTo>
                    <a:cubicBezTo>
                      <a:pt x="555534" y="89918"/>
                      <a:pt x="552861" y="93415"/>
                      <a:pt x="549266" y="95440"/>
                    </a:cubicBezTo>
                    <a:lnTo>
                      <a:pt x="534887" y="103815"/>
                    </a:lnTo>
                    <a:cubicBezTo>
                      <a:pt x="535348" y="107497"/>
                      <a:pt x="535993" y="111178"/>
                      <a:pt x="535993" y="115044"/>
                    </a:cubicBezTo>
                    <a:cubicBezTo>
                      <a:pt x="535993" y="115872"/>
                      <a:pt x="535809" y="116700"/>
                      <a:pt x="535717" y="117621"/>
                    </a:cubicBezTo>
                    <a:lnTo>
                      <a:pt x="521153" y="117621"/>
                    </a:lnTo>
                    <a:cubicBezTo>
                      <a:pt x="490828" y="117621"/>
                      <a:pt x="466126" y="142286"/>
                      <a:pt x="466126" y="172565"/>
                    </a:cubicBezTo>
                    <a:lnTo>
                      <a:pt x="466126" y="229719"/>
                    </a:lnTo>
                    <a:lnTo>
                      <a:pt x="466126" y="242604"/>
                    </a:lnTo>
                    <a:cubicBezTo>
                      <a:pt x="462715" y="237726"/>
                      <a:pt x="458383" y="233493"/>
                      <a:pt x="453590" y="229995"/>
                    </a:cubicBezTo>
                    <a:cubicBezTo>
                      <a:pt x="444465" y="223369"/>
                      <a:pt x="433404" y="219319"/>
                      <a:pt x="421330" y="219319"/>
                    </a:cubicBezTo>
                    <a:lnTo>
                      <a:pt x="411928" y="219319"/>
                    </a:lnTo>
                    <a:cubicBezTo>
                      <a:pt x="411375" y="217755"/>
                      <a:pt x="410914" y="216098"/>
                      <a:pt x="410914" y="214257"/>
                    </a:cubicBezTo>
                    <a:lnTo>
                      <a:pt x="410914" y="198059"/>
                    </a:lnTo>
                    <a:cubicBezTo>
                      <a:pt x="403817" y="195114"/>
                      <a:pt x="397457" y="191064"/>
                      <a:pt x="391373" y="186463"/>
                    </a:cubicBezTo>
                    <a:lnTo>
                      <a:pt x="377086" y="194746"/>
                    </a:lnTo>
                    <a:cubicBezTo>
                      <a:pt x="373492" y="196863"/>
                      <a:pt x="369160" y="197415"/>
                      <a:pt x="365104" y="196310"/>
                    </a:cubicBezTo>
                    <a:cubicBezTo>
                      <a:pt x="361140" y="195206"/>
                      <a:pt x="357638" y="192629"/>
                      <a:pt x="355610" y="189040"/>
                    </a:cubicBezTo>
                    <a:lnTo>
                      <a:pt x="336530" y="155999"/>
                    </a:lnTo>
                    <a:cubicBezTo>
                      <a:pt x="332198" y="148452"/>
                      <a:pt x="334687" y="138881"/>
                      <a:pt x="342245" y="134463"/>
                    </a:cubicBezTo>
                    <a:lnTo>
                      <a:pt x="356716" y="126180"/>
                    </a:lnTo>
                    <a:cubicBezTo>
                      <a:pt x="356163" y="122498"/>
                      <a:pt x="355518" y="118817"/>
                      <a:pt x="355518" y="115044"/>
                    </a:cubicBezTo>
                    <a:cubicBezTo>
                      <a:pt x="355518" y="111178"/>
                      <a:pt x="356163" y="107497"/>
                      <a:pt x="356716" y="103815"/>
                    </a:cubicBezTo>
                    <a:lnTo>
                      <a:pt x="342245" y="95440"/>
                    </a:lnTo>
                    <a:cubicBezTo>
                      <a:pt x="334687" y="91115"/>
                      <a:pt x="332198" y="81543"/>
                      <a:pt x="336530" y="73996"/>
                    </a:cubicBezTo>
                    <a:lnTo>
                      <a:pt x="355610" y="40956"/>
                    </a:lnTo>
                    <a:cubicBezTo>
                      <a:pt x="357638" y="37366"/>
                      <a:pt x="361140" y="34789"/>
                      <a:pt x="365104" y="33685"/>
                    </a:cubicBezTo>
                    <a:cubicBezTo>
                      <a:pt x="369160" y="32580"/>
                      <a:pt x="373492" y="33133"/>
                      <a:pt x="377086" y="35249"/>
                    </a:cubicBezTo>
                    <a:lnTo>
                      <a:pt x="391373" y="43533"/>
                    </a:lnTo>
                    <a:cubicBezTo>
                      <a:pt x="397457" y="38931"/>
                      <a:pt x="403817" y="34881"/>
                      <a:pt x="410914" y="31936"/>
                    </a:cubicBezTo>
                    <a:lnTo>
                      <a:pt x="410914" y="15738"/>
                    </a:lnTo>
                    <a:cubicBezTo>
                      <a:pt x="410914" y="7087"/>
                      <a:pt x="418011" y="0"/>
                      <a:pt x="4266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5D7D14-C5A4-4D9C-98F9-CF7F9704003E}"/>
                </a:ext>
              </a:extLst>
            </p:cNvPr>
            <p:cNvCxnSpPr/>
            <p:nvPr/>
          </p:nvCxnSpPr>
          <p:spPr>
            <a:xfrm flipH="1">
              <a:off x="4167859" y="4323699"/>
              <a:ext cx="0" cy="167203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培训与能力提升</a:t>
            </a:r>
          </a:p>
        </p:txBody>
      </p:sp>
    </p:spTree>
    <p:custDataLst>
      <p:tags r:id="rId3"/>
    </p:custDataLst>
    <p:extLst>
      <p:ext uri="{BB962C8B-B14F-4D97-AF65-F5344CB8AC3E}">
        <p14:creationId val="2182536248"/>
      </p:ext>
    </p:extLst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2" name="Group 1"/>
          <p:cNvGrpSpPr/>
          <p:nvPr/>
        </p:nvGrpSpPr>
        <p:grpSpPr>
          <a:xfrm>
            <a:off x="1" y="0"/>
            <a:ext cx="12192000" cy="6858000"/>
            <a:chOff x="1" y="0"/>
            <a:chExt cx="12192000" cy="6858000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1131081C-222D-42F8-AC4A-8E3412799DDF}"/>
                </a:ext>
              </a:extLst>
            </p:cNvPr>
            <p:cNvGrpSpPr/>
            <p:nvPr/>
          </p:nvGrpSpPr>
          <p:grpSpPr>
            <a:xfrm>
              <a:off x="1" y="0"/>
              <a:ext cx="12192000" cy="6858000"/>
              <a:chOff x="1" y="0"/>
              <a:chExt cx="12192000" cy="6858000"/>
            </a:xfrm>
          </p:grpSpPr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197B76B9-C1D2-449D-99D1-0E474917BACF}"/>
                  </a:ext>
                </a:extLst>
              </p:cNvPr>
              <p:cNvSpPr/>
              <p:nvPr/>
            </p:nvSpPr>
            <p:spPr>
              <a:xfrm>
                <a:off x="1" y="0"/>
                <a:ext cx="3868619" cy="3166858"/>
              </a:xfrm>
              <a:custGeom>
                <a:gdLst>
                  <a:gd name="connsiteX0" fmla="*/ 0 w 3868619"/>
                  <a:gd name="connsiteY0" fmla="*/ 0 h 3166858"/>
                  <a:gd name="connsiteX1" fmla="*/ 3376753 w 3868619"/>
                  <a:gd name="connsiteY1" fmla="*/ 0 h 3166858"/>
                  <a:gd name="connsiteX2" fmla="*/ 3765479 w 3868619"/>
                  <a:gd name="connsiteY2" fmla="*/ 673388 h 3166858"/>
                  <a:gd name="connsiteX3" fmla="*/ 3765479 w 3868619"/>
                  <a:gd name="connsiteY3" fmla="*/ 1443555 h 3166858"/>
                  <a:gd name="connsiteX4" fmla="*/ 2992837 w 3868619"/>
                  <a:gd name="connsiteY4" fmla="*/ 2781775 h 3166858"/>
                  <a:gd name="connsiteX5" fmla="*/ 2325941 w 3868619"/>
                  <a:gd name="connsiteY5" fmla="*/ 3166858 h 3166858"/>
                  <a:gd name="connsiteX6" fmla="*/ 780658 w 3868619"/>
                  <a:gd name="connsiteY6" fmla="*/ 3166858 h 3166858"/>
                  <a:gd name="connsiteX7" fmla="*/ 113761 w 3868619"/>
                  <a:gd name="connsiteY7" fmla="*/ 2781775 h 3166858"/>
                  <a:gd name="connsiteX8" fmla="*/ 0 w 3868619"/>
                  <a:gd name="connsiteY8" fmla="*/ 2584739 h 3166858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68619" h="3166858">
                    <a:moveTo>
                      <a:pt x="0" y="0"/>
                    </a:moveTo>
                    <a:lnTo>
                      <a:pt x="3376753" y="0"/>
                    </a:lnTo>
                    <a:lnTo>
                      <a:pt x="3765479" y="673388"/>
                    </a:lnTo>
                    <a:cubicBezTo>
                      <a:pt x="3902999" y="911705"/>
                      <a:pt x="3902999" y="1205238"/>
                      <a:pt x="3765479" y="1443555"/>
                    </a:cubicBezTo>
                    <a:lnTo>
                      <a:pt x="2992837" y="2781775"/>
                    </a:lnTo>
                    <a:cubicBezTo>
                      <a:pt x="2855316" y="3020091"/>
                      <a:pt x="2601112" y="3166858"/>
                      <a:pt x="2325941" y="3166858"/>
                    </a:cubicBezTo>
                    <a:lnTo>
                      <a:pt x="780658" y="3166858"/>
                    </a:lnTo>
                    <a:cubicBezTo>
                      <a:pt x="505618" y="3166858"/>
                      <a:pt x="251282" y="3020091"/>
                      <a:pt x="113761" y="2781775"/>
                    </a:cubicBezTo>
                    <a:lnTo>
                      <a:pt x="0" y="2584739"/>
                    </a:ln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75074C43-554C-4206-86E1-F54538100823}"/>
                  </a:ext>
                </a:extLst>
              </p:cNvPr>
              <p:cNvSpPr/>
              <p:nvPr/>
            </p:nvSpPr>
            <p:spPr>
              <a:xfrm>
                <a:off x="9635128" y="5261525"/>
                <a:ext cx="2556873" cy="1596475"/>
              </a:xfrm>
              <a:custGeom>
                <a:gdLst>
                  <a:gd name="connsiteX0" fmla="*/ 1250109 w 2556873"/>
                  <a:gd name="connsiteY0" fmla="*/ 0 h 1596475"/>
                  <a:gd name="connsiteX1" fmla="*/ 2517639 w 2556873"/>
                  <a:gd name="connsiteY1" fmla="*/ 0 h 1596475"/>
                  <a:gd name="connsiteX2" fmla="*/ 2556873 w 2556873"/>
                  <a:gd name="connsiteY2" fmla="*/ 2605 h 1596475"/>
                  <a:gd name="connsiteX3" fmla="*/ 2556873 w 2556873"/>
                  <a:gd name="connsiteY3" fmla="*/ 1596475 h 1596475"/>
                  <a:gd name="connsiteX4" fmla="*/ 0 w 2556873"/>
                  <a:gd name="connsiteY4" fmla="*/ 1596475 h 1596475"/>
                  <a:gd name="connsiteX5" fmla="*/ 5756 w 2556873"/>
                  <a:gd name="connsiteY5" fmla="*/ 1567243 h 1596475"/>
                  <a:gd name="connsiteX6" fmla="*/ 69208 w 2556873"/>
                  <a:gd name="connsiteY6" fmla="*/ 1413555 h 1596475"/>
                  <a:gd name="connsiteX7" fmla="*/ 702973 w 2556873"/>
                  <a:gd name="connsiteY7" fmla="*/ 315869 h 1596475"/>
                  <a:gd name="connsiteX8" fmla="*/ 1250109 w 2556873"/>
                  <a:gd name="connsiteY8" fmla="*/ 0 h 1596475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56873" h="1596475">
                    <a:moveTo>
                      <a:pt x="1250109" y="0"/>
                    </a:moveTo>
                    <a:lnTo>
                      <a:pt x="2517639" y="0"/>
                    </a:lnTo>
                    <a:lnTo>
                      <a:pt x="2556873" y="2605"/>
                    </a:lnTo>
                    <a:lnTo>
                      <a:pt x="2556873" y="1596475"/>
                    </a:lnTo>
                    <a:lnTo>
                      <a:pt x="0" y="1596475"/>
                    </a:lnTo>
                    <a:lnTo>
                      <a:pt x="5756" y="1567243"/>
                    </a:lnTo>
                    <a:cubicBezTo>
                      <a:pt x="19857" y="1514127"/>
                      <a:pt x="41007" y="1462426"/>
                      <a:pt x="69208" y="1413555"/>
                    </a:cubicBezTo>
                    <a:lnTo>
                      <a:pt x="702973" y="315869"/>
                    </a:lnTo>
                    <a:cubicBezTo>
                      <a:pt x="815883" y="120387"/>
                      <a:pt x="1024397" y="0"/>
                      <a:pt x="1250109" y="0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B27AE1AB-54DB-434B-BF2E-0BB8AE43C951}"/>
                  </a:ext>
                </a:extLst>
              </p:cNvPr>
              <p:cNvSpPr/>
              <p:nvPr/>
            </p:nvSpPr>
            <p:spPr>
              <a:xfrm>
                <a:off x="10899794" y="3293569"/>
                <a:ext cx="1292206" cy="1794366"/>
              </a:xfrm>
              <a:custGeom>
                <a:gdLst>
                  <a:gd name="connsiteX0" fmla="*/ 656513 w 1292206"/>
                  <a:gd name="connsiteY0" fmla="*/ 0 h 1794366"/>
                  <a:gd name="connsiteX1" fmla="*/ 1292206 w 1292206"/>
                  <a:gd name="connsiteY1" fmla="*/ 0 h 1794366"/>
                  <a:gd name="connsiteX2" fmla="*/ 1292206 w 1292206"/>
                  <a:gd name="connsiteY2" fmla="*/ 1794366 h 1794366"/>
                  <a:gd name="connsiteX3" fmla="*/ 656458 w 1292206"/>
                  <a:gd name="connsiteY3" fmla="*/ 1794366 h 1794366"/>
                  <a:gd name="connsiteX4" fmla="*/ 372673 w 1292206"/>
                  <a:gd name="connsiteY4" fmla="*/ 1630501 h 1794366"/>
                  <a:gd name="connsiteX5" fmla="*/ 43890 w 1292206"/>
                  <a:gd name="connsiteY5" fmla="*/ 1061047 h 1794366"/>
                  <a:gd name="connsiteX6" fmla="*/ 43890 w 1292206"/>
                  <a:gd name="connsiteY6" fmla="*/ 733318 h 1794366"/>
                  <a:gd name="connsiteX7" fmla="*/ 372673 w 1292206"/>
                  <a:gd name="connsiteY7" fmla="*/ 163865 h 1794366"/>
                  <a:gd name="connsiteX8" fmla="*/ 656513 w 1292206"/>
                  <a:gd name="connsiteY8" fmla="*/ 0 h 1794366"/>
                </a:gdLst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92206" h="1794366">
                    <a:moveTo>
                      <a:pt x="656513" y="0"/>
                    </a:moveTo>
                    <a:lnTo>
                      <a:pt x="1292206" y="0"/>
                    </a:lnTo>
                    <a:lnTo>
                      <a:pt x="1292206" y="1794366"/>
                    </a:lnTo>
                    <a:lnTo>
                      <a:pt x="656458" y="1794366"/>
                    </a:lnTo>
                    <a:cubicBezTo>
                      <a:pt x="539419" y="1794366"/>
                      <a:pt x="431192" y="1731912"/>
                      <a:pt x="372673" y="1630501"/>
                    </a:cubicBezTo>
                    <a:lnTo>
                      <a:pt x="43890" y="1061047"/>
                    </a:lnTo>
                    <a:cubicBezTo>
                      <a:pt x="-14629" y="959636"/>
                      <a:pt x="-14629" y="834729"/>
                      <a:pt x="43890" y="733318"/>
                    </a:cubicBezTo>
                    <a:lnTo>
                      <a:pt x="372673" y="163865"/>
                    </a:lnTo>
                    <a:cubicBezTo>
                      <a:pt x="431248" y="62454"/>
                      <a:pt x="539419" y="0"/>
                      <a:pt x="656513" y="0"/>
                    </a:cubicBezTo>
                    <a:close/>
                  </a:path>
                </a:pathLst>
              </a:custGeom>
              <a:solidFill>
                <a:schemeClr val="accent1">
                  <a:alpha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 sz="14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0F01D708-E41C-42FD-9968-F33678DCDDD4}"/>
                </a:ext>
              </a:extLst>
            </p:cNvPr>
            <p:cNvGrpSpPr/>
            <p:nvPr/>
          </p:nvGrpSpPr>
          <p:grpSpPr>
            <a:xfrm>
              <a:off x="660400" y="1028699"/>
              <a:ext cx="10729805" cy="3909115"/>
              <a:chOff x="660400" y="1028699"/>
              <a:chExt cx="10729805" cy="3909115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CE5B3244-05A3-4244-94B8-EB755FAC9FFF}"/>
                  </a:ext>
                </a:extLst>
              </p:cNvPr>
              <p:cNvGrpSpPr/>
              <p:nvPr/>
            </p:nvGrpSpPr>
            <p:grpSpPr>
              <a:xfrm>
                <a:off x="759307" y="3286574"/>
                <a:ext cx="10630898" cy="1651240"/>
                <a:chOff x="759307" y="3457001"/>
                <a:chExt cx="10630898" cy="1651240"/>
              </a:xfrm>
            </p:grpSpPr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6ED6FC85-C9AB-412F-AE16-FE5AE5A80D44}"/>
                    </a:ext>
                  </a:extLst>
                </p:cNvPr>
                <p:cNvGrpSpPr/>
                <p:nvPr/>
              </p:nvGrpSpPr>
              <p:grpSpPr>
                <a:xfrm>
                  <a:off x="759307" y="3457001"/>
                  <a:ext cx="2402349" cy="712246"/>
                  <a:chOff x="759307" y="3457001"/>
                  <a:chExt cx="2402349" cy="712246"/>
                </a:xfrm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688D94F9-2364-488D-BEE0-67849D285B0F}"/>
                      </a:ext>
                    </a:extLst>
                  </p:cNvPr>
                  <p:cNvGrpSpPr/>
                  <p:nvPr/>
                </p:nvGrpSpPr>
                <p:grpSpPr>
                  <a:xfrm>
                    <a:off x="759307" y="3549895"/>
                    <a:ext cx="592999" cy="540000"/>
                    <a:chOff x="919239" y="1486708"/>
                    <a:chExt cx="592999" cy="540000"/>
                  </a:xfrm>
                </p:grpSpPr>
                <p:sp>
                  <p:nvSpPr>
                    <p:cNvPr id="27" name="Freeform: Shape 26">
                      <a:extLst>
                        <a:ext uri="{FF2B5EF4-FFF2-40B4-BE49-F238E27FC236}">
                          <a16:creationId xmlns:a16="http://schemas.microsoft.com/office/drawing/2014/main" id="{86EBC616-98BA-40B5-9AF7-D7F2E51460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9239" y="1486708"/>
                      <a:ext cx="592999" cy="540000"/>
                    </a:xfrm>
                    <a:custGeom>
                      <a:gdLst>
                        <a:gd name="connsiteX0" fmla="*/ 3612124 w 5416434"/>
                        <a:gd name="connsiteY0" fmla="*/ 0 h 4932339"/>
                        <a:gd name="connsiteX1" fmla="*/ 1804615 w 5416434"/>
                        <a:gd name="connsiteY1" fmla="*/ 0 h 4932339"/>
                        <a:gd name="connsiteX2" fmla="*/ 1024397 w 5416434"/>
                        <a:gd name="connsiteY2" fmla="*/ 450430 h 4932339"/>
                        <a:gd name="connsiteX3" fmla="*/ 120643 w 5416434"/>
                        <a:gd name="connsiteY3" fmla="*/ 2015740 h 4932339"/>
                        <a:gd name="connsiteX4" fmla="*/ 120643 w 5416434"/>
                        <a:gd name="connsiteY4" fmla="*/ 2916600 h 4932339"/>
                        <a:gd name="connsiteX5" fmla="*/ 1024397 w 5416434"/>
                        <a:gd name="connsiteY5" fmla="*/ 4481910 h 4932339"/>
                        <a:gd name="connsiteX6" fmla="*/ 1804463 w 5416434"/>
                        <a:gd name="connsiteY6" fmla="*/ 4932340 h 4932339"/>
                        <a:gd name="connsiteX7" fmla="*/ 3611972 w 5416434"/>
                        <a:gd name="connsiteY7" fmla="*/ 4932340 h 4932339"/>
                        <a:gd name="connsiteX8" fmla="*/ 4392037 w 5416434"/>
                        <a:gd name="connsiteY8" fmla="*/ 4481910 h 4932339"/>
                        <a:gd name="connsiteX9" fmla="*/ 5295792 w 5416434"/>
                        <a:gd name="connsiteY9" fmla="*/ 2916600 h 4932339"/>
                        <a:gd name="connsiteX10" fmla="*/ 5295792 w 5416434"/>
                        <a:gd name="connsiteY10" fmla="*/ 2015740 h 4932339"/>
                        <a:gd name="connsiteX11" fmla="*/ 4392189 w 5416434"/>
                        <a:gd name="connsiteY11" fmla="*/ 450430 h 4932339"/>
                        <a:gd name="connsiteX12" fmla="*/ 3612124 w 5416434"/>
                        <a:gd name="connsiteY12" fmla="*/ 0 h 4932339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5416434" h="4932339">
                          <a:moveTo>
                            <a:pt x="3612124" y="0"/>
                          </a:moveTo>
                          <a:lnTo>
                            <a:pt x="1804615" y="0"/>
                          </a:lnTo>
                          <a:cubicBezTo>
                            <a:pt x="1482749" y="0"/>
                            <a:pt x="1185407" y="171672"/>
                            <a:pt x="1024397" y="450430"/>
                          </a:cubicBezTo>
                          <a:lnTo>
                            <a:pt x="120643" y="2015740"/>
                          </a:lnTo>
                          <a:cubicBezTo>
                            <a:pt x="-40214" y="2294498"/>
                            <a:pt x="-40214" y="2637842"/>
                            <a:pt x="120643" y="2916600"/>
                          </a:cubicBezTo>
                          <a:lnTo>
                            <a:pt x="1024397" y="4481910"/>
                          </a:lnTo>
                          <a:cubicBezTo>
                            <a:pt x="1185254" y="4760667"/>
                            <a:pt x="1482749" y="4932340"/>
                            <a:pt x="1804463" y="4932340"/>
                          </a:cubicBezTo>
                          <a:lnTo>
                            <a:pt x="3611972" y="4932340"/>
                          </a:lnTo>
                          <a:cubicBezTo>
                            <a:pt x="3933838" y="4932340"/>
                            <a:pt x="4231180" y="4760667"/>
                            <a:pt x="4392037" y="4481910"/>
                          </a:cubicBezTo>
                          <a:lnTo>
                            <a:pt x="5295792" y="2916600"/>
                          </a:lnTo>
                          <a:cubicBezTo>
                            <a:pt x="5456649" y="2637842"/>
                            <a:pt x="5456649" y="2294498"/>
                            <a:pt x="5295792" y="2015740"/>
                          </a:cubicBezTo>
                          <a:lnTo>
                            <a:pt x="4392189" y="450430"/>
                          </a:lnTo>
                          <a:cubicBezTo>
                            <a:pt x="4231332" y="171672"/>
                            <a:pt x="3933991" y="0"/>
                            <a:pt x="3612124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57150" cap="rnd">
                      <a:noFill/>
                      <a:prstDash val="solid"/>
                      <a:round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normAutofit/>
                    </a:bodyPr>
                    <a:lstStyle/>
                    <a:p>
                      <a:pPr algn="ctr" defTabSz="913765"/>
                      <a:endParaRPr lang="zh-CN" altLang="en-US" sz="2000" b="1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8" name="Freeform: Shape 27">
                      <a:extLst>
                        <a:ext uri="{FF2B5EF4-FFF2-40B4-BE49-F238E27FC236}">
                          <a16:creationId xmlns:a16="http://schemas.microsoft.com/office/drawing/2014/main" id="{1C27D38D-D571-4F3F-84E5-1F30F8EC1A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8575" y="1668836"/>
                      <a:ext cx="234327" cy="175744"/>
                    </a:xfrm>
                    <a:custGeom>
                      <a:gdLst>
                        <a:gd name="connsiteX0" fmla="*/ 505433 w 533400"/>
                        <a:gd name="connsiteY0" fmla="*/ 621 h 400050"/>
                        <a:gd name="connsiteX1" fmla="*/ 534008 w 533400"/>
                        <a:gd name="connsiteY1" fmla="*/ 29196 h 400050"/>
                        <a:gd name="connsiteX2" fmla="*/ 534008 w 533400"/>
                        <a:gd name="connsiteY2" fmla="*/ 372096 h 400050"/>
                        <a:gd name="connsiteX3" fmla="*/ 505433 w 533400"/>
                        <a:gd name="connsiteY3" fmla="*/ 400671 h 400050"/>
                        <a:gd name="connsiteX4" fmla="*/ 29183 w 533400"/>
                        <a:gd name="connsiteY4" fmla="*/ 400671 h 400050"/>
                        <a:gd name="connsiteX5" fmla="*/ 608 w 533400"/>
                        <a:gd name="connsiteY5" fmla="*/ 372096 h 400050"/>
                        <a:gd name="connsiteX6" fmla="*/ 608 w 533400"/>
                        <a:gd name="connsiteY6" fmla="*/ 29196 h 400050"/>
                        <a:gd name="connsiteX7" fmla="*/ 29183 w 533400"/>
                        <a:gd name="connsiteY7" fmla="*/ 621 h 400050"/>
                        <a:gd name="connsiteX8" fmla="*/ 505433 w 533400"/>
                        <a:gd name="connsiteY8" fmla="*/ 621 h 400050"/>
                        <a:gd name="connsiteX9" fmla="*/ 391419 w 533400"/>
                        <a:gd name="connsiteY9" fmla="*/ 198646 h 400050"/>
                        <a:gd name="connsiteX10" fmla="*/ 351414 w 533400"/>
                        <a:gd name="connsiteY10" fmla="*/ 204170 h 400050"/>
                        <a:gd name="connsiteX11" fmla="*/ 351414 w 533400"/>
                        <a:gd name="connsiteY11" fmla="*/ 204170 h 400050"/>
                        <a:gd name="connsiteX12" fmla="*/ 267118 w 533400"/>
                        <a:gd name="connsiteY12" fmla="*/ 315613 h 400050"/>
                        <a:gd name="connsiteX13" fmla="*/ 264641 w 533400"/>
                        <a:gd name="connsiteY13" fmla="*/ 318470 h 400050"/>
                        <a:gd name="connsiteX14" fmla="*/ 224255 w 533400"/>
                        <a:gd name="connsiteY14" fmla="*/ 318756 h 400050"/>
                        <a:gd name="connsiteX15" fmla="*/ 224255 w 533400"/>
                        <a:gd name="connsiteY15" fmla="*/ 318756 h 400050"/>
                        <a:gd name="connsiteX16" fmla="*/ 162152 w 533400"/>
                        <a:gd name="connsiteY16" fmla="*/ 257415 h 400050"/>
                        <a:gd name="connsiteX17" fmla="*/ 160247 w 533400"/>
                        <a:gd name="connsiteY17" fmla="*/ 255701 h 400050"/>
                        <a:gd name="connsiteX18" fmla="*/ 120052 w 533400"/>
                        <a:gd name="connsiteY18" fmla="*/ 259606 h 400050"/>
                        <a:gd name="connsiteX19" fmla="*/ 120052 w 533400"/>
                        <a:gd name="connsiteY19" fmla="*/ 259606 h 400050"/>
                        <a:gd name="connsiteX20" fmla="*/ 32517 w 533400"/>
                        <a:gd name="connsiteY20" fmla="*/ 366095 h 400050"/>
                        <a:gd name="connsiteX21" fmla="*/ 30326 w 533400"/>
                        <a:gd name="connsiteY21" fmla="*/ 372096 h 400050"/>
                        <a:gd name="connsiteX22" fmla="*/ 39851 w 533400"/>
                        <a:gd name="connsiteY22" fmla="*/ 381621 h 400050"/>
                        <a:gd name="connsiteX23" fmla="*/ 39851 w 533400"/>
                        <a:gd name="connsiteY23" fmla="*/ 381621 h 400050"/>
                        <a:gd name="connsiteX24" fmla="*/ 497242 w 533400"/>
                        <a:gd name="connsiteY24" fmla="*/ 381621 h 400050"/>
                        <a:gd name="connsiteX25" fmla="*/ 502480 w 533400"/>
                        <a:gd name="connsiteY25" fmla="*/ 380002 h 400050"/>
                        <a:gd name="connsiteX26" fmla="*/ 505147 w 533400"/>
                        <a:gd name="connsiteY26" fmla="*/ 366762 h 400050"/>
                        <a:gd name="connsiteX27" fmla="*/ 505147 w 533400"/>
                        <a:gd name="connsiteY27" fmla="*/ 366762 h 400050"/>
                        <a:gd name="connsiteX28" fmla="*/ 397991 w 533400"/>
                        <a:gd name="connsiteY28" fmla="*/ 205504 h 400050"/>
                        <a:gd name="connsiteX29" fmla="*/ 391419 w 533400"/>
                        <a:gd name="connsiteY29" fmla="*/ 198646 h 400050"/>
                        <a:gd name="connsiteX30" fmla="*/ 95858 w 533400"/>
                        <a:gd name="connsiteY30" fmla="*/ 57771 h 400050"/>
                        <a:gd name="connsiteX31" fmla="*/ 57758 w 533400"/>
                        <a:gd name="connsiteY31" fmla="*/ 95871 h 400050"/>
                        <a:gd name="connsiteX32" fmla="*/ 95858 w 533400"/>
                        <a:gd name="connsiteY32" fmla="*/ 133971 h 400050"/>
                        <a:gd name="connsiteX33" fmla="*/ 133958 w 533400"/>
                        <a:gd name="connsiteY33" fmla="*/ 95871 h 400050"/>
                        <a:gd name="connsiteX34" fmla="*/ 95858 w 533400"/>
                        <a:gd name="connsiteY34" fmla="*/ 57771 h 400050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533400" h="400050">
                          <a:moveTo>
                            <a:pt x="505433" y="621"/>
                          </a:moveTo>
                          <a:cubicBezTo>
                            <a:pt x="521245" y="621"/>
                            <a:pt x="534008" y="13385"/>
                            <a:pt x="534008" y="29196"/>
                          </a:cubicBezTo>
                          <a:lnTo>
                            <a:pt x="534008" y="372096"/>
                          </a:lnTo>
                          <a:cubicBezTo>
                            <a:pt x="534008" y="387907"/>
                            <a:pt x="521245" y="400671"/>
                            <a:pt x="505433" y="400671"/>
                          </a:cubicBezTo>
                          <a:lnTo>
                            <a:pt x="29183" y="400671"/>
                          </a:lnTo>
                          <a:cubicBezTo>
                            <a:pt x="13371" y="400671"/>
                            <a:pt x="608" y="387907"/>
                            <a:pt x="608" y="372096"/>
                          </a:cubicBezTo>
                          <a:lnTo>
                            <a:pt x="608" y="29196"/>
                          </a:lnTo>
                          <a:cubicBezTo>
                            <a:pt x="608" y="13385"/>
                            <a:pt x="13371" y="621"/>
                            <a:pt x="29183" y="621"/>
                          </a:cubicBezTo>
                          <a:lnTo>
                            <a:pt x="505433" y="621"/>
                          </a:lnTo>
                          <a:close/>
                          <a:moveTo>
                            <a:pt x="391419" y="198646"/>
                          </a:moveTo>
                          <a:cubicBezTo>
                            <a:pt x="378846" y="189121"/>
                            <a:pt x="360939" y="191597"/>
                            <a:pt x="351414" y="204170"/>
                          </a:cubicBezTo>
                          <a:lnTo>
                            <a:pt x="351414" y="204170"/>
                          </a:lnTo>
                          <a:lnTo>
                            <a:pt x="267118" y="315613"/>
                          </a:lnTo>
                          <a:cubicBezTo>
                            <a:pt x="266355" y="316660"/>
                            <a:pt x="265498" y="317518"/>
                            <a:pt x="264641" y="318470"/>
                          </a:cubicBezTo>
                          <a:cubicBezTo>
                            <a:pt x="253592" y="329710"/>
                            <a:pt x="235495" y="329805"/>
                            <a:pt x="224255" y="318756"/>
                          </a:cubicBezTo>
                          <a:lnTo>
                            <a:pt x="224255" y="318756"/>
                          </a:lnTo>
                          <a:lnTo>
                            <a:pt x="162152" y="257415"/>
                          </a:lnTo>
                          <a:cubicBezTo>
                            <a:pt x="161485" y="256844"/>
                            <a:pt x="160914" y="256177"/>
                            <a:pt x="160247" y="255701"/>
                          </a:cubicBezTo>
                          <a:cubicBezTo>
                            <a:pt x="148055" y="245699"/>
                            <a:pt x="130053" y="247414"/>
                            <a:pt x="120052" y="259606"/>
                          </a:cubicBezTo>
                          <a:lnTo>
                            <a:pt x="120052" y="259606"/>
                          </a:lnTo>
                          <a:lnTo>
                            <a:pt x="32517" y="366095"/>
                          </a:lnTo>
                          <a:cubicBezTo>
                            <a:pt x="31088" y="367810"/>
                            <a:pt x="30326" y="369905"/>
                            <a:pt x="30326" y="372096"/>
                          </a:cubicBezTo>
                          <a:cubicBezTo>
                            <a:pt x="30326" y="377335"/>
                            <a:pt x="34612" y="381621"/>
                            <a:pt x="39851" y="381621"/>
                          </a:cubicBezTo>
                          <a:lnTo>
                            <a:pt x="39851" y="381621"/>
                          </a:lnTo>
                          <a:lnTo>
                            <a:pt x="497242" y="381621"/>
                          </a:lnTo>
                          <a:cubicBezTo>
                            <a:pt x="499146" y="381621"/>
                            <a:pt x="500956" y="381050"/>
                            <a:pt x="502480" y="380002"/>
                          </a:cubicBezTo>
                          <a:cubicBezTo>
                            <a:pt x="506862" y="377049"/>
                            <a:pt x="508005" y="371144"/>
                            <a:pt x="505147" y="366762"/>
                          </a:cubicBezTo>
                          <a:lnTo>
                            <a:pt x="505147" y="366762"/>
                          </a:lnTo>
                          <a:lnTo>
                            <a:pt x="397991" y="205504"/>
                          </a:lnTo>
                          <a:cubicBezTo>
                            <a:pt x="396181" y="202932"/>
                            <a:pt x="393990" y="200551"/>
                            <a:pt x="391419" y="198646"/>
                          </a:cubicBezTo>
                          <a:close/>
                          <a:moveTo>
                            <a:pt x="95858" y="57771"/>
                          </a:moveTo>
                          <a:cubicBezTo>
                            <a:pt x="74808" y="57771"/>
                            <a:pt x="57758" y="74821"/>
                            <a:pt x="57758" y="95871"/>
                          </a:cubicBezTo>
                          <a:cubicBezTo>
                            <a:pt x="57758" y="116921"/>
                            <a:pt x="74808" y="133971"/>
                            <a:pt x="95858" y="133971"/>
                          </a:cubicBezTo>
                          <a:cubicBezTo>
                            <a:pt x="116908" y="133971"/>
                            <a:pt x="133958" y="116921"/>
                            <a:pt x="133958" y="95871"/>
                          </a:cubicBezTo>
                          <a:cubicBezTo>
                            <a:pt x="133958" y="74821"/>
                            <a:pt x="116908" y="57771"/>
                            <a:pt x="95858" y="5777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700" cap="rnd">
                      <a:noFill/>
                      <a:prstDash val="solid"/>
                      <a:round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rmAutofit fontScale="25000" lnSpcReduction="20000"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9pPr>
                    </a:lstStyle>
                    <a:p>
                      <a:pPr algn="ctr" defTabSz="914354"/>
                      <a:endParaRPr lang="zh-CN" altLang="en-US" sz="2000" b="1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356C4FA3-26DC-4299-A637-0631A1E7A7C9}"/>
                      </a:ext>
                    </a:extLst>
                  </p:cNvPr>
                  <p:cNvSpPr txBox="1"/>
                  <p:nvPr/>
                </p:nvSpPr>
                <p:spPr>
                  <a:xfrm>
                    <a:off x="1485150" y="3457001"/>
                    <a:ext cx="1676506" cy="340735"/>
                  </a:xfrm>
                  <a:prstGeom prst="rect">
                    <a:avLst/>
                  </a:prstGeom>
                  <a:noFill/>
                </p:spPr>
                <p:txBody>
                  <a:bodyPr wrap="none" lIns="90000" tIns="46800" rIns="90000" bIns="46800" rtlCol="0" anchor="b" anchorCtr="0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/>
                      <a:t>总结重点</a:t>
                    </a: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146E5083-AD8C-4D76-9482-6A537CDA7B20}"/>
                      </a:ext>
                    </a:extLst>
                  </p:cNvPr>
                  <p:cNvSpPr/>
                  <p:nvPr/>
                </p:nvSpPr>
                <p:spPr>
                  <a:xfrm flipH="1">
                    <a:off x="1485150" y="3828264"/>
                    <a:ext cx="1676506" cy="340983"/>
                  </a:xfrm>
                  <a:prstGeom prst="rect">
                    <a:avLst/>
                  </a:prstGeom>
                  <a:noFill/>
                  <a:ln w="5715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t" anchorCtr="0" forceAA="0" compatLnSpc="1">
                    <a:no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>
                        <a:solidFill>
                          <a:schemeClr val="tx1"/>
                        </a:solidFill>
                      </a:rPr>
                      <a:t>概述演示文稿的重点内容</a:t>
                    </a:r>
                  </a:p>
                </p:txBody>
              </p:sp>
            </p:grpSp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3923B64A-384A-476C-AC6C-E07D84385615}"/>
                    </a:ext>
                  </a:extLst>
                </p:cNvPr>
                <p:cNvGrpSpPr/>
                <p:nvPr/>
              </p:nvGrpSpPr>
              <p:grpSpPr>
                <a:xfrm>
                  <a:off x="3479014" y="3842874"/>
                  <a:ext cx="4882550" cy="495631"/>
                  <a:chOff x="3027768" y="3492169"/>
                  <a:chExt cx="2961688" cy="495631"/>
                </a:xfrm>
              </p:grpSpPr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46299DD8-05D4-4D86-90E6-97494010A1EC}"/>
                      </a:ext>
                    </a:extLst>
                  </p:cNvPr>
                  <p:cNvCxnSpPr/>
                  <p:nvPr/>
                </p:nvCxnSpPr>
                <p:spPr>
                  <a:xfrm>
                    <a:off x="3027768" y="3492169"/>
                    <a:ext cx="512355" cy="495631"/>
                  </a:xfrm>
                  <a:prstGeom prst="line">
                    <a:avLst/>
                  </a:prstGeom>
                  <a:ln w="12700">
                    <a:solidFill>
                      <a:schemeClr val="tx1">
                        <a:lumMod val="50000"/>
                        <a:lumOff val="50000"/>
                        <a:alpha val="5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4FE28914-3341-437B-8377-FE27B5D5A74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477101" y="3492169"/>
                    <a:ext cx="512355" cy="495631"/>
                  </a:xfrm>
                  <a:prstGeom prst="line">
                    <a:avLst/>
                  </a:prstGeom>
                  <a:ln w="12700">
                    <a:solidFill>
                      <a:schemeClr val="tx1">
                        <a:lumMod val="50000"/>
                        <a:lumOff val="50000"/>
                        <a:alpha val="50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8DBA9E67-6FF1-494D-BB52-F522B9724266}"/>
                    </a:ext>
                  </a:extLst>
                </p:cNvPr>
                <p:cNvGrpSpPr/>
                <p:nvPr/>
              </p:nvGrpSpPr>
              <p:grpSpPr>
                <a:xfrm>
                  <a:off x="4873582" y="4395995"/>
                  <a:ext cx="2402349" cy="712246"/>
                  <a:chOff x="4894826" y="4395995"/>
                  <a:chExt cx="2402349" cy="712246"/>
                </a:xfrm>
              </p:grpSpPr>
              <p:grpSp>
                <p:nvGrpSpPr>
                  <p:cNvPr id="5" name="Group 4">
                    <a:extLst>
                      <a:ext uri="{FF2B5EF4-FFF2-40B4-BE49-F238E27FC236}">
                        <a16:creationId xmlns:a16="http://schemas.microsoft.com/office/drawing/2014/main" id="{F7D96332-B327-4E2C-963D-D2A51DEF494C}"/>
                      </a:ext>
                    </a:extLst>
                  </p:cNvPr>
                  <p:cNvGrpSpPr/>
                  <p:nvPr/>
                </p:nvGrpSpPr>
                <p:grpSpPr>
                  <a:xfrm>
                    <a:off x="4894826" y="4488889"/>
                    <a:ext cx="592999" cy="540000"/>
                    <a:chOff x="4116987" y="1486708"/>
                    <a:chExt cx="592999" cy="540000"/>
                  </a:xfrm>
                </p:grpSpPr>
                <p:sp>
                  <p:nvSpPr>
                    <p:cNvPr id="6" name="Freeform: Shape 5">
                      <a:extLst>
                        <a:ext uri="{FF2B5EF4-FFF2-40B4-BE49-F238E27FC236}">
                          <a16:creationId xmlns:a16="http://schemas.microsoft.com/office/drawing/2014/main" id="{E98699B7-2F60-49AC-9DD4-623576ACA0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16987" y="1486708"/>
                      <a:ext cx="592999" cy="540000"/>
                    </a:xfrm>
                    <a:custGeom>
                      <a:gdLst>
                        <a:gd name="connsiteX0" fmla="*/ 3612124 w 5416434"/>
                        <a:gd name="connsiteY0" fmla="*/ 0 h 4932339"/>
                        <a:gd name="connsiteX1" fmla="*/ 1804615 w 5416434"/>
                        <a:gd name="connsiteY1" fmla="*/ 0 h 4932339"/>
                        <a:gd name="connsiteX2" fmla="*/ 1024397 w 5416434"/>
                        <a:gd name="connsiteY2" fmla="*/ 450430 h 4932339"/>
                        <a:gd name="connsiteX3" fmla="*/ 120643 w 5416434"/>
                        <a:gd name="connsiteY3" fmla="*/ 2015740 h 4932339"/>
                        <a:gd name="connsiteX4" fmla="*/ 120643 w 5416434"/>
                        <a:gd name="connsiteY4" fmla="*/ 2916600 h 4932339"/>
                        <a:gd name="connsiteX5" fmla="*/ 1024397 w 5416434"/>
                        <a:gd name="connsiteY5" fmla="*/ 4481910 h 4932339"/>
                        <a:gd name="connsiteX6" fmla="*/ 1804463 w 5416434"/>
                        <a:gd name="connsiteY6" fmla="*/ 4932340 h 4932339"/>
                        <a:gd name="connsiteX7" fmla="*/ 3611972 w 5416434"/>
                        <a:gd name="connsiteY7" fmla="*/ 4932340 h 4932339"/>
                        <a:gd name="connsiteX8" fmla="*/ 4392037 w 5416434"/>
                        <a:gd name="connsiteY8" fmla="*/ 4481910 h 4932339"/>
                        <a:gd name="connsiteX9" fmla="*/ 5295792 w 5416434"/>
                        <a:gd name="connsiteY9" fmla="*/ 2916600 h 4932339"/>
                        <a:gd name="connsiteX10" fmla="*/ 5295792 w 5416434"/>
                        <a:gd name="connsiteY10" fmla="*/ 2015740 h 4932339"/>
                        <a:gd name="connsiteX11" fmla="*/ 4392189 w 5416434"/>
                        <a:gd name="connsiteY11" fmla="*/ 450430 h 4932339"/>
                        <a:gd name="connsiteX12" fmla="*/ 3612124 w 5416434"/>
                        <a:gd name="connsiteY12" fmla="*/ 0 h 4932339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5416434" h="4932339">
                          <a:moveTo>
                            <a:pt x="3612124" y="0"/>
                          </a:moveTo>
                          <a:lnTo>
                            <a:pt x="1804615" y="0"/>
                          </a:lnTo>
                          <a:cubicBezTo>
                            <a:pt x="1482749" y="0"/>
                            <a:pt x="1185407" y="171672"/>
                            <a:pt x="1024397" y="450430"/>
                          </a:cubicBezTo>
                          <a:lnTo>
                            <a:pt x="120643" y="2015740"/>
                          </a:lnTo>
                          <a:cubicBezTo>
                            <a:pt x="-40214" y="2294498"/>
                            <a:pt x="-40214" y="2637842"/>
                            <a:pt x="120643" y="2916600"/>
                          </a:cubicBezTo>
                          <a:lnTo>
                            <a:pt x="1024397" y="4481910"/>
                          </a:lnTo>
                          <a:cubicBezTo>
                            <a:pt x="1185254" y="4760667"/>
                            <a:pt x="1482749" y="4932340"/>
                            <a:pt x="1804463" y="4932340"/>
                          </a:cubicBezTo>
                          <a:lnTo>
                            <a:pt x="3611972" y="4932340"/>
                          </a:lnTo>
                          <a:cubicBezTo>
                            <a:pt x="3933838" y="4932340"/>
                            <a:pt x="4231180" y="4760667"/>
                            <a:pt x="4392037" y="4481910"/>
                          </a:cubicBezTo>
                          <a:lnTo>
                            <a:pt x="5295792" y="2916600"/>
                          </a:lnTo>
                          <a:cubicBezTo>
                            <a:pt x="5456649" y="2637842"/>
                            <a:pt x="5456649" y="2294498"/>
                            <a:pt x="5295792" y="2015740"/>
                          </a:cubicBezTo>
                          <a:lnTo>
                            <a:pt x="4392189" y="450430"/>
                          </a:lnTo>
                          <a:cubicBezTo>
                            <a:pt x="4231332" y="171672"/>
                            <a:pt x="3933991" y="0"/>
                            <a:pt x="3612124" y="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alpha val="30000"/>
                      </a:schemeClr>
                    </a:solidFill>
                    <a:ln w="57150" cap="rnd">
                      <a:noFill/>
                      <a:prstDash val="solid"/>
                      <a:round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normAutofit/>
                    </a:bodyPr>
                    <a:lstStyle/>
                    <a:p>
                      <a:pPr algn="ctr" defTabSz="913765"/>
                      <a:endParaRPr lang="zh-CN" altLang="en-US" sz="2000" b="1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7" name="Freeform: Shape 6">
                      <a:extLst>
                        <a:ext uri="{FF2B5EF4-FFF2-40B4-BE49-F238E27FC236}">
                          <a16:creationId xmlns:a16="http://schemas.microsoft.com/office/drawing/2014/main" id="{01AA94E8-C99A-4CFC-AFCA-8133691A72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96323" y="1663346"/>
                      <a:ext cx="234327" cy="195080"/>
                    </a:xfrm>
                    <a:custGeom>
                      <a:gdLst>
                        <a:gd name="connsiteX0" fmla="*/ 483573 w 526297"/>
                        <a:gd name="connsiteY0" fmla="*/ 133971 h 438150"/>
                        <a:gd name="connsiteX1" fmla="*/ 527674 w 526297"/>
                        <a:gd name="connsiteY1" fmla="*/ 178072 h 438150"/>
                        <a:gd name="connsiteX2" fmla="*/ 527579 w 526297"/>
                        <a:gd name="connsiteY2" fmla="*/ 181501 h 438150"/>
                        <a:gd name="connsiteX3" fmla="*/ 514244 w 526297"/>
                        <a:gd name="connsiteY3" fmla="*/ 355237 h 438150"/>
                        <a:gd name="connsiteX4" fmla="*/ 485764 w 526297"/>
                        <a:gd name="connsiteY4" fmla="*/ 381621 h 438150"/>
                        <a:gd name="connsiteX5" fmla="*/ 454998 w 526297"/>
                        <a:gd name="connsiteY5" fmla="*/ 381621 h 438150"/>
                        <a:gd name="connsiteX6" fmla="*/ 454998 w 526297"/>
                        <a:gd name="connsiteY6" fmla="*/ 438771 h 438150"/>
                        <a:gd name="connsiteX7" fmla="*/ 435948 w 526297"/>
                        <a:gd name="connsiteY7" fmla="*/ 438771 h 438150"/>
                        <a:gd name="connsiteX8" fmla="*/ 435948 w 526297"/>
                        <a:gd name="connsiteY8" fmla="*/ 381621 h 438150"/>
                        <a:gd name="connsiteX9" fmla="*/ 93048 w 526297"/>
                        <a:gd name="connsiteY9" fmla="*/ 381621 h 438150"/>
                        <a:gd name="connsiteX10" fmla="*/ 93048 w 526297"/>
                        <a:gd name="connsiteY10" fmla="*/ 438771 h 438150"/>
                        <a:gd name="connsiteX11" fmla="*/ 73998 w 526297"/>
                        <a:gd name="connsiteY11" fmla="*/ 438771 h 438150"/>
                        <a:gd name="connsiteX12" fmla="*/ 73998 w 526297"/>
                        <a:gd name="connsiteY12" fmla="*/ 381621 h 438150"/>
                        <a:gd name="connsiteX13" fmla="*/ 43328 w 526297"/>
                        <a:gd name="connsiteY13" fmla="*/ 381621 h 438150"/>
                        <a:gd name="connsiteX14" fmla="*/ 14848 w 526297"/>
                        <a:gd name="connsiteY14" fmla="*/ 355237 h 438150"/>
                        <a:gd name="connsiteX15" fmla="*/ 1513 w 526297"/>
                        <a:gd name="connsiteY15" fmla="*/ 181501 h 438150"/>
                        <a:gd name="connsiteX16" fmla="*/ 42089 w 526297"/>
                        <a:gd name="connsiteY16" fmla="*/ 134162 h 438150"/>
                        <a:gd name="connsiteX17" fmla="*/ 45518 w 526297"/>
                        <a:gd name="connsiteY17" fmla="*/ 134066 h 438150"/>
                        <a:gd name="connsiteX18" fmla="*/ 101906 w 526297"/>
                        <a:gd name="connsiteY18" fmla="*/ 180834 h 438150"/>
                        <a:gd name="connsiteX19" fmla="*/ 121623 w 526297"/>
                        <a:gd name="connsiteY19" fmla="*/ 286371 h 438150"/>
                        <a:gd name="connsiteX20" fmla="*/ 407373 w 526297"/>
                        <a:gd name="connsiteY20" fmla="*/ 286371 h 438150"/>
                        <a:gd name="connsiteX21" fmla="*/ 427185 w 526297"/>
                        <a:gd name="connsiteY21" fmla="*/ 180739 h 438150"/>
                        <a:gd name="connsiteX22" fmla="*/ 483573 w 526297"/>
                        <a:gd name="connsiteY22" fmla="*/ 133971 h 438150"/>
                        <a:gd name="connsiteX23" fmla="*/ 416898 w 526297"/>
                        <a:gd name="connsiteY23" fmla="*/ 621 h 438150"/>
                        <a:gd name="connsiteX24" fmla="*/ 483573 w 526297"/>
                        <a:gd name="connsiteY24" fmla="*/ 67296 h 438150"/>
                        <a:gd name="connsiteX25" fmla="*/ 483573 w 526297"/>
                        <a:gd name="connsiteY25" fmla="*/ 115397 h 438150"/>
                        <a:gd name="connsiteX26" fmla="*/ 476429 w 526297"/>
                        <a:gd name="connsiteY26" fmla="*/ 114921 h 438150"/>
                        <a:gd name="connsiteX27" fmla="*/ 412040 w 526297"/>
                        <a:gd name="connsiteY27" fmla="*/ 166451 h 438150"/>
                        <a:gd name="connsiteX28" fmla="*/ 411564 w 526297"/>
                        <a:gd name="connsiteY28" fmla="*/ 168737 h 438150"/>
                        <a:gd name="connsiteX29" fmla="*/ 393086 w 526297"/>
                        <a:gd name="connsiteY29" fmla="*/ 267321 h 438150"/>
                        <a:gd name="connsiteX30" fmla="*/ 135911 w 526297"/>
                        <a:gd name="connsiteY30" fmla="*/ 267321 h 438150"/>
                        <a:gd name="connsiteX31" fmla="*/ 117432 w 526297"/>
                        <a:gd name="connsiteY31" fmla="*/ 168737 h 438150"/>
                        <a:gd name="connsiteX32" fmla="*/ 52567 w 526297"/>
                        <a:gd name="connsiteY32" fmla="*/ 114921 h 438150"/>
                        <a:gd name="connsiteX33" fmla="*/ 54948 w 526297"/>
                        <a:gd name="connsiteY33" fmla="*/ 67296 h 438150"/>
                        <a:gd name="connsiteX34" fmla="*/ 121623 w 526297"/>
                        <a:gd name="connsiteY34" fmla="*/ 621 h 438150"/>
                        <a:gd name="connsiteX35" fmla="*/ 416898 w 526297"/>
                        <a:gd name="connsiteY35" fmla="*/ 621 h 438150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</a:cxnLst>
                      <a:rect l="l" t="t" r="r" b="b"/>
                      <a:pathLst>
                        <a:path w="526297" h="438150">
                          <a:moveTo>
                            <a:pt x="483573" y="133971"/>
                          </a:moveTo>
                          <a:cubicBezTo>
                            <a:pt x="507957" y="133971"/>
                            <a:pt x="527674" y="153688"/>
                            <a:pt x="527674" y="178072"/>
                          </a:cubicBezTo>
                          <a:cubicBezTo>
                            <a:pt x="527674" y="179215"/>
                            <a:pt x="527674" y="180358"/>
                            <a:pt x="527579" y="181501"/>
                          </a:cubicBezTo>
                          <a:lnTo>
                            <a:pt x="514244" y="355237"/>
                          </a:lnTo>
                          <a:cubicBezTo>
                            <a:pt x="513101" y="370096"/>
                            <a:pt x="500718" y="381621"/>
                            <a:pt x="485764" y="381621"/>
                          </a:cubicBezTo>
                          <a:lnTo>
                            <a:pt x="454998" y="381621"/>
                          </a:lnTo>
                          <a:lnTo>
                            <a:pt x="454998" y="438771"/>
                          </a:lnTo>
                          <a:lnTo>
                            <a:pt x="435948" y="438771"/>
                          </a:lnTo>
                          <a:lnTo>
                            <a:pt x="435948" y="381621"/>
                          </a:lnTo>
                          <a:lnTo>
                            <a:pt x="93048" y="381621"/>
                          </a:lnTo>
                          <a:lnTo>
                            <a:pt x="93048" y="438771"/>
                          </a:lnTo>
                          <a:lnTo>
                            <a:pt x="73998" y="438771"/>
                          </a:lnTo>
                          <a:lnTo>
                            <a:pt x="73998" y="381621"/>
                          </a:lnTo>
                          <a:lnTo>
                            <a:pt x="43328" y="381621"/>
                          </a:lnTo>
                          <a:cubicBezTo>
                            <a:pt x="28373" y="381621"/>
                            <a:pt x="15991" y="370096"/>
                            <a:pt x="14848" y="355237"/>
                          </a:cubicBezTo>
                          <a:lnTo>
                            <a:pt x="1513" y="181501"/>
                          </a:lnTo>
                          <a:cubicBezTo>
                            <a:pt x="-392" y="157212"/>
                            <a:pt x="17801" y="135971"/>
                            <a:pt x="42089" y="134162"/>
                          </a:cubicBezTo>
                          <a:cubicBezTo>
                            <a:pt x="43232" y="134066"/>
                            <a:pt x="44375" y="134066"/>
                            <a:pt x="45518" y="134066"/>
                          </a:cubicBezTo>
                          <a:cubicBezTo>
                            <a:pt x="73141" y="134066"/>
                            <a:pt x="96858" y="153688"/>
                            <a:pt x="101906" y="180834"/>
                          </a:cubicBezTo>
                          <a:lnTo>
                            <a:pt x="121623" y="286371"/>
                          </a:lnTo>
                          <a:lnTo>
                            <a:pt x="407373" y="286371"/>
                          </a:lnTo>
                          <a:lnTo>
                            <a:pt x="427185" y="180739"/>
                          </a:lnTo>
                          <a:cubicBezTo>
                            <a:pt x="432233" y="153592"/>
                            <a:pt x="455951" y="133971"/>
                            <a:pt x="483573" y="133971"/>
                          </a:cubicBezTo>
                          <a:close/>
                          <a:moveTo>
                            <a:pt x="416898" y="621"/>
                          </a:moveTo>
                          <a:cubicBezTo>
                            <a:pt x="453760" y="621"/>
                            <a:pt x="483573" y="30434"/>
                            <a:pt x="483573" y="67296"/>
                          </a:cubicBezTo>
                          <a:lnTo>
                            <a:pt x="483573" y="115397"/>
                          </a:lnTo>
                          <a:cubicBezTo>
                            <a:pt x="481192" y="115112"/>
                            <a:pt x="478811" y="114921"/>
                            <a:pt x="476429" y="114921"/>
                          </a:cubicBezTo>
                          <a:cubicBezTo>
                            <a:pt x="445473" y="114921"/>
                            <a:pt x="418803" y="136448"/>
                            <a:pt x="412040" y="166451"/>
                          </a:cubicBezTo>
                          <a:lnTo>
                            <a:pt x="411564" y="168737"/>
                          </a:lnTo>
                          <a:lnTo>
                            <a:pt x="393086" y="267321"/>
                          </a:lnTo>
                          <a:lnTo>
                            <a:pt x="135911" y="267321"/>
                          </a:lnTo>
                          <a:lnTo>
                            <a:pt x="117432" y="168737"/>
                          </a:lnTo>
                          <a:cubicBezTo>
                            <a:pt x="111622" y="137495"/>
                            <a:pt x="84285" y="114921"/>
                            <a:pt x="52567" y="114921"/>
                          </a:cubicBezTo>
                          <a:lnTo>
                            <a:pt x="54948" y="67296"/>
                          </a:lnTo>
                          <a:cubicBezTo>
                            <a:pt x="54948" y="30434"/>
                            <a:pt x="84761" y="621"/>
                            <a:pt x="121623" y="621"/>
                          </a:cubicBezTo>
                          <a:lnTo>
                            <a:pt x="416898" y="62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700" cap="rnd">
                      <a:noFill/>
                      <a:prstDash val="solid"/>
                      <a:round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rmAutofit fontScale="40000" lnSpcReduction="20000"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9pPr>
                    </a:lstStyle>
                    <a:p>
                      <a:pPr algn="ctr" defTabSz="914354"/>
                      <a:endParaRPr lang="zh-CN" altLang="en-US" sz="2000" b="1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4E526AAC-7940-4333-A6F3-F56D029DF205}"/>
                      </a:ext>
                    </a:extLst>
                  </p:cNvPr>
                  <p:cNvSpPr txBox="1"/>
                  <p:nvPr/>
                </p:nvSpPr>
                <p:spPr>
                  <a:xfrm>
                    <a:off x="5620669" y="4395995"/>
                    <a:ext cx="1676506" cy="340735"/>
                  </a:xfrm>
                  <a:prstGeom prst="rect">
                    <a:avLst/>
                  </a:prstGeom>
                  <a:noFill/>
                </p:spPr>
                <p:txBody>
                  <a:bodyPr wrap="none" lIns="90000" tIns="46800" rIns="90000" bIns="46800" rtlCol="0" anchor="b" anchorCtr="0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/>
                      <a:t>制定个人计划</a:t>
                    </a: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04E32050-96BD-43B1-9ECD-73EE92502170}"/>
                      </a:ext>
                    </a:extLst>
                  </p:cNvPr>
                  <p:cNvSpPr/>
                  <p:nvPr/>
                </p:nvSpPr>
                <p:spPr>
                  <a:xfrm flipH="1">
                    <a:off x="5620669" y="4767258"/>
                    <a:ext cx="1676506" cy="340983"/>
                  </a:xfrm>
                  <a:prstGeom prst="rect">
                    <a:avLst/>
                  </a:prstGeom>
                  <a:noFill/>
                  <a:ln w="5715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t" anchorCtr="0" forceAA="0" compatLnSpc="1">
                    <a:no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>
                        <a:solidFill>
                          <a:schemeClr val="tx1"/>
                        </a:solidFill>
                      </a:rPr>
                      <a:t>为自己设定目标，提升个人工作效率</a:t>
                    </a:r>
                  </a:p>
                </p:txBody>
              </p:sp>
            </p:grpSp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6FA128A1-BC77-4FB6-9A4F-2DE3BDAF24D5}"/>
                    </a:ext>
                  </a:extLst>
                </p:cNvPr>
                <p:cNvGrpSpPr/>
                <p:nvPr/>
              </p:nvGrpSpPr>
              <p:grpSpPr>
                <a:xfrm>
                  <a:off x="8987856" y="3457001"/>
                  <a:ext cx="2402349" cy="712246"/>
                  <a:chOff x="8987856" y="3457001"/>
                  <a:chExt cx="2402349" cy="712246"/>
                </a:xfrm>
              </p:grpSpPr>
              <p:grpSp>
                <p:nvGrpSpPr>
                  <p:cNvPr id="8" name="Group 7">
                    <a:extLst>
                      <a:ext uri="{FF2B5EF4-FFF2-40B4-BE49-F238E27FC236}">
                        <a16:creationId xmlns:a16="http://schemas.microsoft.com/office/drawing/2014/main" id="{49E49011-8A2D-4CEB-AF6C-30C44FAC46F9}"/>
                      </a:ext>
                    </a:extLst>
                  </p:cNvPr>
                  <p:cNvGrpSpPr/>
                  <p:nvPr/>
                </p:nvGrpSpPr>
                <p:grpSpPr>
                  <a:xfrm>
                    <a:off x="8987856" y="3549895"/>
                    <a:ext cx="592999" cy="540000"/>
                    <a:chOff x="3046797" y="1486708"/>
                    <a:chExt cx="592999" cy="540000"/>
                  </a:xfrm>
                </p:grpSpPr>
                <p:sp>
                  <p:nvSpPr>
                    <p:cNvPr id="9" name="Freeform: Shape 8">
                      <a:extLst>
                        <a:ext uri="{FF2B5EF4-FFF2-40B4-BE49-F238E27FC236}">
                          <a16:creationId xmlns:a16="http://schemas.microsoft.com/office/drawing/2014/main" id="{433ED45C-44F3-44F5-A61A-AA058EB6FC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6797" y="1486708"/>
                      <a:ext cx="592999" cy="540000"/>
                    </a:xfrm>
                    <a:custGeom>
                      <a:gdLst>
                        <a:gd name="connsiteX0" fmla="*/ 3612124 w 5416434"/>
                        <a:gd name="connsiteY0" fmla="*/ 0 h 4932339"/>
                        <a:gd name="connsiteX1" fmla="*/ 1804615 w 5416434"/>
                        <a:gd name="connsiteY1" fmla="*/ 0 h 4932339"/>
                        <a:gd name="connsiteX2" fmla="*/ 1024397 w 5416434"/>
                        <a:gd name="connsiteY2" fmla="*/ 450430 h 4932339"/>
                        <a:gd name="connsiteX3" fmla="*/ 120643 w 5416434"/>
                        <a:gd name="connsiteY3" fmla="*/ 2015740 h 4932339"/>
                        <a:gd name="connsiteX4" fmla="*/ 120643 w 5416434"/>
                        <a:gd name="connsiteY4" fmla="*/ 2916600 h 4932339"/>
                        <a:gd name="connsiteX5" fmla="*/ 1024397 w 5416434"/>
                        <a:gd name="connsiteY5" fmla="*/ 4481910 h 4932339"/>
                        <a:gd name="connsiteX6" fmla="*/ 1804463 w 5416434"/>
                        <a:gd name="connsiteY6" fmla="*/ 4932340 h 4932339"/>
                        <a:gd name="connsiteX7" fmla="*/ 3611972 w 5416434"/>
                        <a:gd name="connsiteY7" fmla="*/ 4932340 h 4932339"/>
                        <a:gd name="connsiteX8" fmla="*/ 4392037 w 5416434"/>
                        <a:gd name="connsiteY8" fmla="*/ 4481910 h 4932339"/>
                        <a:gd name="connsiteX9" fmla="*/ 5295792 w 5416434"/>
                        <a:gd name="connsiteY9" fmla="*/ 2916600 h 4932339"/>
                        <a:gd name="connsiteX10" fmla="*/ 5295792 w 5416434"/>
                        <a:gd name="connsiteY10" fmla="*/ 2015740 h 4932339"/>
                        <a:gd name="connsiteX11" fmla="*/ 4392189 w 5416434"/>
                        <a:gd name="connsiteY11" fmla="*/ 450430 h 4932339"/>
                        <a:gd name="connsiteX12" fmla="*/ 3612124 w 5416434"/>
                        <a:gd name="connsiteY12" fmla="*/ 0 h 4932339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5416434" h="4932339">
                          <a:moveTo>
                            <a:pt x="3612124" y="0"/>
                          </a:moveTo>
                          <a:lnTo>
                            <a:pt x="1804615" y="0"/>
                          </a:lnTo>
                          <a:cubicBezTo>
                            <a:pt x="1482749" y="0"/>
                            <a:pt x="1185407" y="171672"/>
                            <a:pt x="1024397" y="450430"/>
                          </a:cubicBezTo>
                          <a:lnTo>
                            <a:pt x="120643" y="2015740"/>
                          </a:lnTo>
                          <a:cubicBezTo>
                            <a:pt x="-40214" y="2294498"/>
                            <a:pt x="-40214" y="2637842"/>
                            <a:pt x="120643" y="2916600"/>
                          </a:cubicBezTo>
                          <a:lnTo>
                            <a:pt x="1024397" y="4481910"/>
                          </a:lnTo>
                          <a:cubicBezTo>
                            <a:pt x="1185254" y="4760667"/>
                            <a:pt x="1482749" y="4932340"/>
                            <a:pt x="1804463" y="4932340"/>
                          </a:cubicBezTo>
                          <a:lnTo>
                            <a:pt x="3611972" y="4932340"/>
                          </a:lnTo>
                          <a:cubicBezTo>
                            <a:pt x="3933838" y="4932340"/>
                            <a:pt x="4231180" y="4760667"/>
                            <a:pt x="4392037" y="4481910"/>
                          </a:cubicBezTo>
                          <a:lnTo>
                            <a:pt x="5295792" y="2916600"/>
                          </a:lnTo>
                          <a:cubicBezTo>
                            <a:pt x="5456649" y="2637842"/>
                            <a:pt x="5456649" y="2294498"/>
                            <a:pt x="5295792" y="2015740"/>
                          </a:cubicBezTo>
                          <a:lnTo>
                            <a:pt x="4392189" y="450430"/>
                          </a:lnTo>
                          <a:cubicBezTo>
                            <a:pt x="4231332" y="171672"/>
                            <a:pt x="3933991" y="0"/>
                            <a:pt x="3612124" y="0"/>
                          </a:cubicBezTo>
                          <a:close/>
                        </a:path>
                      </a:pathLst>
                    </a:custGeom>
                    <a:solidFill>
                      <a:schemeClr val="tx1">
                        <a:alpha val="30000"/>
                      </a:schemeClr>
                    </a:solidFill>
                    <a:ln w="57150" cap="rnd">
                      <a:noFill/>
                      <a:prstDash val="solid"/>
                      <a:round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normAutofit/>
                    </a:bodyPr>
                    <a:lstStyle/>
                    <a:p>
                      <a:pPr algn="ctr" defTabSz="913765"/>
                      <a:endParaRPr lang="zh-CN" altLang="en-US" sz="2000" b="1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0" name="Freeform: Shape 9">
                      <a:extLst>
                        <a:ext uri="{FF2B5EF4-FFF2-40B4-BE49-F238E27FC236}">
                          <a16:creationId xmlns:a16="http://schemas.microsoft.com/office/drawing/2014/main" id="{9A567C87-9CAE-44B4-A2CF-1BD0D70CC3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26133" y="1641637"/>
                      <a:ext cx="234327" cy="230142"/>
                    </a:xfrm>
                    <a:custGeom>
                      <a:gdLst>
                        <a:gd name="connsiteX0" fmla="*/ 343764 w 533400"/>
                        <a:gd name="connsiteY0" fmla="*/ 276846 h 523875"/>
                        <a:gd name="connsiteX1" fmla="*/ 372339 w 533400"/>
                        <a:gd name="connsiteY1" fmla="*/ 305421 h 523875"/>
                        <a:gd name="connsiteX2" fmla="*/ 372339 w 533400"/>
                        <a:gd name="connsiteY2" fmla="*/ 495921 h 523875"/>
                        <a:gd name="connsiteX3" fmla="*/ 343764 w 533400"/>
                        <a:gd name="connsiteY3" fmla="*/ 524496 h 523875"/>
                        <a:gd name="connsiteX4" fmla="*/ 191364 w 533400"/>
                        <a:gd name="connsiteY4" fmla="*/ 524496 h 523875"/>
                        <a:gd name="connsiteX5" fmla="*/ 162789 w 533400"/>
                        <a:gd name="connsiteY5" fmla="*/ 495921 h 523875"/>
                        <a:gd name="connsiteX6" fmla="*/ 162789 w 533400"/>
                        <a:gd name="connsiteY6" fmla="*/ 305421 h 523875"/>
                        <a:gd name="connsiteX7" fmla="*/ 191364 w 533400"/>
                        <a:gd name="connsiteY7" fmla="*/ 276846 h 523875"/>
                        <a:gd name="connsiteX8" fmla="*/ 343764 w 533400"/>
                        <a:gd name="connsiteY8" fmla="*/ 276846 h 523875"/>
                        <a:gd name="connsiteX9" fmla="*/ 143739 w 533400"/>
                        <a:gd name="connsiteY9" fmla="*/ 114921 h 523875"/>
                        <a:gd name="connsiteX10" fmla="*/ 179934 w 533400"/>
                        <a:gd name="connsiteY10" fmla="*/ 153021 h 523875"/>
                        <a:gd name="connsiteX11" fmla="*/ 181839 w 533400"/>
                        <a:gd name="connsiteY11" fmla="*/ 153021 h 523875"/>
                        <a:gd name="connsiteX12" fmla="*/ 353289 w 533400"/>
                        <a:gd name="connsiteY12" fmla="*/ 153021 h 523875"/>
                        <a:gd name="connsiteX13" fmla="*/ 391389 w 533400"/>
                        <a:gd name="connsiteY13" fmla="*/ 116826 h 523875"/>
                        <a:gd name="connsiteX14" fmla="*/ 391389 w 533400"/>
                        <a:gd name="connsiteY14" fmla="*/ 114921 h 523875"/>
                        <a:gd name="connsiteX15" fmla="*/ 505689 w 533400"/>
                        <a:gd name="connsiteY15" fmla="*/ 114921 h 523875"/>
                        <a:gd name="connsiteX16" fmla="*/ 534264 w 533400"/>
                        <a:gd name="connsiteY16" fmla="*/ 143496 h 523875"/>
                        <a:gd name="connsiteX17" fmla="*/ 534264 w 533400"/>
                        <a:gd name="connsiteY17" fmla="*/ 381621 h 523875"/>
                        <a:gd name="connsiteX18" fmla="*/ 505689 w 533400"/>
                        <a:gd name="connsiteY18" fmla="*/ 410196 h 523875"/>
                        <a:gd name="connsiteX19" fmla="*/ 391389 w 533400"/>
                        <a:gd name="connsiteY19" fmla="*/ 410196 h 523875"/>
                        <a:gd name="connsiteX20" fmla="*/ 391389 w 533400"/>
                        <a:gd name="connsiteY20" fmla="*/ 295896 h 523875"/>
                        <a:gd name="connsiteX21" fmla="*/ 355194 w 533400"/>
                        <a:gd name="connsiteY21" fmla="*/ 257796 h 523875"/>
                        <a:gd name="connsiteX22" fmla="*/ 353289 w 533400"/>
                        <a:gd name="connsiteY22" fmla="*/ 257796 h 523875"/>
                        <a:gd name="connsiteX23" fmla="*/ 181839 w 533400"/>
                        <a:gd name="connsiteY23" fmla="*/ 257796 h 523875"/>
                        <a:gd name="connsiteX24" fmla="*/ 143739 w 533400"/>
                        <a:gd name="connsiteY24" fmla="*/ 293991 h 523875"/>
                        <a:gd name="connsiteX25" fmla="*/ 143739 w 533400"/>
                        <a:gd name="connsiteY25" fmla="*/ 295896 h 523875"/>
                        <a:gd name="connsiteX26" fmla="*/ 143739 w 533400"/>
                        <a:gd name="connsiteY26" fmla="*/ 410196 h 523875"/>
                        <a:gd name="connsiteX27" fmla="*/ 29439 w 533400"/>
                        <a:gd name="connsiteY27" fmla="*/ 410196 h 523875"/>
                        <a:gd name="connsiteX28" fmla="*/ 864 w 533400"/>
                        <a:gd name="connsiteY28" fmla="*/ 381621 h 523875"/>
                        <a:gd name="connsiteX29" fmla="*/ 864 w 533400"/>
                        <a:gd name="connsiteY29" fmla="*/ 201408 h 523875"/>
                        <a:gd name="connsiteX30" fmla="*/ 11151 w 533400"/>
                        <a:gd name="connsiteY30" fmla="*/ 175405 h 523875"/>
                        <a:gd name="connsiteX31" fmla="*/ 56300 w 533400"/>
                        <a:gd name="connsiteY31" fmla="*/ 127018 h 523875"/>
                        <a:gd name="connsiteX32" fmla="*/ 84112 w 533400"/>
                        <a:gd name="connsiteY32" fmla="*/ 114921 h 523875"/>
                        <a:gd name="connsiteX33" fmla="*/ 143739 w 533400"/>
                        <a:gd name="connsiteY33" fmla="*/ 114921 h 523875"/>
                        <a:gd name="connsiteX34" fmla="*/ 462827 w 533400"/>
                        <a:gd name="connsiteY34" fmla="*/ 172071 h 523875"/>
                        <a:gd name="connsiteX35" fmla="*/ 448539 w 533400"/>
                        <a:gd name="connsiteY35" fmla="*/ 186359 h 523875"/>
                        <a:gd name="connsiteX36" fmla="*/ 462827 w 533400"/>
                        <a:gd name="connsiteY36" fmla="*/ 200646 h 523875"/>
                        <a:gd name="connsiteX37" fmla="*/ 477114 w 533400"/>
                        <a:gd name="connsiteY37" fmla="*/ 186359 h 523875"/>
                        <a:gd name="connsiteX38" fmla="*/ 462827 w 533400"/>
                        <a:gd name="connsiteY38" fmla="*/ 172071 h 523875"/>
                        <a:gd name="connsiteX39" fmla="*/ 343764 w 533400"/>
                        <a:gd name="connsiteY39" fmla="*/ 621 h 523875"/>
                        <a:gd name="connsiteX40" fmla="*/ 372339 w 533400"/>
                        <a:gd name="connsiteY40" fmla="*/ 29196 h 523875"/>
                        <a:gd name="connsiteX41" fmla="*/ 372339 w 533400"/>
                        <a:gd name="connsiteY41" fmla="*/ 105396 h 523875"/>
                        <a:gd name="connsiteX42" fmla="*/ 343764 w 533400"/>
                        <a:gd name="connsiteY42" fmla="*/ 133971 h 523875"/>
                        <a:gd name="connsiteX43" fmla="*/ 191364 w 533400"/>
                        <a:gd name="connsiteY43" fmla="*/ 133971 h 523875"/>
                        <a:gd name="connsiteX44" fmla="*/ 162789 w 533400"/>
                        <a:gd name="connsiteY44" fmla="*/ 105396 h 523875"/>
                        <a:gd name="connsiteX45" fmla="*/ 162789 w 533400"/>
                        <a:gd name="connsiteY45" fmla="*/ 29196 h 523875"/>
                        <a:gd name="connsiteX46" fmla="*/ 191364 w 533400"/>
                        <a:gd name="connsiteY46" fmla="*/ 621 h 523875"/>
                        <a:gd name="connsiteX47" fmla="*/ 343764 w 533400"/>
                        <a:gd name="connsiteY47" fmla="*/ 621 h 523875"/>
                      </a:gdLst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</a:cxnLst>
                      <a:rect l="l" t="t" r="r" b="b"/>
                      <a:pathLst>
                        <a:path w="533400" h="523875">
                          <a:moveTo>
                            <a:pt x="343764" y="276846"/>
                          </a:moveTo>
                          <a:cubicBezTo>
                            <a:pt x="359576" y="276846"/>
                            <a:pt x="372339" y="289610"/>
                            <a:pt x="372339" y="305421"/>
                          </a:cubicBezTo>
                          <a:lnTo>
                            <a:pt x="372339" y="495921"/>
                          </a:lnTo>
                          <a:cubicBezTo>
                            <a:pt x="372339" y="511732"/>
                            <a:pt x="359576" y="524496"/>
                            <a:pt x="343764" y="524496"/>
                          </a:cubicBezTo>
                          <a:lnTo>
                            <a:pt x="191364" y="524496"/>
                          </a:lnTo>
                          <a:cubicBezTo>
                            <a:pt x="175552" y="524496"/>
                            <a:pt x="162789" y="511732"/>
                            <a:pt x="162789" y="495921"/>
                          </a:cubicBezTo>
                          <a:lnTo>
                            <a:pt x="162789" y="305421"/>
                          </a:lnTo>
                          <a:cubicBezTo>
                            <a:pt x="162789" y="289610"/>
                            <a:pt x="175552" y="276846"/>
                            <a:pt x="191364" y="276846"/>
                          </a:cubicBezTo>
                          <a:lnTo>
                            <a:pt x="343764" y="276846"/>
                          </a:lnTo>
                          <a:close/>
                          <a:moveTo>
                            <a:pt x="143739" y="114921"/>
                          </a:moveTo>
                          <a:cubicBezTo>
                            <a:pt x="143739" y="135305"/>
                            <a:pt x="159741" y="151973"/>
                            <a:pt x="179934" y="153021"/>
                          </a:cubicBezTo>
                          <a:lnTo>
                            <a:pt x="181839" y="153021"/>
                          </a:lnTo>
                          <a:lnTo>
                            <a:pt x="353289" y="153021"/>
                          </a:lnTo>
                          <a:cubicBezTo>
                            <a:pt x="373673" y="153021"/>
                            <a:pt x="390341" y="137019"/>
                            <a:pt x="391389" y="116826"/>
                          </a:cubicBezTo>
                          <a:lnTo>
                            <a:pt x="391389" y="114921"/>
                          </a:lnTo>
                          <a:lnTo>
                            <a:pt x="505689" y="114921"/>
                          </a:lnTo>
                          <a:cubicBezTo>
                            <a:pt x="521501" y="114921"/>
                            <a:pt x="534264" y="127685"/>
                            <a:pt x="534264" y="143496"/>
                          </a:cubicBezTo>
                          <a:lnTo>
                            <a:pt x="534264" y="381621"/>
                          </a:lnTo>
                          <a:cubicBezTo>
                            <a:pt x="534264" y="397432"/>
                            <a:pt x="521501" y="410196"/>
                            <a:pt x="505689" y="410196"/>
                          </a:cubicBezTo>
                          <a:lnTo>
                            <a:pt x="391389" y="410196"/>
                          </a:lnTo>
                          <a:lnTo>
                            <a:pt x="391389" y="295896"/>
                          </a:lnTo>
                          <a:cubicBezTo>
                            <a:pt x="391389" y="275512"/>
                            <a:pt x="375387" y="258844"/>
                            <a:pt x="355194" y="257796"/>
                          </a:cubicBezTo>
                          <a:lnTo>
                            <a:pt x="353289" y="257796"/>
                          </a:lnTo>
                          <a:lnTo>
                            <a:pt x="181839" y="257796"/>
                          </a:lnTo>
                          <a:cubicBezTo>
                            <a:pt x="161455" y="257796"/>
                            <a:pt x="144787" y="273798"/>
                            <a:pt x="143739" y="293991"/>
                          </a:cubicBezTo>
                          <a:lnTo>
                            <a:pt x="143739" y="295896"/>
                          </a:lnTo>
                          <a:lnTo>
                            <a:pt x="143739" y="410196"/>
                          </a:lnTo>
                          <a:lnTo>
                            <a:pt x="29439" y="410196"/>
                          </a:lnTo>
                          <a:cubicBezTo>
                            <a:pt x="13627" y="410196"/>
                            <a:pt x="864" y="397432"/>
                            <a:pt x="864" y="381621"/>
                          </a:cubicBezTo>
                          <a:lnTo>
                            <a:pt x="864" y="201408"/>
                          </a:lnTo>
                          <a:cubicBezTo>
                            <a:pt x="864" y="191788"/>
                            <a:pt x="4484" y="182454"/>
                            <a:pt x="11151" y="175405"/>
                          </a:cubicBezTo>
                          <a:lnTo>
                            <a:pt x="56300" y="127018"/>
                          </a:lnTo>
                          <a:cubicBezTo>
                            <a:pt x="63538" y="119303"/>
                            <a:pt x="73635" y="114921"/>
                            <a:pt x="84112" y="114921"/>
                          </a:cubicBezTo>
                          <a:lnTo>
                            <a:pt x="143739" y="114921"/>
                          </a:lnTo>
                          <a:close/>
                          <a:moveTo>
                            <a:pt x="462827" y="172071"/>
                          </a:moveTo>
                          <a:cubicBezTo>
                            <a:pt x="454921" y="172071"/>
                            <a:pt x="448539" y="178453"/>
                            <a:pt x="448539" y="186359"/>
                          </a:cubicBezTo>
                          <a:cubicBezTo>
                            <a:pt x="448539" y="194264"/>
                            <a:pt x="454921" y="200646"/>
                            <a:pt x="462827" y="200646"/>
                          </a:cubicBezTo>
                          <a:cubicBezTo>
                            <a:pt x="470732" y="200646"/>
                            <a:pt x="477114" y="194264"/>
                            <a:pt x="477114" y="186359"/>
                          </a:cubicBezTo>
                          <a:cubicBezTo>
                            <a:pt x="477114" y="178453"/>
                            <a:pt x="470732" y="172071"/>
                            <a:pt x="462827" y="172071"/>
                          </a:cubicBezTo>
                          <a:close/>
                          <a:moveTo>
                            <a:pt x="343764" y="621"/>
                          </a:moveTo>
                          <a:cubicBezTo>
                            <a:pt x="359576" y="621"/>
                            <a:pt x="372339" y="13385"/>
                            <a:pt x="372339" y="29196"/>
                          </a:cubicBezTo>
                          <a:lnTo>
                            <a:pt x="372339" y="105396"/>
                          </a:lnTo>
                          <a:cubicBezTo>
                            <a:pt x="372339" y="121207"/>
                            <a:pt x="359576" y="133971"/>
                            <a:pt x="343764" y="133971"/>
                          </a:cubicBezTo>
                          <a:lnTo>
                            <a:pt x="191364" y="133971"/>
                          </a:lnTo>
                          <a:cubicBezTo>
                            <a:pt x="175552" y="133971"/>
                            <a:pt x="162789" y="121207"/>
                            <a:pt x="162789" y="105396"/>
                          </a:cubicBezTo>
                          <a:lnTo>
                            <a:pt x="162789" y="29196"/>
                          </a:lnTo>
                          <a:cubicBezTo>
                            <a:pt x="162789" y="13385"/>
                            <a:pt x="175552" y="621"/>
                            <a:pt x="191364" y="621"/>
                          </a:cubicBezTo>
                          <a:lnTo>
                            <a:pt x="343764" y="621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12700" cap="rnd">
                      <a:noFill/>
                      <a:prstDash val="solid"/>
                      <a:round/>
                    </a:ln>
                    <a:effectLst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91440" tIns="45720" rIns="91440" bIns="45720" numCol="1" spcCol="0" rtlCol="0" fromWordArt="0" anchor="ctr" anchorCtr="0" forceAA="0" compatLnSpc="1">
                      <a:prstTxWarp prst="textNoShape">
                        <a:avLst/>
                      </a:prstTxWarp>
                      <a:normAutofit fontScale="55000" lnSpcReduction="20000"/>
                    </a:bodyPr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lt1"/>
                          </a:solidFill>
                        </a:defRPr>
                      </a:lvl9pPr>
                    </a:lstStyle>
                    <a:p>
                      <a:pPr algn="ctr" defTabSz="914354"/>
                      <a:endParaRPr lang="zh-CN" altLang="en-US" sz="2000" b="1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0AC96EAB-BBD4-4968-8804-C5C07F1BEFC6}"/>
                      </a:ext>
                    </a:extLst>
                  </p:cNvPr>
                  <p:cNvSpPr txBox="1"/>
                  <p:nvPr/>
                </p:nvSpPr>
                <p:spPr>
                  <a:xfrm>
                    <a:off x="9713699" y="3457001"/>
                    <a:ext cx="1676506" cy="340735"/>
                  </a:xfrm>
                  <a:prstGeom prst="rect">
                    <a:avLst/>
                  </a:prstGeom>
                  <a:noFill/>
                </p:spPr>
                <p:txBody>
                  <a:bodyPr wrap="none" lIns="90000" tIns="46800" rIns="90000" bIns="46800" rtlCol="0" anchor="b" anchorCtr="0">
                    <a:normAutofit/>
                  </a:bodyPr>
                  <a:lstStyle/>
                  <a:p>
                    <a:pPr>
                      <a:lnSpc>
                        <a:spcPct val="100000"/>
                      </a:lnSpc>
                    </a:pPr>
                    <a:r>
                      <a:rPr lang="zh-CN" altLang="en-US" sz="1600" b="1"/>
                      <a:t>参与公司培训</a:t>
                    </a:r>
                  </a:p>
                </p:txBody>
              </p:sp>
              <p:sp>
                <p:nvSpPr>
                  <p:cNvPr id="68" name="Rectangle 67">
                    <a:extLst>
                      <a:ext uri="{FF2B5EF4-FFF2-40B4-BE49-F238E27FC236}">
                        <a16:creationId xmlns:a16="http://schemas.microsoft.com/office/drawing/2014/main" id="{A7CF045F-5888-4AF0-AA12-5A377CAA97A6}"/>
                      </a:ext>
                    </a:extLst>
                  </p:cNvPr>
                  <p:cNvSpPr/>
                  <p:nvPr/>
                </p:nvSpPr>
                <p:spPr>
                  <a:xfrm flipH="1">
                    <a:off x="9713699" y="3828264"/>
                    <a:ext cx="1676506" cy="340983"/>
                  </a:xfrm>
                  <a:prstGeom prst="rect">
                    <a:avLst/>
                  </a:prstGeom>
                  <a:noFill/>
                  <a:ln w="57150" cap="rnd">
                    <a:noFill/>
                    <a:prstDash val="solid"/>
                    <a:round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t" anchorCtr="0" forceAA="0" compatLnSpc="1">
                    <a:no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200">
                        <a:solidFill>
                          <a:schemeClr val="tx1"/>
                        </a:solidFill>
                      </a:rPr>
                      <a:t>积极参与公司提供的培训活动</a:t>
                    </a:r>
                  </a:p>
                </p:txBody>
              </p:sp>
            </p:grp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B72E4B2E-29D1-417D-8E49-9CC587CA3CC3}"/>
                  </a:ext>
                </a:extLst>
              </p:cNvPr>
              <p:cNvGrpSpPr/>
              <p:nvPr/>
            </p:nvGrpSpPr>
            <p:grpSpPr>
              <a:xfrm>
                <a:off x="660400" y="1028699"/>
                <a:ext cx="8555283" cy="1111317"/>
                <a:chOff x="660400" y="1028699"/>
                <a:chExt cx="8555283" cy="1111317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4C0823F7-7231-4F1F-A065-6FF29A6E7BE8}"/>
                    </a:ext>
                  </a:extLst>
                </p:cNvPr>
                <p:cNvSpPr/>
                <p:nvPr/>
              </p:nvSpPr>
              <p:spPr>
                <a:xfrm>
                  <a:off x="660400" y="1028699"/>
                  <a:ext cx="4533839" cy="1111317"/>
                </a:xfrm>
                <a:prstGeom prst="rect">
                  <a:avLst/>
                </a:prstGeom>
              </p:spPr>
              <p:txBody>
                <a:bodyPr wrap="square" anchor="b" anchorCtr="0">
                  <a:noAutofit/>
                </a:bodyPr>
                <a:lstStyle/>
                <a:p>
                  <a:pPr>
                    <a:lnSpc>
                      <a:spcPct val="100000"/>
                    </a:lnSpc>
                    <a:buSzPct val="25000"/>
                  </a:pPr>
                  <a:r>
                    <a:rPr lang="zh-CN" altLang="en-US" sz="2400" b="1">
                      <a:solidFill>
                        <a:schemeClr val="tx1"/>
                      </a:solidFill>
                    </a:rPr>
                    <a:t>总结提升策略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F9956FB-2641-47BF-84D2-3722960B6476}"/>
                    </a:ext>
                  </a:extLst>
                </p:cNvPr>
                <p:cNvSpPr txBox="1"/>
                <p:nvPr/>
              </p:nvSpPr>
              <p:spPr>
                <a:xfrm>
                  <a:off x="5579760" y="1279701"/>
                  <a:ext cx="3635923" cy="2948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ct val="150000"/>
                    </a:lnSpc>
                    <a:defRPr sz="1200">
                      <a:solidFill>
                        <a:schemeClr val="bg1">
                          <a:lumMod val="50000"/>
                        </a:schemeClr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zh-CN" altLang="en-US" sz="1200">
                      <a:solidFill>
                        <a:schemeClr val="tx1"/>
                      </a:solidFill>
                    </a:rPr>
                    <a:t>总结并提供实用的提升办公效率的策略</a:t>
                  </a:r>
                </a:p>
              </p:txBody>
            </p: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696683AE-FFD8-4997-BEC7-57BC35974D4B}"/>
                    </a:ext>
                  </a:extLst>
                </p:cNvPr>
                <p:cNvCxnSpPr/>
                <p:nvPr/>
              </p:nvCxnSpPr>
              <p:spPr>
                <a:xfrm flipH="1">
                  <a:off x="5225508" y="1256752"/>
                  <a:ext cx="0" cy="717557"/>
                </a:xfrm>
                <a:prstGeom prst="line">
                  <a:avLst/>
                </a:prstGeom>
                <a:ln w="12700">
                  <a:solidFill>
                    <a:schemeClr val="tx1">
                      <a:lumMod val="50000"/>
                      <a:lumOff val="50000"/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10" name="Title 109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晋升之路指南</a:t>
            </a:r>
          </a:p>
        </p:txBody>
      </p:sp>
    </p:spTree>
    <p:custDataLst>
      <p:tags r:id="rId2"/>
    </p:custDataLst>
    <p:extLst>
      <p:ext uri="{BB962C8B-B14F-4D97-AF65-F5344CB8AC3E}">
        <p14:creationId val="4140251217"/>
      </p:ext>
    </p:extLst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 altLang="zh-CN"/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altLang="zh-CN"/>
              <a:t>Speaker name and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 wrap="square">
            <a:normAutofit/>
          </a:bodyPr>
          <a:lstStyle/>
          <a:p>
            <a:pPr lvl="0"/>
            <a:endParaRPr lang="en-US" altLang="zh-CN"/>
          </a:p>
        </p:txBody>
      </p:sp>
    </p:spTree>
    <p:custDataLst>
      <p:tags r:id="rId2"/>
    </p:custDataLst>
    <p:extLst>
      <p:ext uri="{BB962C8B-B14F-4D97-AF65-F5344CB8AC3E}">
        <p14:creationId val="3873918208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OFFICEPLUS.TAG" val="03a12446-4040-4dad-8d54-bb681f108928"/>
</p:tagLst>
</file>

<file path=ppt/tags/tag2.xml><?xml version="1.0" encoding="utf-8"?>
<p:tagLst xmlns:p="http://schemas.openxmlformats.org/presentationml/2006/main">
  <p:tag name="OFFICEPLUS.TAG" val="7bbc12ee-40ec-489f-ab8c-4fa55cf2bf59"/>
  <p:tag name="OFFICEPLUS.TEMPLATE" val="c27753af-3e07-4678-8dbb-7b84720f40b8.pptx"/>
</p:tagLst>
</file>

<file path=ppt/tags/tag3.xml><?xml version="1.0" encoding="utf-8"?>
<p:tagLst xmlns:p="http://schemas.openxmlformats.org/presentationml/2006/main">
  <p:tag name="OFFICEPLUS.OUTLINESECTION" val="11300371"/>
  <p:tag name="OFFICEPLUS.TAG" val="43779941-ebb9-4272-ab0a-451395e9a0c0"/>
</p:tagLst>
</file>

<file path=ppt/tags/tag4.xml><?xml version="1.0" encoding="utf-8"?>
<p:tagLst xmlns:p="http://schemas.openxmlformats.org/presentationml/2006/main">
  <p:tag name="OFFICEPLUS.OUTLINECONTENT" val="42620720"/>
  <p:tag name="OFFICEPLUS.TAG" val="bd142c3d-b2ac-49d2-945d-a40ea7d68a02"/>
  <p:tag name="OFFICEPLUS.TEMPLATE" val="82a82ab2-8962-49af-b3f6-56711a23b3a3.pptx"/>
</p:tagLst>
</file>

<file path=ppt/tags/tag5.xml><?xml version="1.0" encoding="utf-8"?>
<p:tagLst xmlns:p="http://schemas.openxmlformats.org/presentationml/2006/main">
  <p:tag name="OFFICEPLUS.OUTLINECONTENT" val="42620721"/>
  <p:tag name="OFFICEPLUS.TAG" val="bd142c3d-b2ac-49d2-945d-a40ea7d68a02"/>
  <p:tag name="OFFICEPLUS.TEMPLATE" val="23f5c11d-24e4-40da-9009-f0fed48e3ca6.pptx"/>
</p:tagLst>
</file>

<file path=ppt/tags/tag6.xml><?xml version="1.0" encoding="utf-8"?>
<p:tagLst xmlns:p="http://schemas.openxmlformats.org/presentationml/2006/main">
  <p:tag name="OFFICEPLUS.OUTLINECONTENT" val="42620722"/>
  <p:tag name="OFFICEPLUS.TAG" val="bd142c3d-b2ac-49d2-945d-a40ea7d68a02"/>
  <p:tag name="OFFICEPLUS.TEMPLATE" val="c165c20b-37c3-408c-95d0-c58301f8e363.pptx"/>
</p:tagLst>
</file>

<file path=ppt/tags/tag7.xml><?xml version="1.0" encoding="utf-8"?>
<p:tagLst xmlns:p="http://schemas.openxmlformats.org/presentationml/2006/main">
  <p:tag name="OFFICEPLUS.OUTLINECONTENT" val="42620723"/>
  <p:tag name="OFFICEPLUS.TAG" val="2beb2bf3-40ba-4876-8eff-8450af69fbd8"/>
  <p:tag name="OFFICEPLUS.TEMPLATE" val="3d37cf05-fd84-4d8e-802c-ac7e5aa94266.pptx"/>
</p:tagLst>
</file>

<file path=ppt/tags/tag8.xml><?xml version="1.0" encoding="utf-8"?>
<p:tagLst xmlns:p="http://schemas.openxmlformats.org/presentationml/2006/main">
  <p:tag name="OFFICEPLUS.OUTLINECONTENT" val="42620724"/>
  <p:tag name="OFFICEPLUS.TAG" val="bd142c3d-b2ac-49d2-945d-a40ea7d68a02"/>
  <p:tag name="OFFICEPLUS.TEMPLATE" val="0b83e82e-4808-4608-a14d-f9d204172577.pptx"/>
</p:tagLst>
</file>

<file path=ppt/tags/tag9.xml><?xml version="1.0" encoding="utf-8"?>
<p:tagLst xmlns:p="http://schemas.openxmlformats.org/presentationml/2006/main">
  <p:tag name="OFFICEPLUS.OUTLINESECTION" val="11300372"/>
  <p:tag name="OFFICEPLUS.TAG" val="43779941-ebb9-4272-ab0a-451395e9a0c0"/>
</p:tagLst>
</file>

<file path=ppt/tags/tag10.xml><?xml version="1.0" encoding="utf-8"?>
<p:tagLst xmlns:p="http://schemas.openxmlformats.org/presentationml/2006/main">
  <p:tag name="OFFICEPLUS.OUTLINECONTENT" val="42620725"/>
  <p:tag name="OFFICEPLUS.TAG" val="bd142c3d-b2ac-49d2-945d-a40ea7d68a02"/>
  <p:tag name="OFFICEPLUS.TEMPLATE" val="fff4d059-995b-494f-9410-b6afa88c9ff9.pptx"/>
</p:tagLst>
</file>

<file path=ppt/tags/tag11.xml><?xml version="1.0" encoding="utf-8"?>
<p:tagLst xmlns:p="http://schemas.openxmlformats.org/presentationml/2006/main">
  <p:tag name="OFFICEPLUS.OUTLINECONTENT" val="42620726"/>
  <p:tag name="OFFICEPLUS.TAG" val="bd142c3d-b2ac-49d2-945d-a40ea7d68a02"/>
  <p:tag name="OFFICEPLUS.TEMPLATE" val="c3d6a989-c4ab-426a-8271-faff60babd8a.pptx"/>
</p:tagLst>
</file>

<file path=ppt/tags/tag12.xml><?xml version="1.0" encoding="utf-8"?>
<p:tagLst xmlns:p="http://schemas.openxmlformats.org/presentationml/2006/main">
  <p:tag name="OFFICEPLUS.OUTLINECONTENT" val="42620727"/>
  <p:tag name="OFFICEPLUS.TAG" val="bd142c3d-b2ac-49d2-945d-a40ea7d68a02"/>
  <p:tag name="OFFICEPLUS.TEMPLATE" val="5f3ccb89-c22c-4f50-920a-3cb8eac929c3.pptx"/>
</p:tagLst>
</file>

<file path=ppt/tags/tag13.xml><?xml version="1.0" encoding="utf-8"?>
<p:tagLst xmlns:p="http://schemas.openxmlformats.org/presentationml/2006/main">
  <p:tag name="OFFICEPLUS.OUTLINECONTENT" val="42620728"/>
  <p:tag name="OFFICEPLUS.TAG" val="bd142c3d-b2ac-49d2-945d-a40ea7d68a02"/>
  <p:tag name="OFFICEPLUS.TEMPLATE" val="9c478ed4-eed0-4ca8-a19c-756e2a3447b9.pptx"/>
</p:tagLst>
</file>

<file path=ppt/tags/tag14.xml><?xml version="1.0" encoding="utf-8"?>
<p:tagLst xmlns:p="http://schemas.openxmlformats.org/presentationml/2006/main">
  <p:tag name="OFFICEPLUS.OUTLINECONTENT" val="42620729"/>
  <p:tag name="OFFICEPLUS.TAG" val="bd142c3d-b2ac-49d2-945d-a40ea7d68a02"/>
  <p:tag name="OFFICEPLUS.TEMPLATE" val="11ec0530-91b3-4703-9ed7-2e025b1e6564.pptx"/>
</p:tagLst>
</file>

<file path=ppt/tags/tag15.xml><?xml version="1.0" encoding="utf-8"?>
<p:tagLst xmlns:p="http://schemas.openxmlformats.org/presentationml/2006/main">
  <p:tag name="OFFICEPLUS.OUTLINESECTION" val="11300373"/>
  <p:tag name="OFFICEPLUS.TAG" val="43779941-ebb9-4272-ab0a-451395e9a0c0"/>
</p:tagLst>
</file>

<file path=ppt/tags/tag16.xml><?xml version="1.0" encoding="utf-8"?>
<p:tagLst xmlns:p="http://schemas.openxmlformats.org/presentationml/2006/main">
  <p:tag name="OFFICEPLUS.OUTLINECONTENT" val="42620730"/>
  <p:tag name="OFFICEPLUS.TAG" val="bd142c3d-b2ac-49d2-945d-a40ea7d68a02"/>
  <p:tag name="OFFICEPLUS.TEMPLATE" val="7d1ce1a9-c434-48d1-b1be-e1a59cd206f6.pptx"/>
</p:tagLst>
</file>

<file path=ppt/tags/tag17.xml><?xml version="1.0" encoding="utf-8"?>
<p:tagLst xmlns:p="http://schemas.openxmlformats.org/presentationml/2006/main">
  <p:tag name="OFFICEPLUS.OUTLINECONTENT" val="42620731"/>
  <p:tag name="OFFICEPLUS.TAG" val="bd142c3d-b2ac-49d2-945d-a40ea7d68a02"/>
  <p:tag name="OFFICEPLUS.TEMPLATE" val="1d24389a-eef2-4837-918b-077ed34faf03.pptx"/>
</p:tagLst>
</file>

<file path=ppt/tags/tag18.xml><?xml version="1.0" encoding="utf-8"?>
<p:tagLst xmlns:p="http://schemas.openxmlformats.org/presentationml/2006/main">
  <p:tag name="OFFICEPLUS.OUTLINECONTENT" val="42620732"/>
  <p:tag name="OFFICEPLUS.TAG" val="bd142c3d-b2ac-49d2-945d-a40ea7d68a02"/>
  <p:tag name="OFFICEPLUS.TEMPLATE" val="bf6e2c76-fc35-4673-ba17-c735fa7cf6de.pptx"/>
</p:tagLst>
</file>

<file path=ppt/tags/tag19.xml><?xml version="1.0" encoding="utf-8"?>
<p:tagLst xmlns:p="http://schemas.openxmlformats.org/presentationml/2006/main">
  <p:tag name="OFFICEPLUS.OUTLINECONTENT" val="42620733"/>
  <p:tag name="OFFICEPLUS.TAG" val="bd142c3d-b2ac-49d2-945d-a40ea7d68a02"/>
  <p:tag name="OFFICEPLUS.TEMPLATE" val="f2324eed-ae3e-4edf-9cd5-d4b5bebfe12b.pptx"/>
</p:tagLst>
</file>

<file path=ppt/tags/tag20.xml><?xml version="1.0" encoding="utf-8"?>
<p:tagLst xmlns:p="http://schemas.openxmlformats.org/presentationml/2006/main">
  <p:tag name="OFFICEPLUS.OUTLINECONTENT" val="42620734"/>
  <p:tag name="OFFICEPLUS.TAG" val="bd142c3d-b2ac-49d2-945d-a40ea7d68a02"/>
  <p:tag name="OFFICEPLUS.TEMPLATE" val="91738caf-e456-4ee9-ac67-5b90db79c6b5.pptx"/>
</p:tagLst>
</file>

<file path=ppt/tags/tag21.xml><?xml version="1.0" encoding="utf-8"?>
<p:tagLst xmlns:p="http://schemas.openxmlformats.org/presentationml/2006/main">
  <p:tag name="OFFICEPLUS.OUTLINESECTION" val="11300374"/>
  <p:tag name="OFFICEPLUS.TAG" val="43779941-ebb9-4272-ab0a-451395e9a0c0"/>
</p:tagLst>
</file>

<file path=ppt/tags/tag22.xml><?xml version="1.0" encoding="utf-8"?>
<p:tagLst xmlns:p="http://schemas.openxmlformats.org/presentationml/2006/main">
  <p:tag name="OFFICEPLUS.OUTLINECONTENT" val="42620735"/>
  <p:tag name="OFFICEPLUS.TAG" val="bd142c3d-b2ac-49d2-945d-a40ea7d68a02"/>
  <p:tag name="OFFICEPLUS.TEMPLATE" val="1a4d25d8-6a5e-4c83-9397-f72c9133e728.pptx"/>
</p:tagLst>
</file>

<file path=ppt/tags/tag23.xml><?xml version="1.0" encoding="utf-8"?>
<p:tagLst xmlns:p="http://schemas.openxmlformats.org/presentationml/2006/main">
  <p:tag name="OFFICEPLUS.OUTLINECONTENT" val="42620736"/>
  <p:tag name="OFFICEPLUS.TAG" val="bd142c3d-b2ac-49d2-945d-a40ea7d68a02"/>
  <p:tag name="OFFICEPLUS.TEMPLATE" val="2fc31dc3-f963-4b24-b42b-c43460d8418e.pptx"/>
</p:tagLst>
</file>

<file path=ppt/tags/tag24.xml><?xml version="1.0" encoding="utf-8"?>
<p:tagLst xmlns:p="http://schemas.openxmlformats.org/presentationml/2006/main">
  <p:tag name="OFFICEPLUS.OUTLINECONTENT" val="42620737"/>
  <p:tag name="OFFICEPLUS.TAG" val="bd142c3d-b2ac-49d2-945d-a40ea7d68a02"/>
  <p:tag name="OFFICEPLUS.TEMPLATE" val="d54ef2d4-6884-4b12-9ef8-f817d511018c.pptx"/>
</p:tagLst>
</file>

<file path=ppt/tags/tag25.xml><?xml version="1.0" encoding="utf-8"?>
<p:tagLst xmlns:p="http://schemas.openxmlformats.org/presentationml/2006/main">
  <p:tag name="OFFICEPLUS.OUTLINECONTENT" val="42620738"/>
  <p:tag name="OFFICEPLUS.TAG" val="2beb2bf3-40ba-4876-8eff-8450af69fbd8"/>
  <p:tag name="OFFICEPLUS.TEMPLATE" val="6393c469-d272-40e0-ad1e-2ae8ec1fcd21.pptx"/>
</p:tagLst>
</file>

<file path=ppt/tags/tag26.xml><?xml version="1.0" encoding="utf-8"?>
<p:tagLst xmlns:p="http://schemas.openxmlformats.org/presentationml/2006/main">
  <p:tag name="OFFICEPLUS.OUTLINECONTENT" val="42620739"/>
  <p:tag name="OFFICEPLUS.TAG" val="bd142c3d-b2ac-49d2-945d-a40ea7d68a02"/>
  <p:tag name="OFFICEPLUS.TEMPLATE" val="1fe3fc5d-9698-420a-a286-2508ba81cde7.pptx"/>
</p:tagLst>
</file>

<file path=ppt/tags/tag27.xml><?xml version="1.0" encoding="utf-8"?>
<p:tagLst xmlns:p="http://schemas.openxmlformats.org/presentationml/2006/main">
  <p:tag name="OFFICEPLUS.OUTLINESECTION" val="11300375"/>
  <p:tag name="OFFICEPLUS.TAG" val="43779941-ebb9-4272-ab0a-451395e9a0c0"/>
</p:tagLst>
</file>

<file path=ppt/tags/tag28.xml><?xml version="1.0" encoding="utf-8"?>
<p:tagLst xmlns:p="http://schemas.openxmlformats.org/presentationml/2006/main">
  <p:tag name="OFFICEPLUS.OUTLINECONTENT" val="42620740"/>
  <p:tag name="OFFICEPLUS.TAG" val="bd142c3d-b2ac-49d2-945d-a40ea7d68a02"/>
  <p:tag name="OFFICEPLUS.TEMPLATE" val="9dd2df9f-06a7-4711-9191-6cbf0bc4852e.pptx"/>
</p:tagLst>
</file>

<file path=ppt/tags/tag29.xml><?xml version="1.0" encoding="utf-8"?>
<p:tagLst xmlns:p="http://schemas.openxmlformats.org/presentationml/2006/main">
  <p:tag name="OFFICEPLUS.OUTLINECONTENT" val="42620741"/>
  <p:tag name="OFFICEPLUS.TAG" val="bd142c3d-b2ac-49d2-945d-a40ea7d68a02"/>
  <p:tag name="OFFICEPLUS.TEMPLATE" val="82d028cc-0508-4739-a0e9-bb6ba9d5a8d0.pptx"/>
</p:tagLst>
</file>

<file path=ppt/tags/tag30.xml><?xml version="1.0" encoding="utf-8"?>
<p:tagLst xmlns:p="http://schemas.openxmlformats.org/presentationml/2006/main">
  <p:tag name="OFFICEPLUS.OUTLINECONTENT" val="42620742"/>
  <p:tag name="OFFICEPLUS.TAG" val="bd142c3d-b2ac-49d2-945d-a40ea7d68a02"/>
  <p:tag name="OFFICEPLUS.TEMPLATE" val="bb2a4582-79f2-4ac7-8c7e-a7b5831fe033.pptx"/>
</p:tagLst>
</file>

<file path=ppt/tags/tag31.xml><?xml version="1.0" encoding="utf-8"?>
<p:tagLst xmlns:p="http://schemas.openxmlformats.org/presentationml/2006/main">
  <p:tag name="OFFICEPLUS.OUTLINECONTENT" val="42620743"/>
  <p:tag name="OFFICEPLUS.TAG" val="bd142c3d-b2ac-49d2-945d-a40ea7d68a02"/>
  <p:tag name="OFFICEPLUS.TEMPLATE" val="f965b191-3969-4379-b471-705e236e1451.pptx"/>
</p:tagLst>
</file>

<file path=ppt/tags/tag32.xml><?xml version="1.0" encoding="utf-8"?>
<p:tagLst xmlns:p="http://schemas.openxmlformats.org/presentationml/2006/main">
  <p:tag name="OFFICEPLUS.OUTLINECONTENT" val="42620744"/>
  <p:tag name="OFFICEPLUS.TAG" val="bd142c3d-b2ac-49d2-945d-a40ea7d68a02"/>
  <p:tag name="OFFICEPLUS.TEMPLATE" val="a8c4b4d2-5f86-40a5-ab14-e47f2cf56a1c.pptx"/>
</p:tagLst>
</file>

<file path=ppt/tags/tag33.xml><?xml version="1.0" encoding="utf-8"?>
<p:tagLst xmlns:p="http://schemas.openxmlformats.org/presentationml/2006/main">
  <p:tag name="OFFICEPLUS.TAG" val="e69c5ac3-dafd-4b9a-bbf1-d26a1016f816"/>
</p:tagLst>
</file>

<file path=ppt/tags/tag34.xml><?xml version="1.0" encoding="utf-8"?>
<p:tagLst xmlns:p="http://schemas.openxmlformats.org/presentationml/2006/main">
  <p:tag name="AS_NET" val="4.0.30319.42000"/>
  <p:tag name="AS_OS" val="Microsoft Windows NT 6.2.9200.0"/>
  <p:tag name="AS_RELEASE_DATE" val="2024.05.14"/>
  <p:tag name="AS_TITLE" val="Aspose.Slides for .NET 4.0 Client Profile"/>
  <p:tag name="AS_VERSION" val="24.5"/>
  <p:tag name="OFFICEPLUS.IMAGE" val="New_Batches_0404_Outline/20240404/images_texture_8001_9000/c0cf1574-bd01-42f6-b9ff-899ecdaf64aa-3.source.default.zh-Hans.jpg"/>
  <p:tag name="OFFICEPLUS.OUTLINE" val="1706731"/>
  <p:tag name="OFFICEPLUS.OUTLINEEXTERNAL" val="f70ef024-6b9e-f3b5-9cbe-eb4c48947609"/>
  <p:tag name="OFFICEPLUS.THEME" val="New_Batches_0404_Outline/20240404/images_texture_8001_9000/c0cf1574-bd01-42f6-b9ff-899ecdaf64aa-3.source.default.zh-Hans-0.pptx"/>
</p:tagLst>
</file>

<file path=ppt/theme/theme1.xml><?xml version="1.0" encoding="utf-8"?>
<a:theme xmlns:r="http://schemas.openxmlformats.org/officeDocument/2006/relationships" xmlns:a="http://schemas.openxmlformats.org/drawingml/2006/main" name="Designed by 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1B9"/>
      </a:accent1>
      <a:accent2>
        <a:srgbClr val="5196FF"/>
      </a:accent2>
      <a:accent3>
        <a:srgbClr val="0091FD"/>
      </a:accent3>
      <a:accent4>
        <a:srgbClr val="42BFFF"/>
      </a:accent4>
      <a:accent5>
        <a:srgbClr val="006DE1"/>
      </a:accent5>
      <a:accent6>
        <a:srgbClr val="0087D5"/>
      </a:accent6>
      <a:hlink>
        <a:srgbClr val="4472C4"/>
      </a:hlink>
      <a:folHlink>
        <a:srgbClr val="BFBFBF"/>
      </a:folHlink>
    </a:clrScheme>
    <a:fontScheme name="OfficePLUS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等线 Light" panose="0211000402020202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等线" panose="0211000402020202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Manager>小牛办公</Manager>
  <Company>小牛办公</Company>
  <PresentationFormat>Widescreen</PresentationFormat>
  <Paragraphs>286</Paragraphs>
  <Slides>33</Slides>
  <Notes>0</Notes>
  <TotalTime>146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baseType="lpstr" size="39">
      <vt:lpstr>Arial</vt:lpstr>
      <vt:lpstr>微软雅黑</vt:lpstr>
      <vt:lpstr>Calibri</vt:lpstr>
      <vt:lpstr>等线 Light</vt:lpstr>
      <vt:lpstr>等线</vt:lpstr>
      <vt:lpstr>Designed by </vt:lpstr>
      <vt:lpstr>办公技巧商务培训</vt:lpstr>
      <vt:lpstr>PowerPoint Presentation</vt:lpstr>
      <vt:lpstr>01.文化与价值观</vt:lpstr>
      <vt:lpstr>文化的内涵解析</vt:lpstr>
      <vt:lpstr>价值观的重要性</vt:lpstr>
      <vt:lpstr>文化与工作融合</vt:lpstr>
      <vt:lpstr>价值观的实践应用</vt:lpstr>
      <vt:lpstr>文化驱动效率</vt:lpstr>
      <vt:lpstr>02.技巧概念重要性</vt:lpstr>
      <vt:lpstr>办公技巧定义</vt:lpstr>
      <vt:lpstr>打造学习神器</vt:lpstr>
      <vt:lpstr>技巧与效率的关系</vt:lpstr>
      <vt:lpstr>提升技巧的意义</vt:lpstr>
      <vt:lpstr>从理论到实践</vt:lpstr>
      <vt:lpstr>03.基础技巧解析</vt:lpstr>
      <vt:lpstr>文件秩序之秘</vt:lpstr>
      <vt:lpstr>高效的邮件处理</vt:lpstr>
      <vt:lpstr>时间管理要点</vt:lpstr>
      <vt:lpstr>提高效率的技巧</vt:lpstr>
      <vt:lpstr>技巧的实用性分析</vt:lpstr>
      <vt:lpstr>04.技巧提升效率</vt:lpstr>
      <vt:lpstr>技巧与效率提升</vt:lpstr>
      <vt:lpstr>保质保量的技能</vt:lpstr>
      <vt:lpstr>成功案例分享</vt:lpstr>
      <vt:lpstr>技巧的持续学习</vt:lpstr>
      <vt:lpstr>工作质量的提高</vt:lpstr>
      <vt:lpstr>05.培训与参与</vt:lpstr>
      <vt:lpstr>公司提供的培训</vt:lpstr>
      <vt:lpstr>乐在其中的秘诀</vt:lpstr>
      <vt:lpstr>提升自我的途径</vt:lpstr>
      <vt:lpstr>培训与能力提升</vt:lpstr>
      <vt:lpstr>晋升之路指南</vt:lpstr>
      <vt:lpstr>Thank You</vt:lpstr>
    </vt:vector>
  </TitlesOfParts>
  <LinksUpToDate>0</LinksUpToDate>
  <SharedDoc>0</SharedDoc>
  <HyperlinksChanged>0</HyperlinksChanged>
  <Application>Aspose.Slides for .NET</Application>
  <AppVersion>24.0500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办公技巧商务培训PPT模板</dc:title>
  <cp:category>办公技巧商务培训PPT模板</cp:category>
  <dc:creator>www.xunpic.cn</dc:creator>
  <dc:description>小牛办公</dc:description>
  <cp:keywords>办公技巧商务培训PPT模板</cp:keywords>
  <cp:lastModifiedBy>小牛办公</cp:lastModifiedBy>
  <cp:revision>1</cp:revision>
  <dcterms:created xsi:type="dcterms:W3CDTF">2023-07-20T03:04:31Z</dcterms:created>
  <dcterms:modified xsi:type="dcterms:W3CDTF">2024-12-12T12:18:44Z</dcterms:modified>
  <dc:subject>办公技巧商务培训PPT模板</dc:subject>
</cp:coreProperties>
</file>